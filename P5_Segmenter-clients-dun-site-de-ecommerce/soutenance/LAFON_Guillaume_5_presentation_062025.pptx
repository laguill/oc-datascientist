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 /><Relationship Id="rId42" Type="http://schemas.openxmlformats.org/officeDocument/2006/relationships/tableStyles" Target="tableStyles.xml" /><Relationship Id="rId4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8001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277792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93999971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060549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180896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3288911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136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442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63759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634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3674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926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A01D2-5ECB-7539-D460-03EF5ADBC1DE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32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9073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610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D49C-A572-668E-4C69-F44C60C72A8B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558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8869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61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A0A60-C46F-9E13-8572-E908049B115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43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085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658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0ECEA-A2F1-9B08-C4EE-659D2711B245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156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0825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1914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5E85DB-E61D-FE34-23C0-FDF593C5833D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307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69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923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1FB94-D18B-5315-3FD3-65E9080E4B1B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88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305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43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C1B853-7A87-27AB-BDB0-8905770861A8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1615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914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463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4EC70-AF80-C28F-9416-A32D90145582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749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302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237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925E86-44B4-5E35-7AD0-EBAED0B5AB30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791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2155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93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117022-17CF-426E-565B-DF0AC246C4F8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152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387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254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6DE7F5-A8C4-ABED-ECAE-4902FAE13915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31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496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261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76C3C-D78D-6674-F925-D8C35B8BCAA8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907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9511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787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E66768-8CA6-6DD1-1B30-0991C767C39B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497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063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7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BD6DA-FD33-D55E-41D6-76841153001B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781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353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597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6C27F4-BC3D-DCFC-7431-428064EB734F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690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3829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22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AA394A-D2C5-DA9E-7008-07B2FCB64FCF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901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082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350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9C3C20-94C6-01BC-76F8-E978F3DCDEC8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208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247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297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2AE031-F616-2DC0-A9F9-1E00B4888AE1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179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847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035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EA1F2E-C6C7-23F6-150D-5B0DA678897D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260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0497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85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1B66E6-76EF-2F8F-F645-3C4690E7A495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210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844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0EFD8A-F35C-11EC-3FAD-62D55BA02D1C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19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87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71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FAD80-82D8-40E1-9695-67416D79948E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153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9012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65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72793A-ADFC-E4F8-0F59-EB7CE81F6E82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584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638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424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E64BF1-3726-DA88-F64B-F7C75B5524A6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5180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546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3941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D82DE-F211-8819-7BA0-3A7218414306}" type="slidenum">
              <a:rPr/>
              <a:t/>
            </a:fld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308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916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385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5A5E05-D3AB-F4F2-A381-0B8286310E87}" type="slidenum">
              <a:rPr/>
              <a:t/>
            </a:fld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87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2795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708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8FF1BE-A70B-A78F-092B-0777DD51E7E2}" type="slidenum">
              <a:rPr/>
              <a:t/>
            </a:fld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538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60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8545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7328A-5182-CF49-CD83-1BA8FD3EB22F}" type="slidenum">
              <a:rPr/>
              <a:t/>
            </a:fld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745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147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08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B61E9-7EC9-EBA9-A7D7-4D07D17E93C9}" type="slidenum">
              <a:rPr/>
              <a:t/>
            </a:fld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306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423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959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D1F68C-CE9C-0972-3BAB-36F39B14B987}" type="slidenum">
              <a:rPr/>
              <a:t/>
            </a:fld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58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2519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537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D1390-A821-575D-E877-0CB4A26931F8}" type="slidenum">
              <a:rPr/>
              <a:t/>
            </a:fld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309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999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766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31FBBD-A885-D456-B289-6A345CAA33AF}" type="slidenum">
              <a:rPr/>
              <a:t/>
            </a:fld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654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624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547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6C15E9-4C81-7619-85B9-C579EB741887}" type="slidenum">
              <a:rPr/>
              <a:t/>
            </a:fld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90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3494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88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FDC245-4463-E9CF-FD22-7CDE5742BB7D}" type="slidenum">
              <a:rPr/>
              <a:t/>
            </a:fld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204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718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15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F2AF3-555E-BC7C-C06B-686981419CBA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511594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2474523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51741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673846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447467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27256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87346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1854606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094894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1323855" name="Picture 4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52290465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019084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1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hyperlink" Target="ppaction:/hlink" TargetMode="External"/><Relationship Id="rId6" Type="http://schemas.openxmlformats.org/officeDocument/2006/relationships/slide" Target="slide23.xml"/><Relationship Id="rId7" Type="http://schemas.openxmlformats.org/officeDocument/2006/relationships/slide" Target="slide27.xml"/><Relationship Id="rId8" Type="http://schemas.openxmlformats.org/officeDocument/2006/relationships/slide" Target="slide3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5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78534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	</a:t>
            </a:r>
            <a:r>
              <a:rPr lang="fr-FR"/>
              <a:t>Projet 5</a:t>
            </a:r>
            <a:endParaRPr lang="en-US"/>
          </a:p>
        </p:txBody>
      </p:sp>
      <p:sp>
        <p:nvSpPr>
          <p:cNvPr id="4345474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Segmentez des clients d'un site e-commerce</a:t>
            </a:r>
            <a:b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Guillaume LAFON</a:t>
            </a:r>
            <a:endParaRPr sz="2400"/>
          </a:p>
          <a:p>
            <a:pPr>
              <a:defRPr/>
            </a:pP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88723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Sommaire</a:t>
            </a:r>
            <a:endParaRPr lang="fr-FR"/>
          </a:p>
        </p:txBody>
      </p:sp>
      <p:sp>
        <p:nvSpPr>
          <p:cNvPr id="2285834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64734" y="1825623"/>
            <a:ext cx="98625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lvl="0">
              <a:lnSpc>
                <a:spcPct val="200000"/>
              </a:lnSpc>
              <a:defRPr/>
            </a:pPr>
            <a:r>
              <a:rPr lang="fr-FR" sz="2600" b="1" u="sng">
                <a:solidFill>
                  <a:schemeClr val="accent3"/>
                </a:solidFill>
                <a:hlinkClick r:id="rId3" action="ppaction://hlinksldjump" tooltip="ppaction://hlinksldjumpslide2"/>
              </a:rPr>
              <a:t>1 Introduction</a:t>
            </a:r>
            <a:endParaRPr sz="2600" b="1">
              <a:solidFill>
                <a:schemeClr val="accent3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2600" b="1" u="sng">
                <a:solidFill>
                  <a:schemeClr val="accent3"/>
                </a:solidFill>
                <a:hlinkClick r:id="rId4" action="ppaction://hlinksldjump" tooltip="ppaction://hlinksldjumpslide6"/>
              </a:rPr>
              <a:t>Présentation et préparation du jeu de données</a:t>
            </a:r>
            <a:endParaRPr sz="2600" b="1">
              <a:solidFill>
                <a:schemeClr val="accent3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2600" b="1" u="sng">
                <a:solidFill>
                  <a:schemeClr val="accent3"/>
                </a:solidFill>
                <a:hlinkClick r:id="rId5" tooltip="ppaction://hlinksldjumpslide8"/>
              </a:rPr>
              <a:t>3 Segmentation client</a:t>
            </a:r>
            <a:endParaRPr sz="2600" b="1">
              <a:solidFill>
                <a:schemeClr val="accent3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2600" b="1" u="sng">
                <a:solidFill>
                  <a:schemeClr val="hlink"/>
                </a:solidFill>
                <a:hlinkClick r:id="rId6" action="ppaction://hlinksldjump" tooltip="Diapositive 20"/>
              </a:rPr>
              <a:t>4 Sélection du modèle</a:t>
            </a:r>
            <a:endParaRPr sz="2600" b="1">
              <a:solidFill>
                <a:schemeClr val="accent3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2600" b="1" u="sng">
                <a:solidFill>
                  <a:schemeClr val="hlink"/>
                </a:solidFill>
                <a:hlinkClick r:id="rId7" action="ppaction://hlinksldjump" tooltip="ppaction://hlinksldjumpslide9"/>
              </a:rPr>
              <a:t>5 Maintenance du modèle</a:t>
            </a:r>
            <a:endParaRPr sz="2600">
              <a:solidFill>
                <a:schemeClr val="accent3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2600" b="1" i="0" u="sng" strike="noStrike" cap="none" spc="0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hlinkClick r:id="rId8" action="ppaction://hlinksldjump" tooltip="ppaction://hlinksldjumpslide9"/>
              </a:rPr>
              <a:t>6 Conclusion</a:t>
            </a:r>
            <a:endParaRPr sz="240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22858343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451200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6"/>
            <a:ext cx="9626226" cy="285273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br>
              <a:rPr/>
            </a:br>
            <a:endParaRPr/>
          </a:p>
        </p:txBody>
      </p:sp>
      <p:pic>
        <p:nvPicPr>
          <p:cNvPr id="10354116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91042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5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175786165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Olist est une entreprise brésilienne qui propose une solution de vente sur les marketplaces en ligne.</a:t>
            </a:r>
            <a:endParaRPr lang="fr-FR"/>
          </a:p>
          <a:p>
            <a:pPr marL="0" lvl="0" indent="0">
              <a:lnSpc>
                <a:spcPct val="100000"/>
              </a:lnSpc>
              <a:spcBef>
                <a:spcPts val="2998"/>
              </a:spcBef>
              <a:buNone/>
              <a:defRPr/>
            </a:pPr>
            <a:r>
              <a:rPr lang="fr-FR" b="1"/>
              <a:t>1.2 Mission</a:t>
            </a:r>
            <a:endParaRPr lang="fr-FR" b="1"/>
          </a:p>
          <a:p>
            <a:pPr marL="0" lvl="0" indent="0">
              <a:lnSpc>
                <a:spcPct val="90000"/>
              </a:lnSpc>
              <a:spcBef>
                <a:spcPts val="566"/>
              </a:spcBef>
              <a:buNone/>
              <a:defRPr/>
            </a:pPr>
            <a:r>
              <a:rPr lang="fr-FR" b="0"/>
              <a:t>Formulation de la problématique :</a:t>
            </a:r>
            <a:endParaRPr b="0"/>
          </a:p>
          <a:p>
            <a:pPr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Fournir à l'équipe Marketing d'Olist une segmentation des clients basée sur leur comportement et leurs données personnelles.</a:t>
            </a:r>
            <a:endParaRPr lang="fr-FR" sz="1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Cette segmentation doit être exploitable et facile d'utilisation pour les équipes Marketing afin de mieux cibler leurs campagnes de communication.</a:t>
            </a:r>
            <a:endParaRPr lang="fr-FR" sz="17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 lvl="0">
              <a:defRPr/>
            </a:pPr>
            <a:endParaRPr lang="fr-FR"/>
          </a:p>
          <a:p>
            <a:pPr marL="0" lvl="0" indent="0">
              <a:spcBef>
                <a:spcPts val="2997"/>
              </a:spcBef>
              <a:buNone/>
              <a:defRPr/>
            </a:pP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1.3 Données</a:t>
            </a:r>
            <a:endParaRPr sz="1700"/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Une base de données anonymisée comportant des informations sur l’historique des commandes, les produits achetés, les commentaires de satisfaction, et la localisation des clients.</a:t>
            </a:r>
            <a:endParaRPr lang="fr-FR"/>
          </a:p>
        </p:txBody>
      </p:sp>
      <p:pic>
        <p:nvPicPr>
          <p:cNvPr id="5696315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943311" y="568656"/>
            <a:ext cx="1390049" cy="781902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75786165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8254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70" y="1709734"/>
            <a:ext cx="10745656" cy="28527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2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lang="fr-FR"/>
          </a:p>
        </p:txBody>
      </p:sp>
      <p:pic>
        <p:nvPicPr>
          <p:cNvPr id="21457287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100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600841248" name=""/>
          <p:cNvSpPr txBox="1"/>
          <p:nvPr/>
        </p:nvSpPr>
        <p:spPr bwMode="auto">
          <a:xfrm flipH="0" flipV="0">
            <a:off x="1077602" y="1872927"/>
            <a:ext cx="9673036" cy="1829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Présentation 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Architecture de la base de données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b="0"/>
              <a:t>Liens importants entre les tables</a:t>
            </a:r>
            <a:endParaRPr b="0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b="0"/>
              <a:t>Informations collectées sur 2 ans d’activité</a:t>
            </a:r>
            <a:endParaRPr b="0"/>
          </a:p>
        </p:txBody>
      </p:sp>
      <p:pic>
        <p:nvPicPr>
          <p:cNvPr id="18966760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22155" y="2139089"/>
            <a:ext cx="6164992" cy="3709906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88396779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5898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392142736" name=""/>
          <p:cNvSpPr txBox="1"/>
          <p:nvPr/>
        </p:nvSpPr>
        <p:spPr bwMode="auto">
          <a:xfrm flipH="0" flipV="0">
            <a:off x="1077602" y="1872927"/>
            <a:ext cx="9719116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Exploration 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Clients principalement Brésiliens ou Portugais</a:t>
            </a:r>
            <a:endParaRPr lang="fr-FR"/>
          </a:p>
        </p:txBody>
      </p:sp>
      <p:pic>
        <p:nvPicPr>
          <p:cNvPr id="1338200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80461" y="1953432"/>
            <a:ext cx="6164992" cy="3709906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388217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0709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1478909902" name=""/>
          <p:cNvSpPr txBox="1"/>
          <p:nvPr/>
        </p:nvSpPr>
        <p:spPr bwMode="auto">
          <a:xfrm flipH="0" flipV="0">
            <a:off x="1077602" y="1872927"/>
            <a:ext cx="9747196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Exploration 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Nombre de clients en progression sur la dernière année</a:t>
            </a:r>
            <a:endParaRPr lang="fr-FR"/>
          </a:p>
        </p:txBody>
      </p:sp>
      <p:pic>
        <p:nvPicPr>
          <p:cNvPr id="5514023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779354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712742" y="1953432"/>
            <a:ext cx="4477766" cy="37253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7676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1113502041" name=""/>
          <p:cNvSpPr txBox="1"/>
          <p:nvPr/>
        </p:nvSpPr>
        <p:spPr bwMode="auto">
          <a:xfrm flipH="0" flipV="0">
            <a:off x="1077602" y="1872927"/>
            <a:ext cx="9795076" cy="2240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Engineering 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Fusion de trois tables :</a:t>
            </a:r>
            <a:endParaRPr lang="fr-FR"/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order_reviews</a:t>
            </a:r>
            <a:endParaRPr lang="fr-FR"/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orders</a:t>
            </a:r>
            <a:endParaRPr lang="fr-FR"/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customer</a:t>
            </a:r>
            <a:endParaRPr lang="fr-FR"/>
          </a:p>
        </p:txBody>
      </p:sp>
      <p:pic>
        <p:nvPicPr>
          <p:cNvPr id="18427417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94238947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80460" y="1953432"/>
            <a:ext cx="6164991" cy="370990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48588273" name=""/>
          <p:cNvSpPr/>
          <p:nvPr/>
        </p:nvSpPr>
        <p:spPr bwMode="auto">
          <a:xfrm>
            <a:off x="5880459" y="1953430"/>
            <a:ext cx="6164667" cy="3709905"/>
          </a:xfrm>
          <a:custGeom>
            <a:avLst/>
            <a:gdLst/>
            <a:ahLst/>
            <a:cxnLst/>
            <a:rect l="0" t="0" r="r" b="b"/>
            <a:pathLst>
              <a:path w="6164667" h="3709906" fill="norm" stroke="1" extrusionOk="0">
                <a:moveTo>
                  <a:pt x="0" y="0"/>
                </a:moveTo>
                <a:cubicBezTo>
                  <a:pt x="0" y="0"/>
                  <a:pt x="6164667" y="0"/>
                  <a:pt x="6164667" y="0"/>
                </a:cubicBezTo>
                <a:cubicBezTo>
                  <a:pt x="6164667" y="0"/>
                  <a:pt x="6164667" y="3709906"/>
                  <a:pt x="6164667" y="3709906"/>
                </a:cubicBezTo>
                <a:cubicBezTo>
                  <a:pt x="6164667" y="3709906"/>
                  <a:pt x="3082494" y="3709906"/>
                  <a:pt x="3082494" y="3709906"/>
                </a:cubicBezTo>
                <a:cubicBezTo>
                  <a:pt x="3082494" y="3709906"/>
                  <a:pt x="3082494" y="1475568"/>
                  <a:pt x="3082494" y="1475568"/>
                </a:cubicBezTo>
                <a:cubicBezTo>
                  <a:pt x="3082494" y="1475568"/>
                  <a:pt x="0" y="1475568"/>
                  <a:pt x="0" y="1475568"/>
                </a:cubicBezTo>
                <a:cubicBezTo>
                  <a:pt x="0" y="1475568"/>
                  <a:pt x="0" y="0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75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09998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450109185" name=""/>
          <p:cNvSpPr txBox="1"/>
          <p:nvPr/>
        </p:nvSpPr>
        <p:spPr bwMode="auto">
          <a:xfrm flipH="0" flipV="0">
            <a:off x="1077601" y="1872927"/>
            <a:ext cx="9842235" cy="2240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Engineering :</a:t>
            </a:r>
            <a:endParaRPr lang="fr-FR"/>
          </a:p>
          <a:p>
            <a:pPr marL="683929" lvl="1" indent="-283879"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Recency : Temps écoulé depuis le dernier achat du client.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Fréquency : Nombre total d'achats effectués par le client.</a:t>
            </a:r>
            <a:endParaRPr/>
          </a:p>
          <a:p>
            <a:pPr marL="683929" lvl="1" indent="-283879">
              <a:buFont typeface="Arial"/>
              <a:buChar char="•"/>
              <a:defRPr/>
            </a:pPr>
            <a:r>
              <a:rPr lang="fr-FR"/>
              <a:t>Monetary :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Valeur totale dépensée par le client.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Avg_review : Note moyenne laissée par client 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endParaRPr lang="fr-FR"/>
          </a:p>
        </p:txBody>
      </p:sp>
      <p:pic>
        <p:nvPicPr>
          <p:cNvPr id="9362314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75489590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42382" y="3994042"/>
            <a:ext cx="5107234" cy="2119649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18216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279811397" name=""/>
          <p:cNvSpPr txBox="1"/>
          <p:nvPr/>
        </p:nvSpPr>
        <p:spPr bwMode="auto">
          <a:xfrm flipH="0" flipV="0">
            <a:off x="1077602" y="1872927"/>
            <a:ext cx="9990556" cy="1829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Analysis: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Moins de 1% de valeurs manquantes... Suppression des lignes.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Seulement </a:t>
            </a:r>
            <a:r>
              <a:rPr lang="fr-FR" b="1"/>
              <a:t>3%</a:t>
            </a:r>
            <a:r>
              <a:rPr lang="fr-FR"/>
              <a:t> de clients ont passé commande plusieurs fois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80% des clients sont satisfaits (Note de 4 ou 5)</a:t>
            </a:r>
            <a:endParaRPr lang="fr-FR"/>
          </a:p>
        </p:txBody>
      </p:sp>
      <p:pic>
        <p:nvPicPr>
          <p:cNvPr id="1644287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304814072" name=""/>
          <p:cNvPicPr>
            <a:picLocks noChangeAspect="1"/>
          </p:cNvPicPr>
          <p:nvPr/>
        </p:nvPicPr>
        <p:blipFill>
          <a:blip r:embed="rId4"/>
          <a:srcRect l="34109" t="12619" r="32683" b="0"/>
          <a:stretch/>
        </p:blipFill>
        <p:spPr bwMode="auto">
          <a:xfrm flipH="0" flipV="0">
            <a:off x="3852642" y="3704616"/>
            <a:ext cx="3405971" cy="297348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22474009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427094" y="3704616"/>
            <a:ext cx="3705616" cy="2973483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50103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60884" y="3704616"/>
            <a:ext cx="3005571" cy="2973483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3252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1245624420" name=""/>
          <p:cNvSpPr txBox="1"/>
          <p:nvPr/>
        </p:nvSpPr>
        <p:spPr bwMode="auto">
          <a:xfrm flipH="0" flipV="0">
            <a:off x="1077602" y="1872927"/>
            <a:ext cx="985303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Analysis et Transformation:</a:t>
            </a:r>
            <a:endParaRPr lang="fr-FR"/>
          </a:p>
        </p:txBody>
      </p:sp>
      <p:pic>
        <p:nvPicPr>
          <p:cNvPr id="7014854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293946162" name=""/>
          <p:cNvPicPr>
            <a:picLocks noChangeAspect="1"/>
          </p:cNvPicPr>
          <p:nvPr/>
        </p:nvPicPr>
        <p:blipFill>
          <a:blip r:embed="rId4"/>
          <a:srcRect l="70456" t="13861" r="0" b="0"/>
          <a:stretch/>
        </p:blipFill>
        <p:spPr bwMode="auto">
          <a:xfrm flipH="0" flipV="0">
            <a:off x="306116" y="2367377"/>
            <a:ext cx="2481656" cy="240214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7627511" name=""/>
          <p:cNvPicPr>
            <a:picLocks noChangeAspect="1"/>
          </p:cNvPicPr>
          <p:nvPr/>
        </p:nvPicPr>
        <p:blipFill>
          <a:blip r:embed="rId5"/>
          <a:srcRect l="34109" t="12619" r="32683" b="0"/>
          <a:stretch/>
        </p:blipFill>
        <p:spPr bwMode="auto">
          <a:xfrm flipH="0" flipV="0">
            <a:off x="2978664" y="2367377"/>
            <a:ext cx="2718786" cy="237355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00999829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951897" y="4787173"/>
            <a:ext cx="2772321" cy="199444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929706379" name=""/>
          <p:cNvPicPr>
            <a:picLocks noChangeAspect="1"/>
          </p:cNvPicPr>
          <p:nvPr/>
        </p:nvPicPr>
        <p:blipFill>
          <a:blip r:embed="rId7"/>
          <a:srcRect l="33476" t="12792" r="32584" b="0"/>
          <a:stretch/>
        </p:blipFill>
        <p:spPr bwMode="auto">
          <a:xfrm flipH="0" flipV="0">
            <a:off x="5937888" y="2346135"/>
            <a:ext cx="2871583" cy="242339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767769310" name=""/>
          <p:cNvPicPr>
            <a:picLocks noChangeAspect="1"/>
          </p:cNvPicPr>
          <p:nvPr/>
        </p:nvPicPr>
        <p:blipFill>
          <a:blip r:embed="rId8"/>
          <a:srcRect l="0" t="6904" r="0" b="0"/>
          <a:stretch/>
        </p:blipFill>
        <p:spPr bwMode="auto">
          <a:xfrm flipH="0" flipV="0">
            <a:off x="5937888" y="4829663"/>
            <a:ext cx="2715808" cy="1951952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7289433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flipH="0" flipV="0">
            <a:off x="9022531" y="2351226"/>
            <a:ext cx="2959560" cy="2374829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174607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5"/>
            <a:ext cx="9626225" cy="2852735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3 </a:t>
            </a:r>
            <a:r>
              <a:rPr lang="fr-FR"/>
              <a:t>Segmentation client</a:t>
            </a:r>
            <a:br>
              <a:rPr/>
            </a:br>
            <a:endParaRPr/>
          </a:p>
        </p:txBody>
      </p:sp>
      <p:pic>
        <p:nvPicPr>
          <p:cNvPr id="16188753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37489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847640663" name=""/>
          <p:cNvSpPr txBox="1"/>
          <p:nvPr/>
        </p:nvSpPr>
        <p:spPr bwMode="auto">
          <a:xfrm flipH="0" flipV="0">
            <a:off x="1077602" y="1872927"/>
            <a:ext cx="9982276" cy="1829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Algorithme de clusterings non supervisés (KMeans, Dbscans, Agglomerative Clustering)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Définition nombre de clusters optimum (Méthode du coude)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Evaluation de la qualité des clusters avec les coefficients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Calinski-Harabasz</a:t>
            </a:r>
            <a:r>
              <a:rPr lang="fr-FR"/>
              <a:t> et Silhouette</a:t>
            </a:r>
            <a:endParaRPr lang="fr-FR"/>
          </a:p>
        </p:txBody>
      </p:sp>
      <p:pic>
        <p:nvPicPr>
          <p:cNvPr id="12745310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3200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631690748" name=""/>
          <p:cNvSpPr txBox="1"/>
          <p:nvPr/>
        </p:nvSpPr>
        <p:spPr bwMode="auto">
          <a:xfrm flipH="0" flipV="0">
            <a:off x="1077602" y="1872927"/>
            <a:ext cx="9982276" cy="1829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Algorithme de clusterings non supervisés (KMeans, Dbscans, Agglomerative Clustering)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Définition nombre de clusters optimum (Méthode du coude)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Evaluation de la qualité des clusters avec les coefficients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Calinski-Harabasz</a:t>
            </a:r>
            <a:r>
              <a:rPr lang="fr-FR"/>
              <a:t> et Silhouette</a:t>
            </a:r>
            <a:endParaRPr lang="fr-FR"/>
          </a:p>
        </p:txBody>
      </p:sp>
      <p:pic>
        <p:nvPicPr>
          <p:cNvPr id="472338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2676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2786186" name=""/>
          <p:cNvSpPr txBox="1"/>
          <p:nvPr/>
        </p:nvSpPr>
        <p:spPr bwMode="auto">
          <a:xfrm flipH="0" flipV="0">
            <a:off x="1077602" y="1872927"/>
            <a:ext cx="999307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</p:txBody>
      </p:sp>
      <p:pic>
        <p:nvPicPr>
          <p:cNvPr id="15907860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79465030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38846" y="2531216"/>
            <a:ext cx="10114306" cy="339365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22645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091687837" name=""/>
          <p:cNvSpPr txBox="1"/>
          <p:nvPr/>
        </p:nvSpPr>
        <p:spPr bwMode="auto">
          <a:xfrm flipH="0" flipV="0">
            <a:off x="1077602" y="1872927"/>
            <a:ext cx="10001716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=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0,32</a:t>
            </a:r>
            <a:endParaRPr lang="fr-FR"/>
          </a:p>
        </p:txBody>
      </p:sp>
      <p:pic>
        <p:nvPicPr>
          <p:cNvPr id="8342606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9917432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66313" y="2501991"/>
            <a:ext cx="5716217" cy="422503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121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142693053" name=""/>
          <p:cNvSpPr txBox="1"/>
          <p:nvPr/>
        </p:nvSpPr>
        <p:spPr bwMode="auto">
          <a:xfrm flipH="0" flipV="0">
            <a:off x="1077602" y="1872927"/>
            <a:ext cx="1000279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</p:txBody>
      </p:sp>
      <p:pic>
        <p:nvPicPr>
          <p:cNvPr id="2720146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8798539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42344" y="1381124"/>
            <a:ext cx="473392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82037792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290519" y="4614073"/>
            <a:ext cx="9585749" cy="217725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6258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838419274" name=""/>
          <p:cNvSpPr txBox="1"/>
          <p:nvPr/>
        </p:nvSpPr>
        <p:spPr bwMode="auto">
          <a:xfrm flipH="0" flipV="0">
            <a:off x="1077602" y="1872927"/>
            <a:ext cx="10013956" cy="1417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Dbscans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eps = 0.3 et MinPts = 8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=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0,015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091427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29451217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520402" y="2257955"/>
            <a:ext cx="5561437" cy="4188827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8452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188127872" name=""/>
          <p:cNvSpPr txBox="1"/>
          <p:nvPr/>
        </p:nvSpPr>
        <p:spPr bwMode="auto">
          <a:xfrm flipH="0" flipV="0">
            <a:off x="1077602" y="1872927"/>
            <a:ext cx="10064356" cy="1417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Dbscans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Nombre de clusters trop important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Long temps de calcul</a:t>
            </a:r>
            <a:endParaRPr lang="fr-FR"/>
          </a:p>
        </p:txBody>
      </p:sp>
      <p:pic>
        <p:nvPicPr>
          <p:cNvPr id="4946502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5996797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475719" y="1035843"/>
            <a:ext cx="463867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76459230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03771" y="4319659"/>
            <a:ext cx="10383468" cy="235844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2526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6476607" name=""/>
          <p:cNvSpPr txBox="1"/>
          <p:nvPr/>
        </p:nvSpPr>
        <p:spPr bwMode="auto">
          <a:xfrm flipH="0" flipV="0">
            <a:off x="1077602" y="1872927"/>
            <a:ext cx="10034836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Agglomerative Clustering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= </a:t>
            </a:r>
            <a:r>
              <a:rPr lang="fr-FR"/>
              <a:t>0.26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189496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07614842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44599" y="2581767"/>
            <a:ext cx="5369794" cy="4109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7543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60337925" name=""/>
          <p:cNvSpPr txBox="1"/>
          <p:nvPr/>
        </p:nvSpPr>
        <p:spPr bwMode="auto">
          <a:xfrm flipH="0" flipV="0">
            <a:off x="1077602" y="1872927"/>
            <a:ext cx="10081996" cy="1417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Agglomerative Clustering</a:t>
            </a:r>
            <a:r>
              <a:rPr lang="fr-FR" sz="2200" b="1"/>
              <a:t>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moins bon qu’avec KMeans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Long temps de calcul</a:t>
            </a:r>
            <a:endParaRPr lang="fr-FR"/>
          </a:p>
        </p:txBody>
      </p:sp>
      <p:pic>
        <p:nvPicPr>
          <p:cNvPr id="367605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35004468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04004" y="928686"/>
            <a:ext cx="463867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84360635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51085" y="4241930"/>
            <a:ext cx="11014499" cy="2501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164311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4"/>
            <a:ext cx="9626224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4</a:t>
            </a:r>
            <a:r>
              <a:rPr/>
              <a:t> </a:t>
            </a:r>
            <a:r>
              <a:rPr lang="fr-FR"/>
              <a:t>Sélection du modèle</a:t>
            </a:r>
            <a:br>
              <a:rPr/>
            </a:br>
            <a:endParaRPr/>
          </a:p>
        </p:txBody>
      </p:sp>
      <p:pic>
        <p:nvPicPr>
          <p:cNvPr id="18269783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5619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Selection du modèle</a:t>
            </a:r>
            <a:endParaRPr sz="3600"/>
          </a:p>
        </p:txBody>
      </p:sp>
      <p:sp>
        <p:nvSpPr>
          <p:cNvPr id="319482947" name=""/>
          <p:cNvSpPr txBox="1"/>
          <p:nvPr/>
        </p:nvSpPr>
        <p:spPr bwMode="auto">
          <a:xfrm flipH="0" flipV="0">
            <a:off x="1077602" y="1872927"/>
            <a:ext cx="1000279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</p:txBody>
      </p:sp>
      <p:pic>
        <p:nvPicPr>
          <p:cNvPr id="4597780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91129108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42344" y="1381124"/>
            <a:ext cx="473392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31238658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290519" y="4614073"/>
            <a:ext cx="9585749" cy="217725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6503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Selection du modèle</a:t>
            </a:r>
            <a:endParaRPr sz="3600"/>
          </a:p>
        </p:txBody>
      </p:sp>
      <p:sp>
        <p:nvSpPr>
          <p:cNvPr id="1589688662" name=""/>
          <p:cNvSpPr txBox="1"/>
          <p:nvPr/>
        </p:nvSpPr>
        <p:spPr bwMode="auto">
          <a:xfrm flipH="0" flipV="0">
            <a:off x="1077602" y="1872926"/>
            <a:ext cx="10938821" cy="3033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Interprétation des clusters</a:t>
            </a:r>
            <a:endParaRPr lang="fr-FR" sz="2200" b="1"/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0: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12% des clients qui sont insatisfaits du service de Olist et ne recommenderont probablement pas (Frequency =1)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1: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20% de clients qui dépensent plus que la moyenne mais ne sont pas fidélisés (Monetary &gt; 200 et Frequency =1)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2: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clients récurents (Frequency = 2) mais représentent moins de 1% de la totalité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3: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Anciens clients qui pourraient revenir car satisfait (review = 5)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4: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30% des clients sont nouveaux et dépensent peu (recency &lt; 200 et monetary = 69€)</a:t>
            </a:r>
            <a:endParaRPr lang="fr-FR"/>
          </a:p>
        </p:txBody>
      </p:sp>
      <p:pic>
        <p:nvPicPr>
          <p:cNvPr id="20619067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34416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Sélection du modèle</a:t>
            </a:r>
            <a:endParaRPr sz="3600"/>
          </a:p>
        </p:txBody>
      </p:sp>
      <p:sp>
        <p:nvSpPr>
          <p:cNvPr id="1160541191" name=""/>
          <p:cNvSpPr txBox="1"/>
          <p:nvPr/>
        </p:nvSpPr>
        <p:spPr bwMode="auto">
          <a:xfrm flipH="0" flipV="0">
            <a:off x="1077602" y="1872926"/>
            <a:ext cx="10967981" cy="1509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Stabilité des clusters à l’initialisation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/>
              <a:t>Initialisation stable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126355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49986070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262033" y="2322443"/>
            <a:ext cx="6039533" cy="4282578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076726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4"/>
            <a:ext cx="9626224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5</a:t>
            </a:r>
            <a:r>
              <a:rPr/>
              <a:t> </a:t>
            </a:r>
            <a:r>
              <a:rPr lang="fr-FR"/>
              <a:t>Maintenance du modèle</a:t>
            </a:r>
            <a:br>
              <a:rPr/>
            </a:br>
            <a:endParaRPr/>
          </a:p>
        </p:txBody>
      </p:sp>
      <p:pic>
        <p:nvPicPr>
          <p:cNvPr id="141294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9735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2012178761" name=""/>
          <p:cNvSpPr txBox="1"/>
          <p:nvPr/>
        </p:nvSpPr>
        <p:spPr bwMode="auto">
          <a:xfrm flipH="0" flipV="0">
            <a:off x="1077602" y="1872926"/>
            <a:ext cx="10973381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6145057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86996005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316570" y="1210804"/>
            <a:ext cx="5558857" cy="5558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12926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59020766" name=""/>
          <p:cNvSpPr txBox="1"/>
          <p:nvPr/>
        </p:nvSpPr>
        <p:spPr bwMode="auto">
          <a:xfrm flipH="0" flipV="0">
            <a:off x="1077601" y="1872925"/>
            <a:ext cx="10973380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5" indent="-327935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1277123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4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361700021" name=""/>
          <p:cNvPicPr>
            <a:picLocks noChangeAspect="1"/>
          </p:cNvPicPr>
          <p:nvPr/>
        </p:nvPicPr>
        <p:blipFill>
          <a:blip r:embed="rId4"/>
          <a:srcRect l="0" t="0" r="0" b="75219"/>
          <a:stretch/>
        </p:blipFill>
        <p:spPr bwMode="auto">
          <a:xfrm flipH="0" flipV="0">
            <a:off x="3053969" y="1872925"/>
            <a:ext cx="7020645" cy="440828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67146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1827132763" name=""/>
          <p:cNvSpPr txBox="1"/>
          <p:nvPr/>
        </p:nvSpPr>
        <p:spPr bwMode="auto">
          <a:xfrm flipH="0" flipV="0">
            <a:off x="1077601" y="1872925"/>
            <a:ext cx="10973380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5" indent="-327935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2986716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4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501797832" name=""/>
          <p:cNvPicPr>
            <a:picLocks noChangeAspect="1"/>
          </p:cNvPicPr>
          <p:nvPr/>
        </p:nvPicPr>
        <p:blipFill>
          <a:blip r:embed="rId4"/>
          <a:srcRect l="0" t="25219" r="0" b="50000"/>
          <a:stretch/>
        </p:blipFill>
        <p:spPr bwMode="auto">
          <a:xfrm flipH="0" flipV="0">
            <a:off x="3053969" y="1872925"/>
            <a:ext cx="7020645" cy="440828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9723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726819326" name=""/>
          <p:cNvSpPr txBox="1"/>
          <p:nvPr/>
        </p:nvSpPr>
        <p:spPr bwMode="auto">
          <a:xfrm flipH="0" flipV="0">
            <a:off x="1077601" y="1872925"/>
            <a:ext cx="10973380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5" indent="-327935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8452512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4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2026055900" name=""/>
          <p:cNvPicPr>
            <a:picLocks noChangeAspect="1"/>
          </p:cNvPicPr>
          <p:nvPr/>
        </p:nvPicPr>
        <p:blipFill>
          <a:blip r:embed="rId4"/>
          <a:srcRect l="0" t="50000" r="0" b="25219"/>
          <a:stretch/>
        </p:blipFill>
        <p:spPr bwMode="auto">
          <a:xfrm flipH="0" flipV="0">
            <a:off x="3053969" y="1872925"/>
            <a:ext cx="7020645" cy="440828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31226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1359743415" name=""/>
          <p:cNvSpPr txBox="1"/>
          <p:nvPr/>
        </p:nvSpPr>
        <p:spPr bwMode="auto">
          <a:xfrm flipH="0" flipV="0">
            <a:off x="1077602" y="1872926"/>
            <a:ext cx="10975901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Analyse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1913773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18754777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27499" y="2415233"/>
            <a:ext cx="10478662" cy="4123678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7466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1012443757" name=""/>
          <p:cNvSpPr txBox="1"/>
          <p:nvPr/>
        </p:nvSpPr>
        <p:spPr bwMode="auto">
          <a:xfrm flipH="0" flipV="0">
            <a:off x="1077602" y="1872926"/>
            <a:ext cx="11003261" cy="2423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Analyse</a:t>
            </a:r>
            <a:r>
              <a:rPr lang="fr-FR" sz="2200" b="1"/>
              <a:t> :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/>
              <a:t>Algorithme obsolète après 10 semaines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13982</a:t>
            </a:r>
            <a:r>
              <a:rPr lang="fr-FR" sz="1800" b="0"/>
              <a:t> clients supplémentaires</a:t>
            </a:r>
            <a:endParaRPr lang="fr-FR" sz="1800" b="0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1726575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62684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1576065024" name=""/>
          <p:cNvSpPr txBox="1"/>
          <p:nvPr/>
        </p:nvSpPr>
        <p:spPr bwMode="auto">
          <a:xfrm flipH="0" flipV="0">
            <a:off x="1077602" y="1872926"/>
            <a:ext cx="11003621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Analyse</a:t>
            </a:r>
            <a:r>
              <a:rPr lang="fr-FR" sz="2200" b="1"/>
              <a:t> :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18996924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23452762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60035" y="2393527"/>
            <a:ext cx="9602089" cy="2159919"/>
          </a:xfrm>
          <a:prstGeom prst="rect">
            <a:avLst/>
          </a:prstGeom>
          <a:ln w="12699">
            <a:solidFill>
              <a:schemeClr val="bg1"/>
            </a:solidFill>
            <a:prstDash val="solid"/>
          </a:ln>
        </p:spPr>
      </p:pic>
      <p:pic>
        <p:nvPicPr>
          <p:cNvPr id="14646771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441253" y="4622570"/>
            <a:ext cx="9567265" cy="2152085"/>
          </a:xfrm>
          <a:prstGeom prst="rect">
            <a:avLst/>
          </a:prstGeom>
          <a:ln w="12699">
            <a:solidFill>
              <a:srgbClr val="FF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563611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4"/>
            <a:ext cx="9626224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5</a:t>
            </a:r>
            <a:r>
              <a:rPr/>
              <a:t> </a:t>
            </a:r>
            <a:r>
              <a:rPr lang="fr-FR"/>
              <a:t>Conclusion</a:t>
            </a:r>
            <a:br>
              <a:rPr/>
            </a:br>
            <a:endParaRPr/>
          </a:p>
        </p:txBody>
      </p:sp>
      <p:pic>
        <p:nvPicPr>
          <p:cNvPr id="3611772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6619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/>
              <a:t>6</a:t>
            </a:r>
            <a:r>
              <a:rPr sz="3600"/>
              <a:t> Conclusion</a:t>
            </a:r>
            <a:endParaRPr sz="3600"/>
          </a:p>
        </p:txBody>
      </p:sp>
      <p:sp>
        <p:nvSpPr>
          <p:cNvPr id="765076495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/>
              <a:t>Calcul des features lors de l’ajout de nouveaux clients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Mis à jour régulière des features de fréquence et de récence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Exploration de d’autres variables (type de produits, saisonalité)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Réduction de la temporalité pour calculer la maintenance de l’algorithme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36</Slides>
  <Notes>36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Stephens</dc:creator>
  <cp:lastModifiedBy/>
  <cp:revision>33</cp:revision>
  <dcterms:created xsi:type="dcterms:W3CDTF">2018-07-30T23:03:22Z</dcterms:created>
  <dcterms:modified xsi:type="dcterms:W3CDTF">2025-06-18T10:52:50Z</dcterms:modified>
</cp:coreProperties>
</file>