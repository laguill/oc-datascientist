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s/slide38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7DF18680-E054-41AD-8BC1-D1AEF772440D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 /><Relationship Id="rId44" Type="http://schemas.openxmlformats.org/officeDocument/2006/relationships/tableStyles" Target="tableStyles.xml" /><Relationship Id="rId4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6411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810468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77110883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34983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85775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36651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052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881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708850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724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983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389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A01D2-5ECB-7539-D460-03EF5ADBC1DE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299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716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8784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D49C-A572-668E-4C69-F44C60C72A8B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146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9643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580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A0A60-C46F-9E13-8572-E908049B115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342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480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049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0ECEA-A2F1-9B08-C4EE-659D2711B245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4806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985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633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5E85DB-E61D-FE34-23C0-FDF593C5833D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370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9399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86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6622E2-492A-D3D5-10F9-BEDD1FBA2C3B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891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3034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836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8CF1E-6D3E-42C0-4C2C-B9492ECE8F53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537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3069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17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FF652E-1376-8963-0BC7-6AF76C975E1A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800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5658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362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E3D52D-EC47-E709-ECA0-21DEA5C1483B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790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7335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402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B82DD-69BA-76B9-D64A-903D4ABE3E8D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492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5568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1603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3AB68F-DF1D-B723-307A-CFD6BEB4D23C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158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079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404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46FDE1-00E4-B2B9-3387-67319C4225D5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79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266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572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76C3C-D78D-6674-F925-D8C35B8BCAA8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047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319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95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98E5B4-AF25-9DF5-287C-A59B2CC3845B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728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0578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619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01AAA3-569F-AA6F-60DE-72AAA7A5F8BC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381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223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973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8D5E33-C8D4-8004-C422-BA165F4B81DF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77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09776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10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61D67-EE95-718A-14FF-FB46D9DFA331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38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8301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898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48A3C-8183-1B6C-13D6-FD7B052088F1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274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063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4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D85A9-3635-FC1C-E2B4-7BE088DCBA9B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3068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761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361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AF7B31-14F0-A14E-0D42-DA75F696F8E8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807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444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89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84202E-1DB0-06A6-FE05-5C3777CE3717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65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653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142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D16FC9-84AF-28B0-B39C-A04CABFCC51E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605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177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517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37A405-5703-9AEC-3410-C488A719EE14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4375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089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650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472815-4749-DB7A-A7CE-3D1966768231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476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586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955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CCAF2C-F58F-C44A-7364-CE47CD8F4A0D}" type="slidenum">
              <a:rPr/>
              <a:t/>
            </a:fld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245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8761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0758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209953-3540-033B-80B5-66181D50DAA3}" type="slidenum">
              <a:rPr/>
              <a:t/>
            </a:fld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599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1852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764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98D889-56E3-981E-78BC-72D71315975E}" type="slidenum">
              <a:rPr/>
              <a:t/>
            </a:fld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1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2964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718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5A156D-A549-051C-55DC-4658175049C9}" type="slidenum">
              <a:rPr/>
              <a:t/>
            </a:fld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333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809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814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3A2994-925B-905D-3518-4A98D2471076}" type="slidenum">
              <a:rPr/>
              <a:t/>
            </a:fld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06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65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907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71E81C-C857-2F8E-4167-EADA1CC3003C}" type="slidenum">
              <a:rPr/>
              <a:t/>
            </a:fld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818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5921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911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1658C8-8C84-D048-DAB1-E421D641E820}" type="slidenum">
              <a:rPr/>
              <a:t/>
            </a:fld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10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1670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93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6D475E-475C-7678-262F-8C79132650BA}" type="slidenum">
              <a:rPr/>
              <a:t/>
            </a:fld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74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041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38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3E2C4-EB8A-72AF-2A9B-E34916EE36D7}" type="slidenum">
              <a:rPr/>
              <a:t/>
            </a:fld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737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0764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432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762231-07AC-57D0-E18A-CF00AF9AF66F}" type="slidenum">
              <a:rPr/>
              <a:t/>
            </a:fld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864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267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864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74D779-7E9F-BC52-B27C-62685F094DCC}" type="slidenum">
              <a:rPr/>
              <a:t/>
            </a:fld>
            <a:endParaRPr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054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1693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95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B30647-FDE0-8AED-CD9A-4AADBA9FF98A}" type="slidenum">
              <a:rPr/>
              <a:t/>
            </a:fld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646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4744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175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F2AF3-555E-BC7C-C06B-686981419CBA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607039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4375102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719571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0886918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09391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438158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748672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50421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128500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8032865" name="Picture 4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65906773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020021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1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hyperlink" Target="ppaction:/hlink" TargetMode="External"/><Relationship Id="rId6" Type="http://schemas.openxmlformats.org/officeDocument/2006/relationships/slide" Target="slide20.xml"/><Relationship Id="rId7" Type="http://schemas.openxmlformats.org/officeDocument/2006/relationships/slide" Target="slide39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20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2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23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24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27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93267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	</a:t>
            </a:r>
            <a:r>
              <a:rPr lang="fr-FR"/>
              <a:t>Projet 4</a:t>
            </a:r>
            <a:endParaRPr lang="en-US"/>
          </a:p>
        </p:txBody>
      </p:sp>
      <p:sp>
        <p:nvSpPr>
          <p:cNvPr id="55624801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marL="0" lvl="0" indent="0">
              <a:buNone/>
              <a:defRPr/>
            </a:pP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Anticiper les besoins en consommation de bâtiments</a:t>
            </a:r>
            <a:b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Guillaume LAFON</a:t>
            </a:r>
            <a:endParaRPr sz="2400"/>
          </a:p>
          <a:p>
            <a:pPr>
              <a:defRPr/>
            </a:pP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59064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Sommaire</a:t>
            </a:r>
            <a:endParaRPr lang="fr-FR"/>
          </a:p>
        </p:txBody>
      </p:sp>
      <p:sp>
        <p:nvSpPr>
          <p:cNvPr id="94247892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64734" y="1825623"/>
            <a:ext cx="98625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25000" lnSpcReduction="15000"/>
          </a:bodyPr>
          <a:lstStyle/>
          <a:p>
            <a:pPr lvl="0">
              <a:lnSpc>
                <a:spcPct val="200000"/>
              </a:lnSpc>
              <a:defRPr/>
            </a:pPr>
            <a:r>
              <a:rPr lang="fr-FR" sz="11000" b="1" u="sng">
                <a:solidFill>
                  <a:schemeClr val="tx1"/>
                </a:solidFill>
                <a:hlinkClick r:id="rId3" action="ppaction://hlinksldjump" tooltip="ppaction://hlinksldjumpslide2"/>
              </a:rPr>
              <a:t>1 Introduction</a:t>
            </a:r>
            <a:endParaRPr sz="11000" b="1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1000" b="1" u="sng">
                <a:solidFill>
                  <a:schemeClr val="tx1"/>
                </a:solidFill>
                <a:hlinkClick r:id="rId4" action="ppaction://hlinksldjump" tooltip="ppaction://hlinksldjumpslide6"/>
              </a:rPr>
              <a:t>2 </a:t>
            </a:r>
            <a:r>
              <a:rPr lang="fr-FR" sz="11000" b="1" u="sng">
                <a:solidFill>
                  <a:schemeClr val="tx1"/>
                </a:solidFill>
                <a:hlinkClick r:id="rId4" action="ppaction://hlinksldjump" tooltip="ppaction://hlinksldjumpslide6"/>
              </a:rPr>
              <a:t>Présentation et préparation du jeu de données</a:t>
            </a:r>
            <a:endParaRPr sz="11000" b="1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1000" b="1" u="sng">
                <a:solidFill>
                  <a:schemeClr val="tx1"/>
                </a:solidFill>
                <a:hlinkClick r:id="rId5" tooltip="ppaction://hlinksldjumpslide8"/>
              </a:rPr>
              <a:t>3 Méthodes de prédictions</a:t>
            </a:r>
            <a:endParaRPr sz="11000" b="1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1000" b="1" u="sng">
                <a:solidFill>
                  <a:schemeClr val="tx1"/>
                </a:solidFill>
                <a:hlinkClick r:id="rId6" action="ppaction://hlinksldjump" tooltip="Diapositive 20"/>
              </a:rPr>
              <a:t>4 Présentation des résultats</a:t>
            </a:r>
            <a:endParaRPr sz="11000" b="1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1000" b="1" u="sng">
                <a:solidFill>
                  <a:schemeClr val="tx1"/>
                </a:solidFill>
                <a:hlinkClick r:id="rId7" action="ppaction://hlinksldjump" tooltip="ppaction://hlinksldjumpslide9"/>
              </a:rPr>
              <a:t>5 Conclusion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94247892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501467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6"/>
            <a:ext cx="9626226" cy="285273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317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5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46284588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La ville de Seattle souhaite devenir une ville neutre en émission de carbone en 2050.</a:t>
            </a:r>
            <a:endParaRPr lang="fr-FR"/>
          </a:p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1.2 Mission</a:t>
            </a:r>
            <a:endParaRPr lang="fr-FR"/>
          </a:p>
          <a:p>
            <a:pPr marL="0" lvl="0" indent="0">
              <a:buNone/>
              <a:defRPr/>
            </a:pPr>
            <a:r>
              <a:rPr lang="fr-FR"/>
              <a:t>Formulation de la problématique :</a:t>
            </a:r>
            <a:endParaRPr lang="fr-FR"/>
          </a:p>
          <a:p>
            <a:pPr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Analyser la </a:t>
            </a: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consommation en énergie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et les émissions de </a:t>
            </a: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G.E.S.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des bâtiments non destinés a l'habitation.</a:t>
            </a:r>
            <a:endParaRPr lang="fr-FR" sz="17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Tenter de prédire ces deux valeurs a partir des propriétés géographiques, architecturales et d'usage des bâtiments.</a:t>
            </a:r>
            <a:endParaRPr lang="fr-FR" sz="17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Tester la pertinence de l'indicateur </a:t>
            </a: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ENERGYSTARScore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, difficile et coûteux a acquérir.</a:t>
            </a:r>
            <a:endParaRPr lang="fr-FR" sz="17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 lvl="0">
              <a:defRPr/>
            </a:pPr>
            <a:endParaRPr lang="fr-FR"/>
          </a:p>
          <a:p>
            <a:pPr marL="0" lvl="0" indent="0">
              <a:spcBef>
                <a:spcPts val="2997"/>
              </a:spcBef>
              <a:buNone/>
              <a:defRPr/>
            </a:pP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1.3 Données</a:t>
            </a:r>
            <a:endParaRPr sz="1700"/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Relevé de différents indicateurs pour les bâtiments de Seattle pour l’année de 2016.</a:t>
            </a:r>
            <a:endParaRPr lang="fr-FR"/>
          </a:p>
        </p:txBody>
      </p:sp>
      <p:pic>
        <p:nvPicPr>
          <p:cNvPr id="1108653820" name=""/>
          <p:cNvPicPr>
            <a:picLocks noChangeAspect="1"/>
          </p:cNvPicPr>
          <p:nvPr/>
        </p:nvPicPr>
        <p:blipFill>
          <a:blip r:embed="rId3"/>
          <a:srcRect l="9941" t="21043" r="9825" b="21436"/>
          <a:stretch/>
        </p:blipFill>
        <p:spPr bwMode="auto">
          <a:xfrm flipH="0" flipV="0">
            <a:off x="5341249" y="432954"/>
            <a:ext cx="3622386" cy="1183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46284588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9393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70" y="1709734"/>
            <a:ext cx="10745656" cy="28527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2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01773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170257769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462736372" name=""/>
          <p:cNvSpPr txBox="1"/>
          <p:nvPr/>
        </p:nvSpPr>
        <p:spPr bwMode="auto">
          <a:xfrm flipH="0" flipV="0">
            <a:off x="1077603" y="1872927"/>
            <a:ext cx="9605717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2200" b="1"/>
              <a:t>Présentation :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Données fournies le 15 mars 2018 par Seattle sur des relevés de </a:t>
            </a:r>
            <a:r>
              <a:rPr lang="fr-FR" b="1"/>
              <a:t>2016</a:t>
            </a:r>
            <a:r>
              <a:rPr lang="fr-FR"/>
              <a:t>.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b="1"/>
              <a:t>3,376 </a:t>
            </a:r>
            <a:r>
              <a:rPr lang="fr-FR" b="1"/>
              <a:t>propriétés</a:t>
            </a:r>
            <a:r>
              <a:rPr lang="fr-FR"/>
              <a:t> 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b="1"/>
              <a:t>46 variables</a:t>
            </a:r>
            <a:r>
              <a:rPr lang="fr-FR"/>
              <a:t> décrivant les propriétés (géographiques, architecturales, usage, consommations, émissions)</a:t>
            </a:r>
            <a:endParaRPr lang="fr-FR"/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Dataset annoté avec description des valeurs fausses ou aberrantes (</a:t>
            </a:r>
            <a:r>
              <a:rPr lang="fr-FR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ComplianceStatus, </a:t>
            </a:r>
            <a:r>
              <a:rPr lang="fr-FR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Outlier</a:t>
            </a:r>
            <a:r>
              <a:rPr lang="fr-FR"/>
              <a:t>)</a:t>
            </a:r>
            <a:endParaRPr sz="1800" b="1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62745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182197219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375947227" name=""/>
          <p:cNvSpPr txBox="1"/>
          <p:nvPr/>
        </p:nvSpPr>
        <p:spPr bwMode="auto">
          <a:xfrm flipH="0" flipV="0">
            <a:off x="1077603" y="1872927"/>
            <a:ext cx="9729768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/>
              <a:t>Nettoyage :</a:t>
            </a:r>
            <a:endParaRPr sz="2400" b="1"/>
          </a:p>
          <a:p>
            <a:pPr marL="283879" indent="-283879" algn="l">
              <a:buFont typeface="Arial"/>
              <a:buChar char="•"/>
              <a:defRPr/>
            </a:pP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/>
              <a:t>Sélection des bâtiments non résidentiels (</a:t>
            </a:r>
            <a:r>
              <a:rPr lang="fr-FR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NonResidential</a:t>
            </a:r>
            <a:r>
              <a:rPr lang="fr-FR"/>
              <a:t>)</a:t>
            </a:r>
            <a:endParaRPr lang="fr-FR"/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b="0"/>
              <a:t>Suppression des résidences décrites ou les données sont présentées comme non fiables (</a:t>
            </a:r>
            <a:r>
              <a:rPr lang="fr-FR" b="1"/>
              <a:t>Outlier</a:t>
            </a:r>
            <a:r>
              <a:rPr lang="fr-FR" b="1"/>
              <a:t>s</a:t>
            </a:r>
            <a:r>
              <a:rPr lang="fr-FR" b="0"/>
              <a:t>)</a:t>
            </a:r>
            <a:endParaRPr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25519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1002389138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1635338147" name=""/>
          <p:cNvSpPr txBox="1"/>
          <p:nvPr/>
        </p:nvSpPr>
        <p:spPr bwMode="auto">
          <a:xfrm flipH="0" flipV="0">
            <a:off x="1077604" y="1872927"/>
            <a:ext cx="9435691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/>
              <a:t>Création de nouvelles variables :</a:t>
            </a:r>
            <a:endParaRPr sz="2400" b="1"/>
          </a:p>
          <a:p>
            <a:pPr marL="283879" indent="-283879" algn="l">
              <a:buFont typeface="Arial"/>
              <a:buChar char="•"/>
              <a:defRPr/>
            </a:pPr>
            <a:endParaRPr lang="fr-FR"/>
          </a:p>
          <a:p>
            <a:pPr marL="283879" indent="-283879" algn="l">
              <a:buFont typeface="Arial"/>
              <a:buChar char="•"/>
              <a:defRPr/>
            </a:pPr>
            <a:r>
              <a:rPr lang="fr-FR"/>
              <a:t>Caractérisation du type d’énergie principale la plus utilisée</a:t>
            </a:r>
            <a:endParaRPr lang="fr-FR"/>
          </a:p>
        </p:txBody>
      </p:sp>
      <p:pic>
        <p:nvPicPr>
          <p:cNvPr id="1567618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72733" y="2879127"/>
            <a:ext cx="4646531" cy="365229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11307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1028789010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1180812962" name=""/>
          <p:cNvSpPr txBox="1"/>
          <p:nvPr/>
        </p:nvSpPr>
        <p:spPr bwMode="auto">
          <a:xfrm flipH="0" flipV="0">
            <a:off x="1077604" y="1872927"/>
            <a:ext cx="9443251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/>
              <a:t>Création de nouvelles variables :</a:t>
            </a:r>
            <a:endParaRPr sz="2400" b="1"/>
          </a:p>
          <a:p>
            <a:pPr marL="283879" indent="-283879" algn="l">
              <a:buFont typeface="Arial"/>
              <a:buChar char="•"/>
              <a:defRPr/>
            </a:pPr>
            <a:endParaRPr lang="fr-FR"/>
          </a:p>
          <a:p>
            <a:pPr marL="283879" indent="-283879" algn="l">
              <a:buFont typeface="Arial"/>
              <a:buChar char="•"/>
              <a:defRPr/>
            </a:pPr>
            <a:r>
              <a:rPr lang="fr-FR"/>
              <a:t>Année de construction</a:t>
            </a:r>
            <a:endParaRPr lang="fr-FR"/>
          </a:p>
        </p:txBody>
      </p:sp>
      <p:pic>
        <p:nvPicPr>
          <p:cNvPr id="1736089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72733" y="2879127"/>
            <a:ext cx="4646531" cy="365229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472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605640849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2131457234" name=""/>
          <p:cNvSpPr txBox="1"/>
          <p:nvPr/>
        </p:nvSpPr>
        <p:spPr bwMode="auto">
          <a:xfrm flipH="0" flipV="0">
            <a:off x="1077604" y="1872927"/>
            <a:ext cx="9443251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/>
              <a:t>Création de nouvelles variables :</a:t>
            </a:r>
            <a:endParaRPr sz="2400" b="1"/>
          </a:p>
          <a:p>
            <a:pPr marL="283879" indent="-283879" algn="l">
              <a:buFont typeface="Arial"/>
              <a:buChar char="•"/>
              <a:defRPr/>
            </a:pPr>
            <a:endParaRPr lang="fr-FR"/>
          </a:p>
          <a:p>
            <a:pPr marL="283879" indent="-283879" algn="l">
              <a:buFont typeface="Arial"/>
              <a:buChar char="•"/>
              <a:defRPr/>
            </a:pPr>
            <a:r>
              <a:rPr lang="fr-FR"/>
              <a:t>Année de construction</a:t>
            </a:r>
            <a:endParaRPr lang="fr-FR"/>
          </a:p>
        </p:txBody>
      </p:sp>
      <p:pic>
        <p:nvPicPr>
          <p:cNvPr id="65281173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72733" y="2879127"/>
            <a:ext cx="4646531" cy="3652295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76969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23825906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1813839468" name=""/>
          <p:cNvSpPr txBox="1"/>
          <p:nvPr/>
        </p:nvSpPr>
        <p:spPr bwMode="auto">
          <a:xfrm flipH="0" flipV="0">
            <a:off x="1077604" y="1872927"/>
            <a:ext cx="9508411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/>
              <a:t>Analyse de la relation entre les variables :</a:t>
            </a:r>
            <a:endParaRPr sz="2400" b="1"/>
          </a:p>
        </p:txBody>
      </p:sp>
      <p:pic>
        <p:nvPicPr>
          <p:cNvPr id="79236805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366578" y="2330487"/>
            <a:ext cx="5458842" cy="429079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53943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23352787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181499950" name=""/>
          <p:cNvSpPr txBox="1"/>
          <p:nvPr/>
        </p:nvSpPr>
        <p:spPr bwMode="auto">
          <a:xfrm flipH="0" flipV="0">
            <a:off x="1077604" y="1872927"/>
            <a:ext cx="9496531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/>
              <a:t>Analyse de la distribution des variables et transformation :</a:t>
            </a:r>
            <a:endParaRPr sz="2400" b="1"/>
          </a:p>
        </p:txBody>
      </p:sp>
      <p:pic>
        <p:nvPicPr>
          <p:cNvPr id="210151442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775999" y="2411208"/>
            <a:ext cx="8640000" cy="42588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8465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4" y="365121"/>
            <a:ext cx="1003679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et préparation du jeu de données</a:t>
            </a:r>
            <a:endParaRPr sz="3600"/>
          </a:p>
        </p:txBody>
      </p:sp>
      <p:pic>
        <p:nvPicPr>
          <p:cNvPr id="2048835305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1993473589" name=""/>
          <p:cNvSpPr txBox="1"/>
          <p:nvPr/>
        </p:nvSpPr>
        <p:spPr bwMode="auto">
          <a:xfrm flipH="0" flipV="0">
            <a:off x="1077604" y="1872927"/>
            <a:ext cx="9462331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Analyse de la distribution des variables et transformation :</a:t>
            </a:r>
            <a:endParaRPr sz="2400" b="1"/>
          </a:p>
        </p:txBody>
      </p:sp>
      <p:pic>
        <p:nvPicPr>
          <p:cNvPr id="20798507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775999" y="2548597"/>
            <a:ext cx="8640000" cy="39528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166299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5"/>
            <a:ext cx="9626225" cy="2852735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3 </a:t>
            </a:r>
            <a:r>
              <a:rPr lang="fr-FR"/>
              <a:t>Méthodes d</a:t>
            </a:r>
            <a:r>
              <a:rPr lang="fr-FR"/>
              <a:t>e prédictions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2750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2" cy="1325559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Méthodes de prédiction</a:t>
            </a:r>
            <a:endParaRPr sz="3600"/>
          </a:p>
        </p:txBody>
      </p:sp>
      <p:pic>
        <p:nvPicPr>
          <p:cNvPr id="1380100694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5" y="5912697"/>
            <a:ext cx="837045" cy="826960"/>
          </a:xfrm>
          <a:prstGeom prst="rect">
            <a:avLst/>
          </a:prstGeom>
        </p:spPr>
      </p:pic>
      <p:sp>
        <p:nvSpPr>
          <p:cNvPr id="1315915985" name=""/>
          <p:cNvSpPr txBox="1"/>
          <p:nvPr/>
        </p:nvSpPr>
        <p:spPr bwMode="auto">
          <a:xfrm flipH="0" flipV="0">
            <a:off x="852324" y="2011680"/>
            <a:ext cx="10500666" cy="3127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/>
              <a:t>1) Prédictions des valeurs de Consommation et des Emissions de GES</a:t>
            </a:r>
            <a:endParaRPr lang="fr-FR" sz="2400"/>
          </a:p>
          <a:p>
            <a:pPr marL="349965" indent="-349965" algn="l">
              <a:lnSpc>
                <a:spcPct val="114999"/>
              </a:lnSpc>
              <a:buFont typeface="Arial"/>
              <a:buChar char="•"/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</a:t>
            </a:r>
            <a:r>
              <a:rPr lang="fr-FR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critères (métriques)</a:t>
            </a:r>
            <a:endParaRPr lang="fr-FR" sz="2400"/>
          </a:p>
          <a:p>
            <a:pPr marL="349965" indent="-349965" algn="l">
              <a:buFont typeface="Arial"/>
              <a:buChar char="•"/>
              <a:defRPr/>
            </a:pPr>
            <a:r>
              <a:rPr lang="fr-FR" sz="2400"/>
              <a:t>Comparaison : </a:t>
            </a:r>
            <a:r>
              <a:rPr lang="fr-FR" sz="2400"/>
              <a:t>4</a:t>
            </a:r>
            <a:r>
              <a:rPr lang="fr-FR" sz="2400"/>
              <a:t> </a:t>
            </a:r>
            <a:r>
              <a:rPr lang="fr-FR" sz="2400"/>
              <a:t>types de </a:t>
            </a:r>
            <a:r>
              <a:rPr lang="fr-FR" sz="2400"/>
              <a:t>modèles de Machine Learning succinctement optimisés par validation croisée</a:t>
            </a:r>
            <a:endParaRPr lang="fr-FR" sz="2400"/>
          </a:p>
          <a:p>
            <a:pPr marL="349965" indent="-349965" algn="l">
              <a:buFont typeface="Arial"/>
              <a:buChar char="•"/>
              <a:defRPr/>
            </a:pPr>
            <a:endParaRPr lang="fr-FR" sz="2400"/>
          </a:p>
          <a:p>
            <a:pPr algn="l">
              <a:defRPr/>
            </a:pPr>
            <a:r>
              <a:rPr lang="fr-FR" sz="2400"/>
              <a:t>2) Optimisation plus poussée du meilleur modèle + Courbe d'apprentissage</a:t>
            </a:r>
            <a:endParaRPr lang="fr-FR" sz="2400"/>
          </a:p>
          <a:p>
            <a:pPr algn="l">
              <a:defRPr/>
            </a:pPr>
            <a:endParaRPr lang="fr-FR" sz="2400"/>
          </a:p>
          <a:p>
            <a:pPr algn="l">
              <a:defRPr/>
            </a:pPr>
            <a:r>
              <a:rPr lang="fr-FR" sz="2400"/>
              <a:t>3) Importance des variables (dont ENERGYSTARScore)</a:t>
            </a:r>
            <a:endParaRPr lang="fr-FR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35922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Méthodes de prédiction</a:t>
            </a:r>
            <a:endParaRPr sz="3600"/>
          </a:p>
        </p:txBody>
      </p:sp>
      <p:pic>
        <p:nvPicPr>
          <p:cNvPr id="1031059102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473589588" name=""/>
          <p:cNvSpPr txBox="1"/>
          <p:nvPr/>
        </p:nvSpPr>
        <p:spPr bwMode="auto">
          <a:xfrm flipH="0" flipV="0">
            <a:off x="852324" y="1403265"/>
            <a:ext cx="10533066" cy="1920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2400" b="1"/>
              <a:t>Les critères de comparaison</a:t>
            </a:r>
            <a:endParaRPr lang="fr-FR" sz="2400" b="1"/>
          </a:p>
          <a:p>
            <a:pPr marL="349965" indent="-349965" algn="l">
              <a:buFont typeface="Arial"/>
              <a:buChar char="•"/>
              <a:defRPr/>
            </a:pPr>
            <a:r>
              <a:rPr lang="fr-FR" sz="2400" b="1"/>
              <a:t>R² (</a:t>
            </a:r>
            <a:r>
              <a:rPr lang="fr-FR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coefficient de détermination</a:t>
            </a:r>
            <a:r>
              <a:rPr lang="fr-FR" sz="2400" b="1"/>
              <a:t>)</a:t>
            </a:r>
            <a:endParaRPr lang="fr-FR" sz="2400" b="1"/>
          </a:p>
          <a:p>
            <a:pPr marL="349965" indent="-349965" algn="l">
              <a:buFont typeface="Arial"/>
              <a:buChar char="•"/>
              <a:defRPr/>
            </a:pPr>
            <a:r>
              <a:rPr lang="fr-FR" sz="2400" b="1"/>
              <a:t>RMSE (</a:t>
            </a:r>
            <a:r>
              <a:rPr lang="fr-FR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racine carré de la moyenne des erreurs moyenne</a:t>
            </a:r>
            <a:r>
              <a:rPr lang="fr-FR" sz="2400" b="1"/>
              <a:t>)</a:t>
            </a:r>
            <a:endParaRPr lang="fr-FR" sz="2400" b="1"/>
          </a:p>
          <a:p>
            <a:pPr marL="349965" indent="-349965" algn="l">
              <a:buFont typeface="Arial"/>
              <a:buChar char="•"/>
              <a:defRPr/>
            </a:pPr>
            <a:r>
              <a:rPr lang="fr-FR" sz="2400" b="1"/>
              <a:t>MAE (</a:t>
            </a:r>
            <a:r>
              <a:rPr lang="fr-FR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erreur absolue moyenne</a:t>
            </a:r>
            <a:r>
              <a:rPr lang="fr-FR" sz="2400" b="1"/>
              <a:t>)</a:t>
            </a:r>
            <a:endParaRPr lang="fr-FR" sz="2400" b="1"/>
          </a:p>
          <a:p>
            <a:pPr marL="349965" indent="-349965" algn="l">
              <a:buFont typeface="Arial"/>
              <a:buChar char="•"/>
              <a:defRPr/>
            </a:pPr>
            <a:r>
              <a:rPr lang="fr-FR" sz="2400" b="1"/>
              <a:t>fit_time (temps d’entraînement)</a:t>
            </a:r>
            <a:endParaRPr lang="fr-FR" sz="2400" b="1"/>
          </a:p>
        </p:txBody>
      </p:sp>
      <p:pic>
        <p:nvPicPr>
          <p:cNvPr id="147897592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10595" y="3381690"/>
            <a:ext cx="7370805" cy="33579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35492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Méthodes de prédiction</a:t>
            </a:r>
            <a:endParaRPr sz="3600"/>
          </a:p>
        </p:txBody>
      </p:sp>
      <p:pic>
        <p:nvPicPr>
          <p:cNvPr id="567285267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1861142439" name=""/>
          <p:cNvSpPr txBox="1"/>
          <p:nvPr/>
        </p:nvSpPr>
        <p:spPr bwMode="auto">
          <a:xfrm flipH="0" flipV="0">
            <a:off x="852324" y="2011680"/>
            <a:ext cx="10525506" cy="32556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Les modèles utilisés (1/2)</a:t>
            </a:r>
            <a:endParaRPr sz="2400" b="1"/>
          </a:p>
          <a:p>
            <a:pPr marL="349965" indent="-349965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Dummy Regression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Utilisé comme modèle de base pour la régression.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49965" indent="-349965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Linear Regression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Modèle de régression linéaire standard.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49965" indent="-349965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Ridge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Modèle de régression avec régularisation L2.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49965" indent="-349965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Lasso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Modèle de régression avec régularisation L1.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49965" indent="-349965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ElasticNet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Modèle de régression combinant les régularisations L1 et L2.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82496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Méthodes de prédiction</a:t>
            </a:r>
            <a:endParaRPr sz="3600"/>
          </a:p>
        </p:txBody>
      </p:sp>
      <p:pic>
        <p:nvPicPr>
          <p:cNvPr id="933764198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518888648" name=""/>
          <p:cNvSpPr txBox="1"/>
          <p:nvPr/>
        </p:nvSpPr>
        <p:spPr bwMode="auto">
          <a:xfrm flipH="0" flipV="0">
            <a:off x="852324" y="2011680"/>
            <a:ext cx="10528386" cy="32556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Les modèles utilisés</a:t>
            </a:r>
            <a:r>
              <a:rPr lang="fr-FR" sz="2400" b="1"/>
              <a:t> (2/2)</a:t>
            </a:r>
            <a:endParaRPr sz="2400" b="1"/>
          </a:p>
          <a:p>
            <a:pPr marL="349965" indent="-349965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Support Vector Regression (SVR)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Modèle de régression utilisant les machines à vecteurs de support.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49965" indent="-349965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Random Forest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Modèle de régression utilisant une forêt d'arbres de décision.</a:t>
            </a:r>
            <a:endParaRPr lang="en-US" sz="2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49965" indent="-349965" algn="l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Gradient Boosting Regression 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Modèle de régression utilisant le boosting de gradient.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5374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05175" y="1709734"/>
            <a:ext cx="10381648" cy="2852734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4</a:t>
            </a:r>
            <a:r>
              <a:rPr/>
              <a:t> </a:t>
            </a:r>
            <a:r>
              <a:rPr lang="fr-FR"/>
              <a:t>Présentation des résultats</a:t>
            </a:r>
            <a:br>
              <a:rPr/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058501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8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66655964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6"/>
            <a:ext cx="837045" cy="826959"/>
          </a:xfrm>
          <a:prstGeom prst="rect">
            <a:avLst/>
          </a:prstGeom>
        </p:spPr>
      </p:pic>
      <p:sp>
        <p:nvSpPr>
          <p:cNvPr id="443719670" name=""/>
          <p:cNvSpPr txBox="1"/>
          <p:nvPr/>
        </p:nvSpPr>
        <p:spPr bwMode="auto">
          <a:xfrm flipH="0" flipV="0">
            <a:off x="823702" y="1499256"/>
            <a:ext cx="1057374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Prédictions de la consommation énergétique</a:t>
            </a:r>
            <a:endParaRPr sz="2400" b="1"/>
          </a:p>
        </p:txBody>
      </p:sp>
      <p:graphicFrame>
        <p:nvGraphicFramePr>
          <p:cNvPr id="1550054050" name="Tableau 329830770"/>
          <p:cNvGraphicFramePr>
            <a:graphicFrameLocks xmlns:a="http://schemas.openxmlformats.org/drawingml/2006/main"/>
          </p:cNvGraphicFramePr>
          <p:nvPr/>
        </p:nvGraphicFramePr>
        <p:xfrm>
          <a:off x="774995" y="2282735"/>
          <a:ext cx="10679538" cy="32526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{7DF18680-E054-41AD-8BC1-D1AEF772440D}</a:tableStyleId>
              </a:tblPr>
              <a:tblGrid>
                <a:gridCol w="2815008"/>
                <a:gridCol w="1053096"/>
                <a:gridCol w="1711894"/>
                <a:gridCol w="1259236"/>
                <a:gridCol w="1275867"/>
                <a:gridCol w="1275867"/>
                <a:gridCol w="1275867"/>
              </a:tblGrid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model_name</a:t>
                      </a:r>
                      <a:endParaRPr sz="24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r2_base</a:t>
                      </a:r>
                      <a:endParaRPr sz="24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best_r2_train</a:t>
                      </a:r>
                      <a:endParaRPr sz="24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fit_time</a:t>
                      </a:r>
                      <a:endParaRPr sz="24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r2_test</a:t>
                      </a:r>
                      <a:endParaRPr sz="24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rmse_test</a:t>
                      </a:r>
                      <a:endParaRPr sz="24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mae_test</a:t>
                      </a:r>
                      <a:endParaRPr sz="24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Dummy_regression</a:t>
                      </a:r>
                      <a:endParaRPr sz="20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-00.006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0.0392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-00.013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1.311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1.041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Linear_regression</a:t>
                      </a:r>
                      <a:endParaRPr sz="20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0.753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0.736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0.0898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0.723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0.686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0.514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Ridge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0.753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0.736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0.6021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0.723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0.686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0.514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Lasso</a:t>
                      </a:r>
                      <a:endParaRPr sz="20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0.737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0.6553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0.721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0.688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0.515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ElasticNet</a:t>
                      </a:r>
                      <a:endParaRPr sz="20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0.323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0.737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0.6875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0.722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0.687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0.515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SVR</a:t>
                      </a:r>
                      <a:endParaRPr sz="20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0.776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0.721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10.2387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0.719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0.691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0.512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Random_forest</a:t>
                      </a:r>
                      <a:endParaRPr sz="20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0.958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0.69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87.3391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0.681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0.736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0.544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GradientBoosting_Reg</a:t>
                      </a:r>
                      <a:endParaRPr sz="2000" b="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0.818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0.719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170.3515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0.72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0.689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0.514</a:t>
                      </a:r>
                      <a:endParaRPr sz="200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410821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392535118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pic>
        <p:nvPicPr>
          <p:cNvPr id="80842027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5790" y="2011677"/>
            <a:ext cx="6969929" cy="464662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0277835" name=""/>
          <p:cNvSpPr txBox="1"/>
          <p:nvPr/>
        </p:nvSpPr>
        <p:spPr bwMode="auto">
          <a:xfrm flipH="0" flipV="0">
            <a:off x="823702" y="1499256"/>
            <a:ext cx="10574105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Prédictions de la consommation énergétique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36463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393540736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sp>
        <p:nvSpPr>
          <p:cNvPr id="1861371736" name=""/>
          <p:cNvSpPr txBox="1"/>
          <p:nvPr/>
        </p:nvSpPr>
        <p:spPr bwMode="auto">
          <a:xfrm flipH="0" flipV="0">
            <a:off x="823702" y="1257095"/>
            <a:ext cx="1058670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Courbe d’apprentissage</a:t>
            </a:r>
            <a:endParaRPr sz="2400" b="1"/>
          </a:p>
        </p:txBody>
      </p:sp>
      <p:pic>
        <p:nvPicPr>
          <p:cNvPr id="87341940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010204" y="2582936"/>
            <a:ext cx="6171590" cy="4281083"/>
          </a:xfrm>
          <a:prstGeom prst="rect">
            <a:avLst/>
          </a:prstGeom>
        </p:spPr>
      </p:pic>
      <p:graphicFrame>
        <p:nvGraphicFramePr>
          <p:cNvPr id="861778753" name="Tableau 329830770"/>
          <p:cNvGraphicFramePr>
            <a:graphicFrameLocks xmlns:a="http://schemas.openxmlformats.org/drawingml/2006/main"/>
          </p:cNvGraphicFramePr>
          <p:nvPr/>
        </p:nvGraphicFramePr>
        <p:xfrm>
          <a:off x="2977405" y="1769515"/>
          <a:ext cx="6266342" cy="7326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{7DF18680-E054-41AD-8BC1-D1AEF772440D}</a:tableStyleId>
              </a:tblPr>
              <a:tblGrid>
                <a:gridCol w="1250728"/>
                <a:gridCol w="1250728"/>
                <a:gridCol w="1250728"/>
                <a:gridCol w="1250728"/>
                <a:gridCol w="1250728"/>
              </a:tblGrid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model_name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best_r2_train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r2_test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rmse_test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mae_test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Ridge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</a:t>
                      </a:r>
                      <a:r>
                        <a:rPr lang="fr-FR"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0.723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0.686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0.51</a:t>
                      </a:r>
                      <a:r>
                        <a:rPr lang="fr-FR"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47233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856319747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sp>
        <p:nvSpPr>
          <p:cNvPr id="1884512370" name=""/>
          <p:cNvSpPr txBox="1"/>
          <p:nvPr/>
        </p:nvSpPr>
        <p:spPr bwMode="auto">
          <a:xfrm flipH="0" flipV="0">
            <a:off x="823702" y="1257095"/>
            <a:ext cx="1058382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Importance des variables</a:t>
            </a:r>
            <a:endParaRPr sz="2400" b="1"/>
          </a:p>
        </p:txBody>
      </p:sp>
      <p:pic>
        <p:nvPicPr>
          <p:cNvPr id="7640268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740780" y="1997627"/>
            <a:ext cx="8710439" cy="4328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00402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4114025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sp>
        <p:nvSpPr>
          <p:cNvPr id="918123305" name=""/>
          <p:cNvSpPr txBox="1"/>
          <p:nvPr/>
        </p:nvSpPr>
        <p:spPr bwMode="auto">
          <a:xfrm flipH="0" flipV="0">
            <a:off x="823702" y="1257095"/>
            <a:ext cx="1058382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Importance des variables</a:t>
            </a:r>
            <a:endParaRPr sz="2400" b="1"/>
          </a:p>
        </p:txBody>
      </p:sp>
      <p:pic>
        <p:nvPicPr>
          <p:cNvPr id="13108148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48135" y="2070032"/>
            <a:ext cx="8095726" cy="3759911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871222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917472959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sp>
        <p:nvSpPr>
          <p:cNvPr id="1505544412" name=""/>
          <p:cNvSpPr txBox="1"/>
          <p:nvPr/>
        </p:nvSpPr>
        <p:spPr bwMode="auto">
          <a:xfrm flipH="0" flipV="0">
            <a:off x="823702" y="1257095"/>
            <a:ext cx="1058382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Importance des variables</a:t>
            </a:r>
            <a:endParaRPr sz="2400" b="1"/>
          </a:p>
        </p:txBody>
      </p:sp>
      <p:pic>
        <p:nvPicPr>
          <p:cNvPr id="1207093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70364" y="2330133"/>
            <a:ext cx="8251270" cy="337243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91378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2128398507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sp>
        <p:nvSpPr>
          <p:cNvPr id="1138294709" name=""/>
          <p:cNvSpPr txBox="1"/>
          <p:nvPr/>
        </p:nvSpPr>
        <p:spPr bwMode="auto">
          <a:xfrm flipH="0" flipV="0">
            <a:off x="823702" y="1257095"/>
            <a:ext cx="1060974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Utilisation de EnergyStarScore dans l’entraînement du modèle</a:t>
            </a:r>
            <a:endParaRPr sz="2400" b="1"/>
          </a:p>
        </p:txBody>
      </p:sp>
      <p:pic>
        <p:nvPicPr>
          <p:cNvPr id="4445300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70565" y="2001864"/>
            <a:ext cx="6450869" cy="4474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582569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960419356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sp>
        <p:nvSpPr>
          <p:cNvPr id="109406062" name=""/>
          <p:cNvSpPr txBox="1"/>
          <p:nvPr/>
        </p:nvSpPr>
        <p:spPr bwMode="auto">
          <a:xfrm flipH="0" flipV="0">
            <a:off x="823702" y="1257095"/>
            <a:ext cx="1061946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Comparaison des prédictions</a:t>
            </a:r>
            <a:endParaRPr sz="2400" b="1"/>
          </a:p>
        </p:txBody>
      </p:sp>
      <p:pic>
        <p:nvPicPr>
          <p:cNvPr id="7734374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356400" y="1990800"/>
            <a:ext cx="5400000" cy="43344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13167628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75199" y="1990800"/>
            <a:ext cx="5400000" cy="43343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731546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0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3943790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3" y="5912695"/>
            <a:ext cx="837045" cy="826958"/>
          </a:xfrm>
          <a:prstGeom prst="rect">
            <a:avLst/>
          </a:prstGeom>
        </p:spPr>
      </p:pic>
      <p:sp>
        <p:nvSpPr>
          <p:cNvPr id="2136287655" name=""/>
          <p:cNvSpPr txBox="1"/>
          <p:nvPr/>
        </p:nvSpPr>
        <p:spPr bwMode="auto">
          <a:xfrm flipH="0" flipV="0">
            <a:off x="823702" y="1257095"/>
            <a:ext cx="1063098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1 : Impact de EnergySTARScore sur le modèle</a:t>
            </a:r>
            <a:endParaRPr sz="2400" b="1"/>
          </a:p>
        </p:txBody>
      </p:sp>
      <p:pic>
        <p:nvPicPr>
          <p:cNvPr id="837615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08784" y="1932840"/>
            <a:ext cx="9974430" cy="407672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91904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58558899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415524766" name=""/>
          <p:cNvSpPr txBox="1"/>
          <p:nvPr/>
        </p:nvSpPr>
        <p:spPr bwMode="auto">
          <a:xfrm flipH="0" flipV="0">
            <a:off x="823702" y="1499256"/>
            <a:ext cx="1058094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Prédictions des émissions de CO2</a:t>
            </a:r>
            <a:endParaRPr sz="2400" b="1"/>
          </a:p>
        </p:txBody>
      </p:sp>
      <p:graphicFrame>
        <p:nvGraphicFramePr>
          <p:cNvPr id="1884732419" name="Tableau 329830770"/>
          <p:cNvGraphicFramePr>
            <a:graphicFrameLocks xmlns:a="http://schemas.openxmlformats.org/drawingml/2006/main"/>
          </p:cNvGraphicFramePr>
          <p:nvPr/>
        </p:nvGraphicFramePr>
        <p:xfrm>
          <a:off x="774995" y="2282734"/>
          <a:ext cx="10679537" cy="32526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{7DF18680-E054-41AD-8BC1-D1AEF772440D}</a:tableStyleId>
              </a:tblPr>
              <a:tblGrid>
                <a:gridCol w="2815007"/>
                <a:gridCol w="1053095"/>
                <a:gridCol w="1711893"/>
                <a:gridCol w="1259236"/>
                <a:gridCol w="1275867"/>
                <a:gridCol w="1275867"/>
                <a:gridCol w="1275867"/>
              </a:tblGrid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model_name</a:t>
                      </a:r>
                      <a:endParaRPr sz="2400" b="1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r2_base</a:t>
                      </a:r>
                      <a:endParaRPr sz="2400" b="1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best_r2_train</a:t>
                      </a:r>
                      <a:endParaRPr sz="2400" b="1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fit_time</a:t>
                      </a:r>
                      <a:endParaRPr sz="2400" b="1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r2_test</a:t>
                      </a:r>
                      <a:endParaRPr sz="2400" b="1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rmse_test</a:t>
                      </a:r>
                      <a:endParaRPr sz="2400" b="1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mae_test</a:t>
                      </a:r>
                      <a:endParaRPr sz="2400" b="1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Dummy_regression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-00.004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0.044788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-00.005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1.503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1.18</a:t>
                      </a:r>
                      <a:endParaRPr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Linear_regression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0.675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0.655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0.115889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0.67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0.861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0.688</a:t>
                      </a:r>
                      <a:endParaRPr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Ridge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0.674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0.655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1.164733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0.67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0.861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0.688</a:t>
                      </a:r>
                      <a:endParaRPr sz="24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Lasso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0.654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0.587944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0.67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0.861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0.689</a:t>
                      </a:r>
                      <a:endParaRPr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ElasticNet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0.171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0.654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0.794541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0.67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0.861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0.689</a:t>
                      </a:r>
                      <a:endParaRPr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SVR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0.705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0.634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13.978118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0.669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0.863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0.683</a:t>
                      </a:r>
                      <a:endParaRPr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Random_forest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0.943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0.586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101.347104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0.645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0.894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0.706</a:t>
                      </a:r>
                      <a:endParaRPr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GradientBoosting_Reg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0.758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0.631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151.112170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0.665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0.868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10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0.701</a:t>
                      </a:r>
                      <a:endParaRPr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20157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2008683190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pic>
        <p:nvPicPr>
          <p:cNvPr id="16692360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5788" y="2011675"/>
            <a:ext cx="6969929" cy="464661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738646" name=""/>
          <p:cNvSpPr txBox="1"/>
          <p:nvPr/>
        </p:nvSpPr>
        <p:spPr bwMode="auto">
          <a:xfrm flipH="0" flipV="0">
            <a:off x="823702" y="1499256"/>
            <a:ext cx="1057482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Prédictions de la consommation énergétique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5645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2071790065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1064948072" name=""/>
          <p:cNvSpPr txBox="1"/>
          <p:nvPr/>
        </p:nvSpPr>
        <p:spPr bwMode="auto">
          <a:xfrm flipH="0" flipV="0">
            <a:off x="823702" y="1257094"/>
            <a:ext cx="1058742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Courbe d’apprentissage</a:t>
            </a:r>
            <a:endParaRPr sz="2400" b="1"/>
          </a:p>
        </p:txBody>
      </p:sp>
      <p:graphicFrame>
        <p:nvGraphicFramePr>
          <p:cNvPr id="375323557" name="Tableau 329830770"/>
          <p:cNvGraphicFramePr>
            <a:graphicFrameLocks xmlns:a="http://schemas.openxmlformats.org/drawingml/2006/main"/>
          </p:cNvGraphicFramePr>
          <p:nvPr/>
        </p:nvGraphicFramePr>
        <p:xfrm>
          <a:off x="2977404" y="1769515"/>
          <a:ext cx="6266341" cy="7326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{7DF18680-E054-41AD-8BC1-D1AEF772440D}</a:tableStyleId>
              </a:tblPr>
              <a:tblGrid>
                <a:gridCol w="1250727"/>
                <a:gridCol w="1250727"/>
                <a:gridCol w="1250727"/>
                <a:gridCol w="1250727"/>
                <a:gridCol w="1250727"/>
              </a:tblGrid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model_name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best_r2_train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r2_test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rmse_test</a:t>
                      </a:r>
                      <a:endParaRPr sz="200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mae_test</a:t>
                      </a:r>
                      <a:endParaRPr sz="2000"/>
                    </a:p>
                  </a:txBody>
                  <a:tcPr anchor="ctr"/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Ridge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</a:t>
                      </a:r>
                      <a:r>
                        <a:rPr lang="fr-FR"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645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</a:t>
                      </a:r>
                      <a:r>
                        <a:rPr lang="fr-FR"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</a:t>
                      </a:r>
                      <a:r>
                        <a:rPr lang="fr-FR"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861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</a:t>
                      </a:r>
                      <a:r>
                        <a:rPr lang="fr-FR" sz="1200" b="1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689</a:t>
                      </a:r>
                      <a:endParaRPr sz="2000" b="1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8900326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3085200" y="2502216"/>
            <a:ext cx="6170400" cy="428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44860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33807653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1755631573" name=""/>
          <p:cNvSpPr txBox="1"/>
          <p:nvPr/>
        </p:nvSpPr>
        <p:spPr bwMode="auto">
          <a:xfrm flipH="0" flipV="0">
            <a:off x="823702" y="1257094"/>
            <a:ext cx="1058454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Importance des variables</a:t>
            </a:r>
            <a:endParaRPr sz="2400" b="1"/>
          </a:p>
        </p:txBody>
      </p:sp>
      <p:pic>
        <p:nvPicPr>
          <p:cNvPr id="1424592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739997" y="2150775"/>
            <a:ext cx="8712000" cy="39528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64784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401508159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1886987934" name=""/>
          <p:cNvSpPr txBox="1"/>
          <p:nvPr/>
        </p:nvSpPr>
        <p:spPr bwMode="auto">
          <a:xfrm flipH="0" flipV="0">
            <a:off x="823702" y="1257094"/>
            <a:ext cx="1058454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Importance des variables</a:t>
            </a:r>
            <a:endParaRPr sz="2400" b="1"/>
          </a:p>
        </p:txBody>
      </p:sp>
      <p:pic>
        <p:nvPicPr>
          <p:cNvPr id="19894794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77817" y="1890134"/>
            <a:ext cx="7236357" cy="45027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73105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592419598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127469102" name=""/>
          <p:cNvSpPr txBox="1"/>
          <p:nvPr/>
        </p:nvSpPr>
        <p:spPr bwMode="auto">
          <a:xfrm flipH="0" flipV="0">
            <a:off x="823702" y="1257094"/>
            <a:ext cx="1058454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Importance des variables</a:t>
            </a:r>
            <a:endParaRPr sz="2400" b="1"/>
          </a:p>
        </p:txBody>
      </p:sp>
      <p:pic>
        <p:nvPicPr>
          <p:cNvPr id="12873071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371509" y="2163304"/>
            <a:ext cx="9488933" cy="387828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21849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448480455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447639221" name=""/>
          <p:cNvSpPr txBox="1"/>
          <p:nvPr/>
        </p:nvSpPr>
        <p:spPr bwMode="auto">
          <a:xfrm flipH="0" flipV="0">
            <a:off x="823702" y="1257094"/>
            <a:ext cx="1061046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Utilisation de EnergyStarScore dans l’entraînement du modèle</a:t>
            </a:r>
            <a:endParaRPr sz="2400" b="1"/>
          </a:p>
        </p:txBody>
      </p:sp>
      <p:pic>
        <p:nvPicPr>
          <p:cNvPr id="173478028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12379" y="2050296"/>
            <a:ext cx="6567235" cy="4555532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590083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1833822925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8209748" name=""/>
          <p:cNvSpPr txBox="1"/>
          <p:nvPr/>
        </p:nvSpPr>
        <p:spPr bwMode="auto">
          <a:xfrm flipH="0" flipV="0">
            <a:off x="823702" y="1257094"/>
            <a:ext cx="10620185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Comparaison des prédictions</a:t>
            </a:r>
            <a:endParaRPr sz="2400" b="1"/>
          </a:p>
        </p:txBody>
      </p:sp>
      <p:pic>
        <p:nvPicPr>
          <p:cNvPr id="15176764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61440" y="1992300"/>
            <a:ext cx="5486400" cy="433387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71251663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796048" y="1992300"/>
            <a:ext cx="5486400" cy="433387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514608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1"/>
            <a:ext cx="9668431" cy="1325557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Présentation des résultats</a:t>
            </a:r>
            <a:endParaRPr sz="3600"/>
          </a:p>
        </p:txBody>
      </p:sp>
      <p:pic>
        <p:nvPicPr>
          <p:cNvPr id="549487660" name=""/>
          <p:cNvPicPr>
            <a:picLocks noChangeAspect="1"/>
          </p:cNvPicPr>
          <p:nvPr/>
        </p:nvPicPr>
        <p:blipFill>
          <a:blip r:embed="rId3"/>
          <a:srcRect l="9941" t="21043" r="63527" b="21436"/>
          <a:stretch/>
        </p:blipFill>
        <p:spPr bwMode="auto">
          <a:xfrm flipH="0" flipV="0">
            <a:off x="11258294" y="5912695"/>
            <a:ext cx="837045" cy="826958"/>
          </a:xfrm>
          <a:prstGeom prst="rect">
            <a:avLst/>
          </a:prstGeom>
        </p:spPr>
      </p:pic>
      <p:sp>
        <p:nvSpPr>
          <p:cNvPr id="656622155" name=""/>
          <p:cNvSpPr txBox="1"/>
          <p:nvPr/>
        </p:nvSpPr>
        <p:spPr bwMode="auto">
          <a:xfrm flipH="0" flipV="0">
            <a:off x="823702" y="1257094"/>
            <a:ext cx="10631706" cy="5124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14999"/>
              </a:lnSpc>
              <a:defRPr/>
            </a:pPr>
            <a:r>
              <a:rPr lang="fr-FR" sz="2400" b="1"/>
              <a:t>Résultat 2 : Impact de EnergySTARScore sur le modèle</a:t>
            </a:r>
            <a:endParaRPr sz="2400" b="1"/>
          </a:p>
        </p:txBody>
      </p:sp>
      <p:pic>
        <p:nvPicPr>
          <p:cNvPr id="35099799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513454" y="2264716"/>
            <a:ext cx="9252203" cy="378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449775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/>
              <a:t>5</a:t>
            </a:r>
            <a:r>
              <a:rPr sz="3600"/>
              <a:t> Conclusion</a:t>
            </a:r>
            <a:endParaRPr sz="3600"/>
          </a:p>
        </p:txBody>
      </p:sp>
      <p:sp>
        <p:nvSpPr>
          <p:cNvPr id="1122843627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/>
              <a:t>Le modèle prédit avec précision la consommation énergétique des bâtiments non destinés à l’habitation.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Les prédictions des émissions de CO2 sont moins précises.</a:t>
            </a:r>
            <a:endParaRPr lang="fr-FR"/>
          </a:p>
          <a:p>
            <a:pPr>
              <a:lnSpc>
                <a:spcPct val="150000"/>
              </a:lnSpc>
              <a:defRPr/>
            </a:pPr>
            <a:r>
              <a:rPr lang="fr-FR"/>
              <a:t>Dans les deux cas, ENERGYSTARScore augmentent la précision des prédictions </a:t>
            </a:r>
            <a:r>
              <a:rPr lang="fr-FR" b="1"/>
              <a:t>MAIS</a:t>
            </a:r>
            <a:r>
              <a:rPr lang="fr-FR"/>
              <a:t> la méthode de calcul de l’indicateur ne permet pas de l’utiliser.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38</Slides>
  <Notes>38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Stephens</dc:creator>
  <cp:lastModifiedBy/>
  <cp:revision>31</cp:revision>
  <dcterms:created xsi:type="dcterms:W3CDTF">2018-07-30T23:03:22Z</dcterms:created>
  <dcterms:modified xsi:type="dcterms:W3CDTF">2025-05-14T07:02:18Z</dcterms:modified>
</cp:coreProperties>
</file>