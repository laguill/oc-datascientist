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41.xml" ContentType="application/vnd.openxmlformats-officedocument.presentationml.notes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15.xml" ContentType="application/vnd.openxmlformats-officedocument.presentationml.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s/slide30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Slides/notesSlide32.xml" ContentType="application/vnd.openxmlformats-officedocument.presentationml.notesSlid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3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slides/slide8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notesSlides/notesSlide36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4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08" d="100"/>
          <a:sy n="108" d="100"/>
        </p:scale>
        <p:origin x="544" y="20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 /><Relationship Id="rId48" Type="http://schemas.openxmlformats.org/officeDocument/2006/relationships/tableStyles" Target="tableStyles.xml" /><Relationship Id="rId4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91831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5288462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3696079-EBA5-8C41-96F3-032D52D44482}" type="datetimeFigureOut">
              <a:rPr lang="en-US"/>
              <a:t>3/20/19</a:t>
            </a:fld>
            <a:endParaRPr lang="en-US"/>
          </a:p>
        </p:txBody>
      </p:sp>
      <p:sp>
        <p:nvSpPr>
          <p:cNvPr id="47627654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6037154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5139609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0340302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6C5E9DD-A3A8-294A-AA05-12D080B6188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035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3013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95938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6C5E9DD-A3A8-294A-AA05-12D080B6188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792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4582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072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2A01D2-5ECB-7539-D460-03EF5ADBC1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479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6437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336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20D49C-A572-668E-4C69-F44C60C72A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319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16210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88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6A0A60-C46F-9E13-8572-E908049B11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68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72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4408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0ECEA-A2F1-9B08-C4EE-659D2711B2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85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3170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5255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5E85DB-E61D-FE34-23C0-FDF593C583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4144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0729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102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DD8F18-2DE6-9565-B7CD-881AFBA27E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4027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9583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68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360C92-40C3-47BE-377F-5EB19B8483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380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427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506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C23D83-583E-260E-438E-F1DE1FB3CF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3467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6663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470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7B2930-D2A9-53ED-BD0C-F8AEC3B929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165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26535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774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E40F39-203D-68BE-84F6-2971510559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80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5045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00898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FD7A1E-6153-9356-C64B-706665A5A7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76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03396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623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AEC9D-E868-C875-C7FA-30401A7953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323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52218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99344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F2E225-18C1-8E41-A488-96AB348251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362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9251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979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C55B21-81EB-ADDE-98EF-9A186274B1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716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1246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0163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E70C1D-35EA-037A-59AE-1BCB6E4972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8682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1081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709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EBD545-0F94-920A-FC42-05B142DEC7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8405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2392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540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6AE4C-3E57-2130-4B07-B5A2EBA15D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742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2355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6188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618059-15E2-C3EF-9BE5-F91D392517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4258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19847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4582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B39767-9D81-B898-1F3B-AA165FF103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312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7062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16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8D16F2-3AA0-69EE-85FA-3E791AACFC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043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7795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569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68B3E2-9EC6-DA3F-F6DA-F74C257834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545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0831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491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37568B-A318-5AF8-5584-CB0731360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7473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46287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45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BAFC62-0303-99D1-EDAE-CF272F99CF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054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7864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7567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EFFA5E-EB3A-9F1D-E900-B01FAAA4D1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438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3681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9633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2C810-8E05-4EDF-53F1-191015E6C5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489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0263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63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3518A-BBFB-4BE1-0047-C0735B21C3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1069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99402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2139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98054D-7E46-3CC8-601A-B8E6BB0ED1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914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15216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896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A7468B-1BD3-838C-A509-204955B89E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610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4342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248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9B73A-4CE8-9F46-CF00-224CBF74BF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3186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1670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470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23007F-69E9-1B8E-AD0C-63B4E98F1D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666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4624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4498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6FAB47-6F78-7F19-A944-7B1A207790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8133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9743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313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0203CB-7885-A264-40AF-277B967715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465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451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6727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5D8361-EC77-40C3-63EA-2C454AFBBC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6600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2587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221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57F51C-5D5C-10F9-A3C5-4A7D49B653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020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026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119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0C25CF-ACBE-C331-773C-213617A230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059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0983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014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FDC245-4463-E9CF-FD22-7CDE5742BB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711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32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5788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915AF5-48DF-0284-1D7C-8FB6BB9BF8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570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5940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352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1BBA25-06BD-9AC3-BD24-1C93CC2F65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023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4959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967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F34E01-2E89-D3F1-EBBB-CE57DB3A1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303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18574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10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0110A6-C52B-D28F-E056-5B47B4AD20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003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3921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526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1F2AF3-555E-BC7C-C06B-686981419C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155611" name="Title 1"/>
          <p:cNvSpPr>
            <a:spLocks noGrp="1"/>
          </p:cNvSpPr>
          <p:nvPr>
            <p:ph type="ctrTitle"/>
          </p:nvPr>
        </p:nvSpPr>
        <p:spPr bwMode="auto">
          <a:xfrm>
            <a:off x="1523999" y="1661205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5392316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414088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5966916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C1F99BE7-0409-93F8-0309-044EF2021A17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923085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2410646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4"/>
            <a:ext cx="9668435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470582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ADD994A6-F5A7-682C-C17A-F6B833735B4C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22883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7"/>
            <a:ext cx="9626226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461158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82886" y="4589462"/>
            <a:ext cx="96262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45792590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15D0009-1646-FD38-7AD6-6666D101796D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357180" name="Title 1"/>
          <p:cNvSpPr>
            <a:spLocks noGrp="1"/>
          </p:cNvSpPr>
          <p:nvPr>
            <p:ph type="title"/>
          </p:nvPr>
        </p:nvSpPr>
        <p:spPr bwMode="auto">
          <a:xfrm>
            <a:off x="1114344" y="365124"/>
            <a:ext cx="9963311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2716171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14344" y="1864658"/>
            <a:ext cx="7108051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437815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222396" y="1864658"/>
            <a:ext cx="2855258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0113623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EC62F0AC-2641-79B7-04F7-E1AC3EF851CD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6929607" name="Picture 4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82850086" name="Title Placeholder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Orkney Medium"/>
                <a:ea typeface="Orkney Medium"/>
                <a:cs typeface="Orkney Medium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593164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782" y="1825624"/>
            <a:ext cx="96684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latin typeface="Source Sans Pro"/>
                <a:ea typeface="Source Sans Pro"/>
                <a:cs typeface="Source Sans Pro"/>
              </a:defRPr>
            </a:lvl1pPr>
            <a:lvl2pPr>
              <a:defRPr sz="1400">
                <a:latin typeface="Source Sans Pro"/>
                <a:ea typeface="Source Sans Pro"/>
                <a:cs typeface="Source Sans Pro"/>
              </a:defRPr>
            </a:lvl2pPr>
            <a:lvl3pPr>
              <a:defRPr sz="1100">
                <a:latin typeface="Source Sans Pro"/>
                <a:ea typeface="Source Sans Pro"/>
                <a:cs typeface="Source Sans Pro"/>
              </a:defRPr>
            </a:lvl3pPr>
            <a:lvl4pPr>
              <a:defRPr sz="1000">
                <a:latin typeface="Source Sans Pro"/>
                <a:ea typeface="Source Sans Pro"/>
                <a:cs typeface="Source Sans Pro"/>
              </a:defRPr>
            </a:lvl4pPr>
            <a:lvl5pPr>
              <a:defRPr sz="1000">
                <a:latin typeface="Source Sans Pro"/>
                <a:ea typeface="Source Sans Pro"/>
                <a:cs typeface="Source Sans Pro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45242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5" y="980375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7AB8A59-D064-84AA-BAFA-3F67DA652490}" type="slidenum">
              <a:rPr lang="fr-FR"/>
              <a:t/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 b="0" i="0">
          <a:solidFill>
            <a:srgbClr val="404040"/>
          </a:solidFill>
          <a:latin typeface="Source Sans Pro Ligh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>
          <a:solidFill>
            <a:srgbClr val="404040"/>
          </a:solidFill>
          <a:latin typeface="Source Sans Pro Ligh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>
          <a:solidFill>
            <a:srgbClr val="404040"/>
          </a:solidFill>
          <a:latin typeface="Source Sans Pro Ligh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>
          <a:solidFill>
            <a:srgbClr val="404040"/>
          </a:solidFill>
          <a:latin typeface="Source Sans Pro Ligh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14.xml"/><Relationship Id="rId7" Type="http://schemas.openxmlformats.org/officeDocument/2006/relationships/slide" Target="slide22.xml"/><Relationship Id="rId8" Type="http://schemas.openxmlformats.org/officeDocument/2006/relationships/slide" Target="slide28.xml"/><Relationship Id="rId9" Type="http://schemas.openxmlformats.org/officeDocument/2006/relationships/slide" Target="slide30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oleObject" Target="../embeddings/oleObject1.bin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oleObject" Target="../embeddings/oleObject2.bin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oleObject" Target="../embeddings/oleObject3.bin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oleObject" Target="../embeddings/oleObject4.bin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17.png"/><Relationship Id="rId5" Type="http://schemas.openxmlformats.org/officeDocument/2006/relationships/oleObject" Target="../embeddings/oleObject3.bin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1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oleObject" Target="../embeddings/oleObject5.bin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oleObject" Target="../embeddings/oleObject6.bin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oleObject" Target="../embeddings/oleObject7.bin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oleObject" Target="../embeddings/oleObject8.bin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4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5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8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9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043566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	</a:t>
            </a:r>
            <a:r>
              <a:rPr lang="fr-FR"/>
              <a:t>Projet 6</a:t>
            </a:r>
            <a:endParaRPr lang="en-US"/>
          </a:p>
        </p:txBody>
      </p:sp>
      <p:sp>
        <p:nvSpPr>
          <p:cNvPr id="1259561100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 marL="0" lvl="0" indent="0">
              <a:buNone/>
              <a:defRPr/>
            </a:pPr>
            <a:r>
              <a:rPr lang="fr-FR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Classifier automatiquement des biens de consommations</a:t>
            </a:r>
            <a:br>
              <a:rPr lang="en-US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</a:br>
            <a:r>
              <a:rPr lang="en-US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Guillaume LAFON</a:t>
            </a:r>
            <a:endParaRPr sz="2400"/>
          </a:p>
          <a:p>
            <a:pPr>
              <a:defRPr/>
            </a:pPr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709276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Sommaire</a:t>
            </a:r>
            <a:endParaRPr lang="fr-FR"/>
          </a:p>
        </p:txBody>
      </p:sp>
      <p:sp>
        <p:nvSpPr>
          <p:cNvPr id="188850087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64734" y="1825623"/>
            <a:ext cx="986253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lvl="0">
              <a:lnSpc>
                <a:spcPct val="200000"/>
              </a:lnSpc>
              <a:defRPr/>
            </a:pPr>
            <a:r>
              <a:rPr lang="fr-FR" sz="1700" b="1" u="sng">
                <a:hlinkClick r:id="rId3" action="ppaction://hlinksldjump" tooltip="Diapositive 3"/>
              </a:rPr>
              <a:t>1. Introduction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sz="1700" b="1" u="sng">
                <a:solidFill>
                  <a:schemeClr val="tx1"/>
                </a:solidFill>
                <a:hlinkClick r:id="rId4" action="ppaction://hlinksldjump" tooltip="Diapositive 5"/>
              </a:rPr>
              <a:t>2. Présentation du jeu de données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hlinkClick r:id="rId5" action="ppaction://hlinksldjump" tooltip="Diapositive 7"/>
              </a:rPr>
              <a:t>3 Etude de faisabilité sur les description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hlinkClick r:id="rId6" action="ppaction://hlinksldjump" tooltip="Diapositive 14"/>
              </a:rPr>
              <a:t>4. Etude de faisabilité sur les images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hlinkClick r:id="rId7" action="ppaction://hlinksldjump" tooltip="Diapositive 22"/>
              </a:rPr>
              <a:t>5 Classification supervisée des images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solidFill>
                  <a:schemeClr val="tx1"/>
                </a:solidFill>
                <a:hlinkClick r:id="rId8" action="ppaction://hlinksldjump" tooltip="Diapositive 28"/>
              </a:rPr>
              <a:t>6. Test d’une API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i="0" u="sng" strike="noStrike" cap="none" spc="0">
                <a:latin typeface="Source Sans Pro"/>
                <a:ea typeface="Source Sans Pro"/>
                <a:cs typeface="Source Sans Pro"/>
                <a:hlinkClick r:id="rId9" action="ppaction://hlinksldjump" tooltip="Diapositive 30"/>
              </a:rPr>
              <a:t>7 Conclusion</a:t>
            </a:r>
            <a:endParaRPr sz="1700" b="1" u="sng">
              <a:solidFill>
                <a:schemeClr val="tx1"/>
              </a:solidFill>
            </a:endParaRPr>
          </a:p>
        </p:txBody>
      </p:sp>
      <p:sp>
        <p:nvSpPr>
          <p:cNvPr id="212033721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E1C5022-64DE-6212-1F2B-DF3A7A0C0E87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888500870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942712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6"/>
            <a:ext cx="9626226" cy="285273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Introduction</a:t>
            </a:r>
            <a:br>
              <a:rPr/>
            </a:br>
            <a:endParaRPr/>
          </a:p>
        </p:txBody>
      </p:sp>
      <p:pic>
        <p:nvPicPr>
          <p:cNvPr id="1215805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9254" y="3967840"/>
            <a:ext cx="4013491" cy="2554039"/>
          </a:xfrm>
          <a:prstGeom prst="rect">
            <a:avLst/>
          </a:prstGeom>
        </p:spPr>
      </p:pic>
      <p:sp>
        <p:nvSpPr>
          <p:cNvPr id="111532254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9804DC6-9870-9FB8-3039-899F63A512D1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76797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5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1 Introduction</a:t>
            </a:r>
            <a:endParaRPr/>
          </a:p>
        </p:txBody>
      </p:sp>
      <p:sp>
        <p:nvSpPr>
          <p:cNvPr id="200236126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lvl="0" indent="0">
              <a:spcBef>
                <a:spcPts val="2998"/>
              </a:spcBef>
              <a:buNone/>
              <a:defRPr/>
            </a:pPr>
            <a:r>
              <a:rPr lang="fr-FR" b="1"/>
              <a:t>1.1 Contexte</a:t>
            </a:r>
            <a:endParaRPr lang="fr-FR"/>
          </a:p>
          <a:p>
            <a:pPr marL="0" lvl="0" indent="0">
              <a:buNone/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Place de marché est une plateforme de e-commerce en pleine expansion qui propose une solution de vente sur les marketplaces en ligne.</a:t>
            </a:r>
            <a:endParaRPr lang="fr-FR"/>
          </a:p>
          <a:p>
            <a:pPr marL="0" lvl="0" indent="0">
              <a:lnSpc>
                <a:spcPct val="100000"/>
              </a:lnSpc>
              <a:spcBef>
                <a:spcPts val="2998"/>
              </a:spcBef>
              <a:buNone/>
              <a:defRPr/>
            </a:pPr>
            <a:r>
              <a:rPr lang="fr-FR" b="1"/>
              <a:t>1.2 Mission</a:t>
            </a:r>
            <a:endParaRPr lang="fr-FR" b="1"/>
          </a:p>
          <a:p>
            <a:pPr marL="0" lvl="0" indent="0">
              <a:lnSpc>
                <a:spcPct val="90000"/>
              </a:lnSpc>
              <a:spcBef>
                <a:spcPts val="566"/>
              </a:spcBef>
              <a:buNone/>
              <a:defRPr/>
            </a:pPr>
            <a:r>
              <a:rPr lang="fr-FR" b="0"/>
              <a:t>Formulation de la problématique :</a:t>
            </a:r>
            <a:endParaRPr b="0"/>
          </a:p>
          <a:p>
            <a:pPr>
              <a:defRPr/>
            </a:pPr>
            <a:r>
              <a:rPr lang="fr-FR" sz="1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Automatiser l’attribution des catégories aux produits mis en vente pour améliorer l’expérience utilisateur.</a:t>
            </a:r>
            <a:endParaRPr lang="fr-FR" sz="16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lvl="0">
              <a:defRPr/>
            </a:pPr>
            <a:endParaRPr lang="fr-FR"/>
          </a:p>
          <a:p>
            <a:pPr marL="0" lvl="0" indent="0">
              <a:spcBef>
                <a:spcPts val="2997"/>
              </a:spcBef>
              <a:buNone/>
              <a:defRPr/>
            </a:pPr>
            <a:r>
              <a:rPr lang="fr-FR" sz="17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1.3 Données</a:t>
            </a:r>
            <a:endParaRPr sz="1700"/>
          </a:p>
          <a:p>
            <a:pPr lvl="0"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Jeu de données contenant des informations sur les produits mis en vente (noms, descriptions et images, catégories)</a:t>
            </a:r>
            <a:endParaRPr lang="fr-FR"/>
          </a:p>
        </p:txBody>
      </p:sp>
      <p:pic>
        <p:nvPicPr>
          <p:cNvPr id="5216730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50423" y="584197"/>
            <a:ext cx="1950812" cy="1241425"/>
          </a:xfrm>
          <a:prstGeom prst="rect">
            <a:avLst/>
          </a:prstGeom>
        </p:spPr>
      </p:pic>
      <p:sp>
        <p:nvSpPr>
          <p:cNvPr id="100084269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AA2E8BE-E580-DDD9-503B-2C68CB1BFE61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200236126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031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70" y="1709734"/>
            <a:ext cx="10745656" cy="285273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2 </a:t>
            </a:r>
            <a:r>
              <a:rPr lang="fr-FR" sz="60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du jeu de données</a:t>
            </a:r>
            <a:endParaRPr lang="fr-FR"/>
          </a:p>
        </p:txBody>
      </p:sp>
      <p:pic>
        <p:nvPicPr>
          <p:cNvPr id="17845073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81" y="5941016"/>
            <a:ext cx="1242585" cy="790736"/>
          </a:xfrm>
          <a:prstGeom prst="rect">
            <a:avLst/>
          </a:prstGeom>
        </p:spPr>
      </p:pic>
      <p:sp>
        <p:nvSpPr>
          <p:cNvPr id="58035963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3E3EC634-E74E-A503-A4D7-322A616FDBBD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52481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4" y="365121"/>
            <a:ext cx="1003679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du jeu de données</a:t>
            </a:r>
            <a:endParaRPr sz="3600"/>
          </a:p>
        </p:txBody>
      </p:sp>
      <p:sp>
        <p:nvSpPr>
          <p:cNvPr id="863921468" name=""/>
          <p:cNvSpPr txBox="1"/>
          <p:nvPr/>
        </p:nvSpPr>
        <p:spPr bwMode="auto">
          <a:xfrm flipH="0" flipV="0">
            <a:off x="1077601" y="1872927"/>
            <a:ext cx="9714435" cy="16462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0">
                <a:latin typeface="Source Sans Pro"/>
                <a:ea typeface="Source Sans Pro"/>
                <a:cs typeface="Source Sans Pro"/>
              </a:rPr>
              <a:t>1050 produits</a:t>
            </a:r>
            <a:endParaRPr sz="1700" b="0">
              <a:latin typeface="Source Sans Pro"/>
              <a:cs typeface="Source Sans Pro"/>
            </a:endParaRPr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0">
                <a:latin typeface="Source Sans Pro"/>
                <a:ea typeface="Source Sans Pro"/>
                <a:cs typeface="Source Sans Pro"/>
              </a:rPr>
              <a:t>Aucune données manquantes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0">
                <a:latin typeface="Source Sans Pro"/>
                <a:ea typeface="Source Sans Pro"/>
                <a:cs typeface="Source Sans Pro"/>
              </a:rPr>
              <a:t>7 catégories de produits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0">
                <a:latin typeface="Source Sans Pro"/>
                <a:ea typeface="Source Sans Pro"/>
                <a:cs typeface="Source Sans Pro"/>
              </a:rPr>
              <a:t>150 produits par catégorie</a:t>
            </a:r>
            <a:endParaRPr lang="fr-FR" sz="1700" b="0">
              <a:latin typeface="Source Sans Pro"/>
              <a:cs typeface="Source Sans Pro"/>
            </a:endParaRPr>
          </a:p>
        </p:txBody>
      </p:sp>
      <p:pic>
        <p:nvPicPr>
          <p:cNvPr id="2213658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80" y="5941015"/>
            <a:ext cx="1242585" cy="790735"/>
          </a:xfrm>
          <a:prstGeom prst="rect">
            <a:avLst/>
          </a:prstGeom>
        </p:spPr>
      </p:pic>
      <p:pic>
        <p:nvPicPr>
          <p:cNvPr id="49499428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429880" y="3519207"/>
            <a:ext cx="3941655" cy="307487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207000673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751413" y="3545380"/>
            <a:ext cx="4968247" cy="304869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8551370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76CEDF0F-7C3C-79D0-A050-BF5BC170749D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52760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69" y="1709733"/>
            <a:ext cx="10745655" cy="285273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3 </a:t>
            </a:r>
            <a:r>
              <a:rPr lang="fr-FR"/>
              <a:t>Etude de faisabilité sur les descriptions</a:t>
            </a:r>
            <a:endParaRPr lang="fr-FR"/>
          </a:p>
        </p:txBody>
      </p:sp>
      <p:pic>
        <p:nvPicPr>
          <p:cNvPr id="6898390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80" y="5941015"/>
            <a:ext cx="1242585" cy="790735"/>
          </a:xfrm>
          <a:prstGeom prst="rect">
            <a:avLst/>
          </a:prstGeom>
        </p:spPr>
      </p:pic>
      <p:sp>
        <p:nvSpPr>
          <p:cNvPr id="182946496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1B1C71A3-5EF4-88CC-AA7C-D65195906E2A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035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descriptions</a:t>
            </a:r>
            <a:endParaRPr lang="fr-FR" sz="3600"/>
          </a:p>
        </p:txBody>
      </p:sp>
      <p:sp>
        <p:nvSpPr>
          <p:cNvPr id="756856492" name=""/>
          <p:cNvSpPr txBox="1"/>
          <p:nvPr/>
        </p:nvSpPr>
        <p:spPr bwMode="auto">
          <a:xfrm flipH="0" flipV="0">
            <a:off x="1077600" y="1872927"/>
            <a:ext cx="9844754" cy="2423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Prétraitement des descriptions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Nettoyage : </a:t>
            </a:r>
            <a:r>
              <a:rPr lang="fr-FR" sz="1700" b="0">
                <a:latin typeface="Source Sans Pro"/>
                <a:ea typeface="Source Sans Pro"/>
                <a:cs typeface="Source Sans Pro"/>
              </a:rPr>
              <a:t>Mise en minuscule, suppression de la ponctuation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Tokenisation : </a:t>
            </a:r>
            <a:r>
              <a:rPr lang="fr-FR" sz="1700" b="0">
                <a:latin typeface="Source Sans Pro"/>
                <a:ea typeface="Source Sans Pro"/>
                <a:cs typeface="Source Sans Pro"/>
              </a:rPr>
              <a:t>Segmentation des mots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StopWords : </a:t>
            </a:r>
            <a:r>
              <a:rPr lang="fr-FR" sz="1700" b="0">
                <a:latin typeface="Source Sans Pro"/>
                <a:ea typeface="Source Sans Pro"/>
                <a:cs typeface="Source Sans Pro"/>
              </a:rPr>
              <a:t>Suppression des mots de liaisons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Lemmatisation : </a:t>
            </a:r>
            <a:r>
              <a:rPr lang="fr-FR" sz="1700" b="0">
                <a:latin typeface="Source Sans Pro"/>
                <a:ea typeface="Source Sans Pro"/>
                <a:cs typeface="Source Sans Pro"/>
              </a:rPr>
              <a:t>Recherche des lemmes/radicaux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Suppression des mots présents dans les 7 catégories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52122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80" y="5941015"/>
            <a:ext cx="1242585" cy="790735"/>
          </a:xfrm>
          <a:prstGeom prst="rect">
            <a:avLst/>
          </a:prstGeom>
        </p:spPr>
      </p:pic>
      <p:sp>
        <p:nvSpPr>
          <p:cNvPr id="25840772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4D8BED23-1AB2-C048-B9DD-B9A51D382E5F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61991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descriptions</a:t>
            </a:r>
            <a:endParaRPr lang="fr-FR" sz="3600"/>
          </a:p>
        </p:txBody>
      </p:sp>
      <p:sp>
        <p:nvSpPr>
          <p:cNvPr id="1337571898" name=""/>
          <p:cNvSpPr txBox="1"/>
          <p:nvPr/>
        </p:nvSpPr>
        <p:spPr bwMode="auto">
          <a:xfrm flipH="0" flipV="0">
            <a:off x="1077600" y="1872927"/>
            <a:ext cx="9821714" cy="4804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Prétraitement des descriptions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5715057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113638379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A2B9E957-8D92-6AD7-E77A-636388AB49D4}" type="slidenum">
              <a:rPr lang="fr-FR"/>
              <a:t/>
            </a:fld>
            <a:endParaRPr/>
          </a:p>
        </p:txBody>
      </p:sp>
      <p:graphicFrame>
        <p:nvGraphicFramePr>
          <p:cNvPr id="130772910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926872" y="2272626"/>
          <a:ext cx="6948000" cy="4536000"/>
        </p:xfrm>
        <a:graphic>
          <a:graphicData uri="http://schemas.openxmlformats.org/presentationml/2006/ole">
            <p:oleObj name="oleObj" r:id="rId5" imgW="6943725" imgH="4533900" progId="asc.{DB38923B-A8C0-4DE9-8AEE-A61BB5C901A5}">
              <p:embed/>
              <p:pic>
                <p:nvPicPr>
                  <p:cNvPr id="130772910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926872" y="2272626"/>
                    <a:ext cx="6948000" cy="4536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470210347" name=""/>
          <p:cNvSpPr txBox="1"/>
          <p:nvPr/>
        </p:nvSpPr>
        <p:spPr bwMode="auto">
          <a:xfrm rot="0" flipH="0" flipV="0">
            <a:off x="8590296" y="3874575"/>
            <a:ext cx="3143826" cy="857895"/>
          </a:xfrm>
          <a:prstGeom prst="rect">
            <a:avLst/>
          </a:prstGeom>
          <a:noFill/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latin typeface="Source Sans Pro"/>
                <a:ea typeface="Source Sans Pro"/>
                <a:cs typeface="Source Sans Pro"/>
              </a:rPr>
              <a:t>Réduction du nombre de mots de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87644</a:t>
            </a:r>
            <a:r>
              <a:rPr>
                <a:latin typeface="Source Sans Pro"/>
                <a:ea typeface="Source Sans Pro"/>
                <a:cs typeface="Source Sans Pro"/>
              </a:rPr>
              <a:t> à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57219</a:t>
            </a:r>
            <a:r>
              <a:rPr>
                <a:latin typeface="Source Sans Pro"/>
                <a:ea typeface="Source Sans Pro"/>
                <a:cs typeface="Source Sans Pro"/>
              </a:rPr>
              <a:t> </a:t>
            </a:r>
            <a:r>
              <a:rPr b="1">
                <a:latin typeface="Source Sans Pro"/>
                <a:ea typeface="Source Sans Pro"/>
                <a:cs typeface="Source Sans Pro"/>
              </a:rPr>
              <a:t>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"/>
                        </m:rPr>
                        <a:rPr lang="fr-FR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f>
                        <m:fPr>
                          <m:ctrlPr>
                            <a:rPr lang="fr-FR" sz="24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b"/>
                            </m:rPr>
                            <a:rPr lang="fr-FR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b"/>
                            </m:rPr>
                            <a:rPr lang="fr-FR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b="1">
                <a:latin typeface="Source Sans Pro"/>
                <a:ea typeface="Source Sans Pro"/>
                <a:cs typeface="Source Sans Pro"/>
              </a:rPr>
              <a:t>)</a:t>
            </a:r>
            <a:endParaRPr>
              <a:latin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99161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descriptions</a:t>
            </a:r>
            <a:endParaRPr lang="fr-FR" sz="3600"/>
          </a:p>
        </p:txBody>
      </p:sp>
      <p:sp>
        <p:nvSpPr>
          <p:cNvPr id="723330416" name=""/>
          <p:cNvSpPr txBox="1"/>
          <p:nvPr/>
        </p:nvSpPr>
        <p:spPr bwMode="auto">
          <a:xfrm flipH="0" flipV="0">
            <a:off x="1077601" y="1872927"/>
            <a:ext cx="982171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Prétraitement des descriptions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8642956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80" y="5941015"/>
            <a:ext cx="1242585" cy="790735"/>
          </a:xfrm>
          <a:prstGeom prst="rect">
            <a:avLst/>
          </a:prstGeom>
        </p:spPr>
      </p:pic>
      <p:pic>
        <p:nvPicPr>
          <p:cNvPr id="33412594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483448" y="2182433"/>
            <a:ext cx="9010023" cy="4501209"/>
          </a:xfrm>
          <a:prstGeom prst="rect">
            <a:avLst/>
          </a:prstGeom>
        </p:spPr>
      </p:pic>
      <p:sp>
        <p:nvSpPr>
          <p:cNvPr id="150601548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4257943-5F3B-3958-A97C-D2AA50478215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8731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descriptions</a:t>
            </a:r>
            <a:endParaRPr lang="fr-FR" sz="3600"/>
          </a:p>
        </p:txBody>
      </p:sp>
      <p:pic>
        <p:nvPicPr>
          <p:cNvPr id="7988859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181431843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28D76171-26B3-C0DE-2F4C-DA1E1E1110B4}" type="slidenum">
              <a:rPr lang="fr-FR"/>
              <a:t/>
            </a:fld>
            <a:endParaRPr/>
          </a:p>
        </p:txBody>
      </p:sp>
      <p:graphicFrame>
        <p:nvGraphicFramePr>
          <p:cNvPr id="172292118" name=""/>
          <p:cNvGraphicFramePr>
            <a:graphicFrameLocks xmlns:a="http://schemas.openxmlformats.org/drawingml/2006/main" noChangeAspect="1"/>
          </p:cNvGraphicFramePr>
          <p:nvPr/>
        </p:nvGraphicFramePr>
        <p:xfrm>
          <a:off x="2681338" y="1594677"/>
          <a:ext cx="6552000" cy="4932000"/>
        </p:xfrm>
        <a:graphic>
          <a:graphicData uri="http://schemas.openxmlformats.org/presentationml/2006/ole">
            <p:oleObj name="oleObj" r:id="rId5" imgW="6543675" imgH="4924425" progId="asc.{DB38923B-A8C0-4DE9-8AEE-A61BB5C901A5}">
              <p:embed/>
              <p:pic>
                <p:nvPicPr>
                  <p:cNvPr id="172292118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2681338" y="1594677"/>
                    <a:ext cx="6552000" cy="4932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88697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descriptions</a:t>
            </a:r>
            <a:endParaRPr lang="fr-FR" sz="3600"/>
          </a:p>
        </p:txBody>
      </p:sp>
      <p:pic>
        <p:nvPicPr>
          <p:cNvPr id="17978337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72113190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DB91223E-EB7D-0ACE-16DB-C2156CE73A4C}" type="slidenum">
              <a:rPr lang="fr-FR"/>
              <a:t/>
            </a:fld>
            <a:endParaRPr/>
          </a:p>
        </p:txBody>
      </p:sp>
      <p:graphicFrame>
        <p:nvGraphicFramePr>
          <p:cNvPr id="617575636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2857093" y="1345499"/>
          <a:ext cx="6604982" cy="5404077"/>
        </p:xfrm>
        <a:graphic>
          <a:graphicData uri="http://schemas.openxmlformats.org/presentationml/2006/ole">
            <p:oleObj name="oleObj" r:id="rId5" imgW="7915275" imgH="6477000" progId="asc.{DB38923B-A8C0-4DE9-8AEE-A61BB5C901A5}">
              <p:embed/>
              <p:pic>
                <p:nvPicPr>
                  <p:cNvPr id="617575636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2857093" y="1345499"/>
                    <a:ext cx="6604982" cy="540407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2730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descriptions</a:t>
            </a:r>
            <a:endParaRPr lang="fr-FR" sz="3600"/>
          </a:p>
        </p:txBody>
      </p:sp>
      <p:sp>
        <p:nvSpPr>
          <p:cNvPr id="170028283" name=""/>
          <p:cNvSpPr txBox="1"/>
          <p:nvPr/>
        </p:nvSpPr>
        <p:spPr bwMode="auto">
          <a:xfrm flipH="0" flipV="0">
            <a:off x="1077600" y="1872927"/>
            <a:ext cx="9902354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9539938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1813733194" name=""/>
          <p:cNvSpPr txBox="1"/>
          <p:nvPr/>
        </p:nvSpPr>
        <p:spPr bwMode="auto">
          <a:xfrm flipH="0" flipV="0">
            <a:off x="1077599" y="1872927"/>
            <a:ext cx="9832512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Analyse des résultats : TF-IDF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16907891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1132417" y="2305454"/>
            <a:ext cx="9720000" cy="382680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27771210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8061FC59-EC8C-6390-3A1C-27E376874D96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9691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descriptions</a:t>
            </a:r>
            <a:endParaRPr lang="fr-FR" sz="3600"/>
          </a:p>
        </p:txBody>
      </p:sp>
      <p:sp>
        <p:nvSpPr>
          <p:cNvPr id="1614442772" name=""/>
          <p:cNvSpPr txBox="1"/>
          <p:nvPr/>
        </p:nvSpPr>
        <p:spPr bwMode="auto">
          <a:xfrm flipH="0" flipV="0">
            <a:off x="1077601" y="1872927"/>
            <a:ext cx="990235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053500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80" y="5941015"/>
            <a:ext cx="1242585" cy="790735"/>
          </a:xfrm>
          <a:prstGeom prst="rect">
            <a:avLst/>
          </a:prstGeom>
        </p:spPr>
      </p:pic>
      <p:sp>
        <p:nvSpPr>
          <p:cNvPr id="1355370316" name=""/>
          <p:cNvSpPr txBox="1"/>
          <p:nvPr/>
        </p:nvSpPr>
        <p:spPr bwMode="auto">
          <a:xfrm flipH="0" flipV="0">
            <a:off x="1077601" y="1872927"/>
            <a:ext cx="9829634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Analyse des résultats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206169471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535828" y="2234679"/>
            <a:ext cx="8913177" cy="449706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251190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388F262B-E760-36D5-950B-89638C077A22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00917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descriptions</a:t>
            </a:r>
            <a:endParaRPr lang="fr-FR" sz="3600"/>
          </a:p>
        </p:txBody>
      </p:sp>
      <p:sp>
        <p:nvSpPr>
          <p:cNvPr id="1584223038" name=""/>
          <p:cNvSpPr txBox="1"/>
          <p:nvPr/>
        </p:nvSpPr>
        <p:spPr bwMode="auto">
          <a:xfrm flipH="0" flipV="0">
            <a:off x="1077600" y="1872927"/>
            <a:ext cx="9902354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578375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588869329" name=""/>
          <p:cNvSpPr txBox="1"/>
          <p:nvPr/>
        </p:nvSpPr>
        <p:spPr bwMode="auto">
          <a:xfrm flipH="0" flipV="0">
            <a:off x="1077599" y="1872927"/>
            <a:ext cx="9832152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Analyse des résultats : MPNET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1925151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1080379" y="2225247"/>
            <a:ext cx="9720000" cy="382680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986552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C5F46D2-B08E-B281-A238-083353355B94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12447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69" y="1709733"/>
            <a:ext cx="10745655" cy="285273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4 </a:t>
            </a:r>
            <a:r>
              <a:rPr lang="fr-FR"/>
              <a:t>Etude de faisabilité sur les images</a:t>
            </a:r>
            <a:endParaRPr lang="fr-FR"/>
          </a:p>
        </p:txBody>
      </p:sp>
      <p:pic>
        <p:nvPicPr>
          <p:cNvPr id="17723011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80" y="5941015"/>
            <a:ext cx="1242585" cy="790735"/>
          </a:xfrm>
          <a:prstGeom prst="rect">
            <a:avLst/>
          </a:prstGeom>
        </p:spPr>
      </p:pic>
      <p:sp>
        <p:nvSpPr>
          <p:cNvPr id="168473651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169717E-2C97-08AF-2C64-231F2062CEC1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81945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images</a:t>
            </a:r>
            <a:endParaRPr lang="fr-FR" sz="3600"/>
          </a:p>
        </p:txBody>
      </p:sp>
      <p:sp>
        <p:nvSpPr>
          <p:cNvPr id="97331698" name=""/>
          <p:cNvSpPr txBox="1"/>
          <p:nvPr/>
        </p:nvSpPr>
        <p:spPr bwMode="auto">
          <a:xfrm flipH="0" flipV="0">
            <a:off x="1077600" y="1872927"/>
            <a:ext cx="9902354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2474546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405138517" name=""/>
          <p:cNvSpPr txBox="1"/>
          <p:nvPr/>
        </p:nvSpPr>
        <p:spPr bwMode="auto">
          <a:xfrm flipH="0" flipV="0">
            <a:off x="1077600" y="1872927"/>
            <a:ext cx="10009633" cy="2697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Prétraitement des images</a:t>
            </a:r>
            <a:endParaRPr sz="1700" b="1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Taille : </a:t>
            </a:r>
            <a:r>
              <a:rPr lang="fr-FR" sz="17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Standardisation des images (224x224)</a:t>
            </a:r>
            <a:endParaRPr sz="1700" b="0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Niveau de gris : </a:t>
            </a:r>
            <a:r>
              <a:rPr lang="fr-FR" sz="17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Réduction des dimensions en supprimant les couleurs</a:t>
            </a:r>
            <a:endParaRPr sz="1700" b="1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Exposition : </a:t>
            </a:r>
            <a:r>
              <a:rPr lang="fr-FR" sz="17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Ajustement pour améliorer la visibilité</a:t>
            </a:r>
            <a:endParaRPr sz="1700" b="0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Contraste : </a:t>
            </a:r>
            <a:r>
              <a:rPr lang="fr-FR" sz="17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Augmentation de la différence de la luminosité</a:t>
            </a:r>
            <a:endParaRPr sz="17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Correction du bruit : </a:t>
            </a:r>
            <a:r>
              <a:rPr lang="fr-FR" sz="17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Réduction des distorsions visuelles</a:t>
            </a:r>
            <a:endParaRPr sz="1700" b="0">
              <a:latin typeface="Source Sans Pro"/>
              <a:ea typeface="Source Sans Pro"/>
              <a:cs typeface="Source Sans Pro"/>
            </a:endParaRPr>
          </a:p>
          <a:p>
            <a:pPr>
              <a:defRPr/>
            </a:pPr>
            <a:endParaRPr/>
          </a:p>
        </p:txBody>
      </p:sp>
      <p:sp>
        <p:nvSpPr>
          <p:cNvPr id="123026780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D4DD297D-428F-C251-9A9C-6C865188267A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51828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images</a:t>
            </a:r>
            <a:endParaRPr lang="fr-FR" sz="3600"/>
          </a:p>
        </p:txBody>
      </p:sp>
      <p:sp>
        <p:nvSpPr>
          <p:cNvPr id="305973538" name=""/>
          <p:cNvSpPr txBox="1"/>
          <p:nvPr/>
        </p:nvSpPr>
        <p:spPr bwMode="auto">
          <a:xfrm flipH="0" flipV="0">
            <a:off x="1077600" y="1872927"/>
            <a:ext cx="9902354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2119826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585818926" name=""/>
          <p:cNvSpPr txBox="1"/>
          <p:nvPr/>
        </p:nvSpPr>
        <p:spPr bwMode="auto">
          <a:xfrm flipH="0" flipV="0">
            <a:off x="1077599" y="1872927"/>
            <a:ext cx="10015032" cy="7547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Prétraitement des images : Originale</a:t>
            </a:r>
            <a:endParaRPr sz="1700" b="1">
              <a:latin typeface="Source Sans Pro"/>
              <a:ea typeface="Source Sans Pro"/>
              <a:cs typeface="Source Sans Pro"/>
            </a:endParaRPr>
          </a:p>
          <a:p>
            <a:pPr>
              <a:defRPr/>
            </a:pPr>
            <a:endParaRPr/>
          </a:p>
        </p:txBody>
      </p:sp>
      <p:pic>
        <p:nvPicPr>
          <p:cNvPr id="111733051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157775" y="2416448"/>
            <a:ext cx="7876447" cy="4044125"/>
          </a:xfrm>
          <a:prstGeom prst="rect">
            <a:avLst/>
          </a:prstGeom>
        </p:spPr>
      </p:pic>
      <p:sp>
        <p:nvSpPr>
          <p:cNvPr id="182096336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8F07F6A5-1AD7-50E7-D406-B4381DC15E28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02433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images</a:t>
            </a:r>
            <a:endParaRPr lang="fr-FR" sz="3600"/>
          </a:p>
        </p:txBody>
      </p:sp>
      <p:sp>
        <p:nvSpPr>
          <p:cNvPr id="740734434" name=""/>
          <p:cNvSpPr txBox="1"/>
          <p:nvPr/>
        </p:nvSpPr>
        <p:spPr bwMode="auto">
          <a:xfrm flipH="0" flipV="0">
            <a:off x="1077600" y="1872927"/>
            <a:ext cx="9902354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2868080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1185149140" name=""/>
          <p:cNvSpPr txBox="1"/>
          <p:nvPr/>
        </p:nvSpPr>
        <p:spPr bwMode="auto">
          <a:xfrm flipH="0" flipV="0">
            <a:off x="1077599" y="1872927"/>
            <a:ext cx="10017192" cy="7547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Prétraitement des images : Filtre gris</a:t>
            </a:r>
            <a:endParaRPr sz="1700" b="1">
              <a:latin typeface="Source Sans Pro"/>
              <a:ea typeface="Source Sans Pro"/>
              <a:cs typeface="Source Sans Pro"/>
            </a:endParaRPr>
          </a:p>
          <a:p>
            <a:pPr>
              <a:defRPr/>
            </a:pPr>
            <a:endParaRPr/>
          </a:p>
        </p:txBody>
      </p:sp>
      <p:pic>
        <p:nvPicPr>
          <p:cNvPr id="847581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2157599" y="2427518"/>
            <a:ext cx="7876800" cy="4014000"/>
          </a:xfrm>
          <a:prstGeom prst="rect">
            <a:avLst/>
          </a:prstGeom>
        </p:spPr>
      </p:pic>
      <p:sp>
        <p:nvSpPr>
          <p:cNvPr id="150482178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75FC05B1-A01D-4977-DA1A-1EEE12CBEA89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395267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images</a:t>
            </a:r>
            <a:endParaRPr lang="fr-FR" sz="3600"/>
          </a:p>
        </p:txBody>
      </p:sp>
      <p:sp>
        <p:nvSpPr>
          <p:cNvPr id="370040209" name=""/>
          <p:cNvSpPr txBox="1"/>
          <p:nvPr/>
        </p:nvSpPr>
        <p:spPr bwMode="auto">
          <a:xfrm flipH="0" flipV="0">
            <a:off x="1077599" y="1872927"/>
            <a:ext cx="9902353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507726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8" y="5941013"/>
            <a:ext cx="1242585" cy="790733"/>
          </a:xfrm>
          <a:prstGeom prst="rect">
            <a:avLst/>
          </a:prstGeom>
        </p:spPr>
      </p:pic>
      <p:sp>
        <p:nvSpPr>
          <p:cNvPr id="877819265" name=""/>
          <p:cNvSpPr txBox="1"/>
          <p:nvPr/>
        </p:nvSpPr>
        <p:spPr bwMode="auto">
          <a:xfrm flipH="0" flipV="0">
            <a:off x="1077599" y="1872927"/>
            <a:ext cx="10016472" cy="7547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Prétraitement des images</a:t>
            </a:r>
            <a:r>
              <a:rPr sz="1700" b="1">
                <a:latin typeface="Source Sans Pro"/>
                <a:ea typeface="Source Sans Pro"/>
                <a:cs typeface="Source Sans Pro"/>
              </a:rPr>
              <a:t> : Filtre flou</a:t>
            </a:r>
            <a:endParaRPr sz="1700" b="1">
              <a:latin typeface="Source Sans Pro"/>
              <a:ea typeface="Source Sans Pro"/>
              <a:cs typeface="Source Sans Pro"/>
            </a:endParaRPr>
          </a:p>
          <a:p>
            <a:pPr>
              <a:defRPr/>
            </a:pPr>
            <a:endParaRPr/>
          </a:p>
        </p:txBody>
      </p:sp>
      <p:sp>
        <p:nvSpPr>
          <p:cNvPr id="175402685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A72FA7B-F62C-2418-CAAA-6A0008964E41}" type="slidenum">
              <a:rPr lang="fr-FR"/>
              <a:t/>
            </a:fld>
            <a:endParaRPr/>
          </a:p>
        </p:txBody>
      </p:sp>
      <p:pic>
        <p:nvPicPr>
          <p:cNvPr id="1875844454" name="Image 187584445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2157599" y="2354400"/>
            <a:ext cx="7876800" cy="403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94255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images</a:t>
            </a:r>
            <a:endParaRPr lang="fr-FR" sz="3600"/>
          </a:p>
        </p:txBody>
      </p:sp>
      <p:pic>
        <p:nvPicPr>
          <p:cNvPr id="15346636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15084090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E7D8916-6A58-CAED-970D-313AEF5B64E3}" type="slidenum">
              <a:rPr lang="fr-FR"/>
              <a:t/>
            </a:fld>
            <a:endParaRPr/>
          </a:p>
        </p:txBody>
      </p:sp>
      <p:graphicFrame>
        <p:nvGraphicFramePr>
          <p:cNvPr id="1017974778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3485999" y="1533686"/>
          <a:ext cx="5220000" cy="5040000"/>
        </p:xfrm>
        <a:graphic>
          <a:graphicData uri="http://schemas.openxmlformats.org/presentationml/2006/ole">
            <p:oleObj name="oleObj" r:id="rId5" imgW="5219700" imgH="5038725" progId="asc.{DB38923B-A8C0-4DE9-8AEE-A61BB5C901A5}">
              <p:embed/>
              <p:pic>
                <p:nvPicPr>
                  <p:cNvPr id="1017974778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3485999" y="1533686"/>
                    <a:ext cx="5220000" cy="5040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26383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images</a:t>
            </a:r>
            <a:endParaRPr lang="fr-FR" sz="3600"/>
          </a:p>
        </p:txBody>
      </p:sp>
      <p:pic>
        <p:nvPicPr>
          <p:cNvPr id="8891958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193811084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C4F33908-0CD5-9246-E0F9-CE9155A9CB77}" type="slidenum">
              <a:rPr lang="fr-FR"/>
              <a:t/>
            </a:fld>
            <a:endParaRPr/>
          </a:p>
        </p:txBody>
      </p:sp>
      <p:graphicFrame>
        <p:nvGraphicFramePr>
          <p:cNvPr id="1694257992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2857093" y="1345499"/>
          <a:ext cx="6604982" cy="5404077"/>
        </p:xfrm>
        <a:graphic>
          <a:graphicData uri="http://schemas.openxmlformats.org/presentationml/2006/ole">
            <p:oleObj name="oleObj" r:id="rId5" imgW="7915275" imgH="6477000" progId="asc.{DB38923B-A8C0-4DE9-8AEE-A61BB5C901A5}">
              <p:embed/>
              <p:pic>
                <p:nvPicPr>
                  <p:cNvPr id="1694257992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2857093" y="1345499"/>
                    <a:ext cx="6604982" cy="540407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22043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images</a:t>
            </a:r>
            <a:endParaRPr lang="fr-FR" sz="3600"/>
          </a:p>
        </p:txBody>
      </p:sp>
      <p:sp>
        <p:nvSpPr>
          <p:cNvPr id="1270767513" name=""/>
          <p:cNvSpPr txBox="1"/>
          <p:nvPr/>
        </p:nvSpPr>
        <p:spPr bwMode="auto">
          <a:xfrm flipH="0" flipV="0">
            <a:off x="1077600" y="1872927"/>
            <a:ext cx="9902354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7664906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1915953651" name=""/>
          <p:cNvSpPr txBox="1"/>
          <p:nvPr/>
        </p:nvSpPr>
        <p:spPr bwMode="auto">
          <a:xfrm flipH="0" flipV="0">
            <a:off x="1077600" y="1872927"/>
            <a:ext cx="9832513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Analyse des résultats</a:t>
            </a:r>
            <a:r>
              <a:rPr lang="fr-FR" sz="1700" b="1">
                <a:latin typeface="Source Sans Pro"/>
                <a:ea typeface="Source Sans Pro"/>
                <a:cs typeface="Source Sans Pro"/>
              </a:rPr>
              <a:t> : SIFT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74348150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36084" y="2297063"/>
            <a:ext cx="10264295" cy="403931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19349022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2C309220-A200-C263-C1E2-B193303383CF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2531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images</a:t>
            </a:r>
            <a:endParaRPr lang="fr-FR" sz="3600"/>
          </a:p>
        </p:txBody>
      </p:sp>
      <p:sp>
        <p:nvSpPr>
          <p:cNvPr id="337342956" name=""/>
          <p:cNvSpPr txBox="1"/>
          <p:nvPr/>
        </p:nvSpPr>
        <p:spPr bwMode="auto">
          <a:xfrm flipH="0" flipV="0">
            <a:off x="1077600" y="1872927"/>
            <a:ext cx="9902354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8304577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95516272" name=""/>
          <p:cNvSpPr txBox="1"/>
          <p:nvPr/>
        </p:nvSpPr>
        <p:spPr bwMode="auto">
          <a:xfrm flipH="0" flipV="0">
            <a:off x="1077600" y="1872927"/>
            <a:ext cx="9839353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Analyse des résultats</a:t>
            </a:r>
            <a:r>
              <a:rPr lang="fr-FR" sz="1700" b="1">
                <a:latin typeface="Source Sans Pro"/>
                <a:ea typeface="Source Sans Pro"/>
                <a:cs typeface="Source Sans Pro"/>
              </a:rPr>
              <a:t> : CNN Transfer Learning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89598659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536779" y="2293582"/>
            <a:ext cx="10263600" cy="404280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4524727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2BD6BE3C-873F-C830-1B53-C861945AC538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0639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images</a:t>
            </a:r>
            <a:endParaRPr lang="fr-FR" sz="3600"/>
          </a:p>
        </p:txBody>
      </p:sp>
      <p:sp>
        <p:nvSpPr>
          <p:cNvPr id="116638865" name=""/>
          <p:cNvSpPr txBox="1"/>
          <p:nvPr/>
        </p:nvSpPr>
        <p:spPr bwMode="auto">
          <a:xfrm flipH="0" flipV="0">
            <a:off x="1077600" y="1872927"/>
            <a:ext cx="9902354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810397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1646209648" name=""/>
          <p:cNvSpPr txBox="1"/>
          <p:nvPr/>
        </p:nvSpPr>
        <p:spPr bwMode="auto">
          <a:xfrm flipH="0" flipV="0">
            <a:off x="1077600" y="1872927"/>
            <a:ext cx="9829633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Analyse des résultats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54045196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527756" y="2353345"/>
            <a:ext cx="8467073" cy="427199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2931270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B540EAF-818A-8E52-44EB-57078B70E806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6764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69" y="1709733"/>
            <a:ext cx="10745655" cy="285273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5 </a:t>
            </a:r>
            <a:r>
              <a:rPr lang="fr-FR"/>
              <a:t>Classification supervisée</a:t>
            </a:r>
            <a:endParaRPr lang="fr-FR"/>
          </a:p>
        </p:txBody>
      </p:sp>
      <p:pic>
        <p:nvPicPr>
          <p:cNvPr id="18726672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80" y="5941015"/>
            <a:ext cx="1242585" cy="790735"/>
          </a:xfrm>
          <a:prstGeom prst="rect">
            <a:avLst/>
          </a:prstGeom>
        </p:spPr>
      </p:pic>
      <p:sp>
        <p:nvSpPr>
          <p:cNvPr id="58702498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94613A2-58F0-047B-E64F-D44D5718F2A0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9341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/>
              <a:t>Classification supervisée</a:t>
            </a:r>
            <a:endParaRPr lang="fr-FR"/>
          </a:p>
        </p:txBody>
      </p:sp>
      <p:pic>
        <p:nvPicPr>
          <p:cNvPr id="2960406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8" y="5941013"/>
            <a:ext cx="1242585" cy="790733"/>
          </a:xfrm>
          <a:prstGeom prst="rect">
            <a:avLst/>
          </a:prstGeom>
        </p:spPr>
      </p:pic>
      <p:sp>
        <p:nvSpPr>
          <p:cNvPr id="70621009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47AB0E5D-7144-FA97-0862-E3A628E1A52A}" type="slidenum">
              <a:rPr lang="fr-FR"/>
              <a:t/>
            </a:fld>
            <a:endParaRPr/>
          </a:p>
        </p:txBody>
      </p:sp>
      <p:graphicFrame>
        <p:nvGraphicFramePr>
          <p:cNvPr id="257551919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2304864" y="1744330"/>
          <a:ext cx="7582271" cy="4790788"/>
        </p:xfrm>
        <a:graphic>
          <a:graphicData uri="http://schemas.openxmlformats.org/presentationml/2006/ole">
            <p:oleObj name="oleObj" r:id="rId5" imgW="7229475" imgH="4572000" progId="asc.{DB38923B-A8C0-4DE9-8AEE-A61BB5C901A5}">
              <p:embed/>
              <p:pic>
                <p:nvPicPr>
                  <p:cNvPr id="257551919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2304864" y="1744330"/>
                    <a:ext cx="7582271" cy="47907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28630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/>
              <a:t>Classification supervisée</a:t>
            </a:r>
            <a:endParaRPr lang="fr-FR"/>
          </a:p>
        </p:txBody>
      </p:sp>
      <p:sp>
        <p:nvSpPr>
          <p:cNvPr id="567884550" name=""/>
          <p:cNvSpPr txBox="1"/>
          <p:nvPr/>
        </p:nvSpPr>
        <p:spPr bwMode="auto">
          <a:xfrm flipH="0" flipV="0">
            <a:off x="1077599" y="1872927"/>
            <a:ext cx="9902353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506055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8" y="5941013"/>
            <a:ext cx="1242585" cy="790733"/>
          </a:xfrm>
          <a:prstGeom prst="rect">
            <a:avLst/>
          </a:prstGeom>
        </p:spPr>
      </p:pic>
      <p:sp>
        <p:nvSpPr>
          <p:cNvPr id="100691786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3C0914B9-51F2-D6EA-D212-74E4ACBFA76A}" type="slidenum">
              <a:rPr lang="fr-FR"/>
              <a:t/>
            </a:fld>
            <a:endParaRPr/>
          </a:p>
        </p:txBody>
      </p:sp>
      <p:graphicFrame>
        <p:nvGraphicFramePr>
          <p:cNvPr id="828958480" name=""/>
          <p:cNvGraphicFramePr>
            <a:graphicFrameLocks xmlns:a="http://schemas.openxmlformats.org/drawingml/2006/main" noChangeAspect="1"/>
          </p:cNvGraphicFramePr>
          <p:nvPr/>
        </p:nvGraphicFramePr>
        <p:xfrm>
          <a:off x="3809999" y="1458507"/>
          <a:ext cx="4572000" cy="4176000"/>
        </p:xfrm>
        <a:graphic>
          <a:graphicData uri="http://schemas.openxmlformats.org/presentationml/2006/ole">
            <p:oleObj name="oleObj" r:id="rId5" imgW="4572000" imgH="4171950" progId="asc.{DB38923B-A8C0-4DE9-8AEE-A61BB5C901A5}">
              <p:embed/>
              <p:pic>
                <p:nvPicPr>
                  <p:cNvPr id="828958480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3809999" y="1458507"/>
                    <a:ext cx="4572000" cy="4176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31715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/>
              <a:t>Classification supervisée</a:t>
            </a:r>
            <a:endParaRPr lang="fr-FR"/>
          </a:p>
        </p:txBody>
      </p:sp>
      <p:sp>
        <p:nvSpPr>
          <p:cNvPr id="2126611172" name=""/>
          <p:cNvSpPr txBox="1"/>
          <p:nvPr/>
        </p:nvSpPr>
        <p:spPr bwMode="auto">
          <a:xfrm flipH="0" flipV="0">
            <a:off x="1077599" y="1872927"/>
            <a:ext cx="9902353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03574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8" y="5941013"/>
            <a:ext cx="1242585" cy="790733"/>
          </a:xfrm>
          <a:prstGeom prst="rect">
            <a:avLst/>
          </a:prstGeom>
        </p:spPr>
      </p:pic>
      <p:sp>
        <p:nvSpPr>
          <p:cNvPr id="141621071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FED0533-6620-2A71-BD44-4EC151A5F85A}" type="slidenum">
              <a:rPr lang="fr-FR"/>
              <a:t/>
            </a:fld>
            <a:endParaRPr/>
          </a:p>
        </p:txBody>
      </p:sp>
      <p:graphicFrame>
        <p:nvGraphicFramePr>
          <p:cNvPr id="149561478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3814932" y="1541902"/>
          <a:ext cx="4562130" cy="5235376"/>
        </p:xfrm>
        <a:graphic>
          <a:graphicData uri="http://schemas.openxmlformats.org/presentationml/2006/ole">
            <p:oleObj name="oleObj" r:id="rId5" imgW="4600575" imgH="5286375" progId="asc.{DB38923B-A8C0-4DE9-8AEE-A61BB5C901A5}">
              <p:embed/>
              <p:pic>
                <p:nvPicPr>
                  <p:cNvPr id="149561478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3814932" y="1541902"/>
                    <a:ext cx="4562130" cy="5235376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05956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/>
              <a:t>Classification supervisée</a:t>
            </a:r>
            <a:endParaRPr lang="fr-FR"/>
          </a:p>
        </p:txBody>
      </p:sp>
      <p:pic>
        <p:nvPicPr>
          <p:cNvPr id="9202087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8" y="5941013"/>
            <a:ext cx="1242585" cy="790733"/>
          </a:xfrm>
          <a:prstGeom prst="rect">
            <a:avLst/>
          </a:prstGeom>
        </p:spPr>
      </p:pic>
      <p:sp>
        <p:nvSpPr>
          <p:cNvPr id="95912037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4F58349-AC03-659E-BAD7-ADF5ABA07BF6}" type="slidenum">
              <a:rPr lang="fr-FR"/>
              <a:t/>
            </a:fld>
            <a:endParaRPr/>
          </a:p>
        </p:txBody>
      </p:sp>
      <p:sp>
        <p:nvSpPr>
          <p:cNvPr id="1879832668" name=""/>
          <p:cNvSpPr txBox="1"/>
          <p:nvPr/>
        </p:nvSpPr>
        <p:spPr bwMode="auto">
          <a:xfrm flipH="0" flipV="0">
            <a:off x="502118" y="1872927"/>
            <a:ext cx="11690992" cy="4804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Processing simple : </a:t>
            </a:r>
            <a:r>
              <a:rPr lang="fr-FR" sz="17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26 lots de 32 images par epoch, et sur 50 epochs. Le model est entraîné toujours sur les mêmes images.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2813868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45296" y="2531023"/>
            <a:ext cx="4877160" cy="2531023"/>
          </a:xfrm>
          <a:prstGeom prst="rect">
            <a:avLst/>
          </a:prstGeom>
        </p:spPr>
      </p:pic>
      <p:pic>
        <p:nvPicPr>
          <p:cNvPr id="176448241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314915" y="2531023"/>
            <a:ext cx="4212273" cy="2185976"/>
          </a:xfrm>
          <a:prstGeom prst="rect">
            <a:avLst/>
          </a:prstGeom>
        </p:spPr>
      </p:pic>
      <p:pic>
        <p:nvPicPr>
          <p:cNvPr id="228661585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186642" y="4822610"/>
            <a:ext cx="3935475" cy="2042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30698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/>
              <a:t>Classification supervisée</a:t>
            </a:r>
            <a:endParaRPr lang="fr-FR"/>
          </a:p>
        </p:txBody>
      </p:sp>
      <p:pic>
        <p:nvPicPr>
          <p:cNvPr id="1868413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8" y="5941013"/>
            <a:ext cx="1242585" cy="790733"/>
          </a:xfrm>
          <a:prstGeom prst="rect">
            <a:avLst/>
          </a:prstGeom>
        </p:spPr>
      </p:pic>
      <p:sp>
        <p:nvSpPr>
          <p:cNvPr id="14869057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FF7308F1-3542-D68B-1393-EFB5B331CD9E}" type="slidenum">
              <a:rPr lang="fr-FR"/>
              <a:t/>
            </a:fld>
            <a:endParaRPr/>
          </a:p>
        </p:txBody>
      </p:sp>
      <p:sp>
        <p:nvSpPr>
          <p:cNvPr id="2074101897" name=""/>
          <p:cNvSpPr txBox="1"/>
          <p:nvPr/>
        </p:nvSpPr>
        <p:spPr bwMode="auto">
          <a:xfrm flipH="0" flipV="0">
            <a:off x="728135" y="1872927"/>
            <a:ext cx="11416015" cy="4804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Data augmentation</a:t>
            </a:r>
            <a:r>
              <a:rPr lang="fr-FR" sz="1700" b="1">
                <a:latin typeface="Source Sans Pro"/>
                <a:ea typeface="Source Sans Pro"/>
                <a:cs typeface="Source Sans Pro"/>
              </a:rPr>
              <a:t> : </a:t>
            </a:r>
            <a:r>
              <a:rPr lang="fr-FR" sz="17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26 lots de 32 images augmentées par epoch, et sur 50 epochs, soit environ 41 600 images au total. .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19881146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23937" y="2874380"/>
            <a:ext cx="11744125" cy="2144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51683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/>
              <a:t>Classification supervisée</a:t>
            </a:r>
            <a:endParaRPr lang="fr-FR"/>
          </a:p>
        </p:txBody>
      </p:sp>
      <p:sp>
        <p:nvSpPr>
          <p:cNvPr id="631516417" name=""/>
          <p:cNvSpPr txBox="1"/>
          <p:nvPr/>
        </p:nvSpPr>
        <p:spPr bwMode="auto">
          <a:xfrm flipH="0" flipV="0">
            <a:off x="1077599" y="1872927"/>
            <a:ext cx="9902353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964082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8" y="5941013"/>
            <a:ext cx="1242585" cy="790733"/>
          </a:xfrm>
          <a:prstGeom prst="rect">
            <a:avLst/>
          </a:prstGeom>
        </p:spPr>
      </p:pic>
      <p:sp>
        <p:nvSpPr>
          <p:cNvPr id="170734939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1AD1321-19E9-2576-1F6A-79AC50A73575}" type="slidenum">
              <a:rPr lang="fr-FR"/>
              <a:t/>
            </a:fld>
            <a:endParaRPr/>
          </a:p>
        </p:txBody>
      </p:sp>
      <p:graphicFrame>
        <p:nvGraphicFramePr>
          <p:cNvPr id="784174190" name=""/>
          <p:cNvGraphicFramePr>
            <a:graphicFrameLocks xmlns:a="http://schemas.openxmlformats.org/drawingml/2006/main" noChangeAspect="1"/>
          </p:cNvGraphicFramePr>
          <p:nvPr/>
        </p:nvGraphicFramePr>
        <p:xfrm>
          <a:off x="1423987" y="1872927"/>
          <a:ext cx="9344024" cy="4505324"/>
        </p:xfrm>
        <a:graphic>
          <a:graphicData uri="http://schemas.openxmlformats.org/presentationml/2006/ole">
            <p:oleObj name="oleObj" r:id="rId5" imgW="8810625" imgH="4238625" progId="asc.{DB38923B-A8C0-4DE9-8AEE-A61BB5C901A5}">
              <p:embed/>
              <p:pic>
                <p:nvPicPr>
                  <p:cNvPr id="784174190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1423987" y="1872927"/>
                    <a:ext cx="9344024" cy="4505324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35267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/>
              <a:t>Classification supervisée</a:t>
            </a:r>
            <a:endParaRPr lang="fr-FR"/>
          </a:p>
        </p:txBody>
      </p:sp>
      <p:pic>
        <p:nvPicPr>
          <p:cNvPr id="19929347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144717522" name=""/>
          <p:cNvSpPr txBox="1"/>
          <p:nvPr/>
        </p:nvSpPr>
        <p:spPr bwMode="auto">
          <a:xfrm flipH="0" flipV="0">
            <a:off x="1077598" y="1872927"/>
            <a:ext cx="9863470" cy="4804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Analyse des résultats</a:t>
            </a:r>
            <a:r>
              <a:rPr lang="fr-FR" sz="1700" b="1">
                <a:latin typeface="Source Sans Pro"/>
                <a:ea typeface="Source Sans Pro"/>
                <a:cs typeface="Source Sans Pro"/>
              </a:rPr>
              <a:t> : Preprocessing simple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08617819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8BD1147-F36E-F6B2-26C4-A5517133FD2B}" type="slidenum">
              <a:rPr lang="fr-FR"/>
              <a:t/>
            </a:fld>
            <a:endParaRPr/>
          </a:p>
        </p:txBody>
      </p:sp>
      <p:pic>
        <p:nvPicPr>
          <p:cNvPr id="22708091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46148" y="2353347"/>
            <a:ext cx="8299703" cy="419500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37697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/>
              <a:t>Classification supervisée</a:t>
            </a:r>
            <a:endParaRPr lang="fr-FR"/>
          </a:p>
        </p:txBody>
      </p:sp>
      <p:pic>
        <p:nvPicPr>
          <p:cNvPr id="425236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8" y="5941013"/>
            <a:ext cx="1242585" cy="790733"/>
          </a:xfrm>
          <a:prstGeom prst="rect">
            <a:avLst/>
          </a:prstGeom>
        </p:spPr>
      </p:pic>
      <p:sp>
        <p:nvSpPr>
          <p:cNvPr id="2135061203" name=""/>
          <p:cNvSpPr txBox="1"/>
          <p:nvPr/>
        </p:nvSpPr>
        <p:spPr bwMode="auto">
          <a:xfrm flipH="0" flipV="0">
            <a:off x="1077598" y="1872927"/>
            <a:ext cx="9869590" cy="4804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Analyse des résultats</a:t>
            </a:r>
            <a:r>
              <a:rPr lang="fr-FR" sz="1700" b="1">
                <a:latin typeface="Source Sans Pro"/>
                <a:ea typeface="Source Sans Pro"/>
                <a:cs typeface="Source Sans Pro"/>
              </a:rPr>
              <a:t> : Data augmentation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72349022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77B26008-213A-2138-4B65-F54476595582}" type="slidenum">
              <a:rPr lang="fr-FR"/>
              <a:t/>
            </a:fld>
            <a:endParaRPr/>
          </a:p>
        </p:txBody>
      </p:sp>
      <p:pic>
        <p:nvPicPr>
          <p:cNvPr id="2478983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48218" y="2353346"/>
            <a:ext cx="8295563" cy="419291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37989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/>
              <a:t>Classification supervisée</a:t>
            </a:r>
            <a:endParaRPr lang="fr-FR"/>
          </a:p>
        </p:txBody>
      </p:sp>
      <p:pic>
        <p:nvPicPr>
          <p:cNvPr id="19864172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8" y="5941013"/>
            <a:ext cx="1242585" cy="790733"/>
          </a:xfrm>
          <a:prstGeom prst="rect">
            <a:avLst/>
          </a:prstGeom>
        </p:spPr>
      </p:pic>
      <p:sp>
        <p:nvSpPr>
          <p:cNvPr id="1284586216" name=""/>
          <p:cNvSpPr txBox="1"/>
          <p:nvPr/>
        </p:nvSpPr>
        <p:spPr bwMode="auto">
          <a:xfrm flipH="0" flipV="0">
            <a:off x="1077598" y="1872927"/>
            <a:ext cx="9855550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Analyse des résultats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54810064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CC789EF5-17D9-4E22-63B7-14E66FF9327D}" type="slidenum">
              <a:rPr lang="fr-FR"/>
              <a:t/>
            </a:fld>
            <a:endParaRPr/>
          </a:p>
        </p:txBody>
      </p:sp>
      <p:pic>
        <p:nvPicPr>
          <p:cNvPr id="95434857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52130" y="2336873"/>
            <a:ext cx="6487738" cy="431415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52907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/>
              <a:t>Classification supervisée</a:t>
            </a:r>
            <a:endParaRPr lang="fr-FR"/>
          </a:p>
        </p:txBody>
      </p:sp>
      <p:pic>
        <p:nvPicPr>
          <p:cNvPr id="1427776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206083455" name=""/>
          <p:cNvSpPr txBox="1"/>
          <p:nvPr/>
        </p:nvSpPr>
        <p:spPr bwMode="auto">
          <a:xfrm flipH="0" flipV="0">
            <a:off x="1077599" y="1872927"/>
            <a:ext cx="9863111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Analyse des résultats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62830060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F277A88D-5A72-237B-5213-8F7DE7FF9BFA}" type="slidenum">
              <a:rPr lang="fr-FR"/>
              <a:t/>
            </a:fld>
            <a:endParaRPr/>
          </a:p>
        </p:txBody>
      </p:sp>
      <p:pic>
        <p:nvPicPr>
          <p:cNvPr id="95663541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46148" y="2462790"/>
            <a:ext cx="8299703" cy="40937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368664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4"/>
            <a:ext cx="9626224" cy="2852734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6 </a:t>
            </a:r>
            <a:r>
              <a:rPr/>
              <a:t>Test d’une API</a:t>
            </a:r>
            <a:br>
              <a:rPr/>
            </a:br>
            <a:endParaRPr/>
          </a:p>
        </p:txBody>
      </p:sp>
      <p:pic>
        <p:nvPicPr>
          <p:cNvPr id="3380456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5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sp>
        <p:nvSpPr>
          <p:cNvPr id="1709474784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2E5C874-C897-AEF9-D6C6-B5EBE58208F7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01081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6 </a:t>
            </a:r>
            <a:r>
              <a:rPr lang="fr-FR"/>
              <a:t>Test d’une API</a:t>
            </a:r>
            <a:endParaRPr lang="fr-FR"/>
          </a:p>
        </p:txBody>
      </p:sp>
      <p:pic>
        <p:nvPicPr>
          <p:cNvPr id="17614215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9" y="5941014"/>
            <a:ext cx="1242585" cy="790734"/>
          </a:xfrm>
          <a:prstGeom prst="rect">
            <a:avLst/>
          </a:prstGeom>
        </p:spPr>
      </p:pic>
      <p:sp>
        <p:nvSpPr>
          <p:cNvPr id="1781462507" name=""/>
          <p:cNvSpPr txBox="1"/>
          <p:nvPr/>
        </p:nvSpPr>
        <p:spPr bwMode="auto">
          <a:xfrm flipH="0" flipV="0">
            <a:off x="1077599" y="1872926"/>
            <a:ext cx="10161043" cy="2941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72865" indent="-272865"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Collecte de données via API</a:t>
            </a:r>
            <a:endParaRPr lang="fr-FR" sz="1700" b="1" i="0" u="none" strike="noStrike" cap="none" spc="0">
              <a:solidFill>
                <a:schemeClr val="tx1"/>
              </a:solidFill>
              <a:latin typeface="Source Sans Pro"/>
              <a:ea typeface="Source Sans Pro"/>
              <a:cs typeface="Source Sans Pro"/>
            </a:endParaRPr>
          </a:p>
          <a:p>
            <a:pPr marL="272865" indent="-272865">
              <a:lnSpc>
                <a:spcPct val="20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 Objectif : </a:t>
            </a:r>
            <a:r>
              <a:rPr lang="fr-FR" sz="17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Elargissement de la gamme d'épicerie fine, spécifiquement les produits à base de champagne.</a:t>
            </a:r>
            <a:endParaRPr lang="fr-FR" sz="1700" b="1" i="0" u="none" strike="noStrike" cap="none" spc="0">
              <a:solidFill>
                <a:schemeClr val="tx1"/>
              </a:solidFill>
              <a:latin typeface="Source Sans Pro"/>
              <a:ea typeface="Source Sans Pro"/>
              <a:cs typeface="Source Sans Pro"/>
            </a:endParaRPr>
          </a:p>
          <a:p>
            <a:pPr marL="272865" indent="-272865">
              <a:lnSpc>
                <a:spcPct val="20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 APi Utilisée : </a:t>
            </a:r>
            <a:r>
              <a:rPr lang="fr-FR" sz="17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Edamam Food.</a:t>
            </a:r>
            <a:endParaRPr lang="fr-FR" sz="1700" b="1" i="0" u="none" strike="noStrike" cap="none" spc="0">
              <a:solidFill>
                <a:schemeClr val="tx1"/>
              </a:solidFill>
              <a:latin typeface="Source Sans Pro"/>
              <a:ea typeface="Source Sans Pro"/>
              <a:cs typeface="Source Sans Pro"/>
            </a:endParaRPr>
          </a:p>
          <a:p>
            <a:pPr marL="272865" indent="-272865">
              <a:lnSpc>
                <a:spcPct val="20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Méthode : </a:t>
            </a:r>
            <a:r>
              <a:rPr lang="fr-FR" sz="17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Requête API pour filtrer et collecter des informations sur les produits a base de champagne.</a:t>
            </a:r>
            <a:endParaRPr lang="fr-FR" sz="1700" b="1" i="0" u="none" strike="noStrike" cap="none" spc="0">
              <a:solidFill>
                <a:schemeClr val="tx1"/>
              </a:solidFill>
              <a:latin typeface="Source Sans Pro"/>
              <a:ea typeface="Source Sans Pro"/>
              <a:cs typeface="Source Sans Pro"/>
            </a:endParaRPr>
          </a:p>
          <a:p>
            <a:pPr marL="272865" indent="-272865">
              <a:lnSpc>
                <a:spcPct val="20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Filtre Appliqué : </a:t>
            </a:r>
            <a:r>
              <a:rPr lang="fr-FR" sz="17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Recherche par ingrédient spécifique "champagne".</a:t>
            </a:r>
            <a:endParaRPr lang="fr-FR" sz="1700" b="1" i="0" u="none" strike="noStrike" cap="none" spc="0">
              <a:solidFill>
                <a:schemeClr val="tx1"/>
              </a:solidFill>
              <a:latin typeface="Source Sans Pro"/>
              <a:cs typeface="Source Sans Pro"/>
            </a:endParaRPr>
          </a:p>
          <a:p>
            <a:pPr marL="283878" indent="-283878" algn="l">
              <a:lnSpc>
                <a:spcPct val="20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Données Collectées : </a:t>
            </a:r>
            <a:r>
              <a:rPr lang="fr-FR" sz="17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foodid, label, category, foodContentsLabel, image.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4252069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BB4F453-3BF1-5578-AA2C-2583810E159B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00697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6 </a:t>
            </a:r>
            <a:r>
              <a:rPr lang="fr-FR"/>
              <a:t>Test d’une API</a:t>
            </a:r>
            <a:endParaRPr lang="fr-FR"/>
          </a:p>
        </p:txBody>
      </p:sp>
      <p:pic>
        <p:nvPicPr>
          <p:cNvPr id="4615036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8" y="5941013"/>
            <a:ext cx="1242585" cy="790733"/>
          </a:xfrm>
          <a:prstGeom prst="rect">
            <a:avLst/>
          </a:prstGeom>
        </p:spPr>
      </p:pic>
      <p:sp>
        <p:nvSpPr>
          <p:cNvPr id="1992605705" name=""/>
          <p:cNvSpPr txBox="1"/>
          <p:nvPr/>
        </p:nvSpPr>
        <p:spPr bwMode="auto">
          <a:xfrm flipH="0" flipV="0">
            <a:off x="1077598" y="1872925"/>
            <a:ext cx="10161402" cy="350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72864" indent="-272864"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Collecte de données via API</a:t>
            </a:r>
            <a:endParaRPr lang="fr-FR" sz="1700" b="1" i="0" u="none" strike="noStrike" cap="none" spc="0">
              <a:solidFill>
                <a:schemeClr val="tx1"/>
              </a:solidFill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25402976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8473" y="1564043"/>
            <a:ext cx="12015051" cy="468338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22139691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7F11049-45D8-EFDE-6730-3BAF4F72947D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78678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6 </a:t>
            </a:r>
            <a:r>
              <a:rPr lang="fr-FR"/>
              <a:t>Test d’une API</a:t>
            </a:r>
            <a:endParaRPr lang="fr-FR"/>
          </a:p>
        </p:txBody>
      </p:sp>
      <p:pic>
        <p:nvPicPr>
          <p:cNvPr id="19893585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8" y="5941013"/>
            <a:ext cx="1242585" cy="790733"/>
          </a:xfrm>
          <a:prstGeom prst="rect">
            <a:avLst/>
          </a:prstGeom>
        </p:spPr>
      </p:pic>
      <p:sp>
        <p:nvSpPr>
          <p:cNvPr id="606919342" name=""/>
          <p:cNvSpPr txBox="1"/>
          <p:nvPr/>
        </p:nvSpPr>
        <p:spPr bwMode="auto">
          <a:xfrm flipH="0" flipV="0">
            <a:off x="1077599" y="1872926"/>
            <a:ext cx="10308283" cy="39780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Principes Clés du RGPD</a:t>
            </a:r>
            <a:endParaRPr lang="fr-FR" sz="1700" b="1" i="0" u="none" strike="noStrike" cap="none" spc="0">
              <a:solidFill>
                <a:schemeClr val="tx1"/>
              </a:solidFill>
              <a:latin typeface="Source Sans Pro"/>
              <a:cs typeface="Source Sans Pro"/>
            </a:endParaRPr>
          </a:p>
          <a:p>
            <a:pPr marL="283878" indent="-283878" algn="l">
              <a:lnSpc>
                <a:spcPct val="200000"/>
              </a:lnSpc>
              <a:buFont typeface="Arial"/>
              <a:buChar char="•"/>
              <a:defRPr/>
            </a:pPr>
            <a:r>
              <a:rPr lang="fr-FR" sz="1700" b="0">
                <a:latin typeface="Source Sans Pro"/>
                <a:ea typeface="Source Sans Pro"/>
                <a:cs typeface="Source Sans Pro"/>
              </a:rPr>
              <a:t>Ne collecter que les données nécessaire pour atteindre l’objectif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marL="283878" indent="-283878" algn="l">
              <a:lnSpc>
                <a:spcPct val="200000"/>
              </a:lnSpc>
              <a:buFont typeface="Arial"/>
              <a:buChar char="•"/>
              <a:defRPr/>
            </a:pPr>
            <a:r>
              <a:rPr lang="fr-FR" sz="1700" b="0">
                <a:latin typeface="Source Sans Pro"/>
                <a:ea typeface="Source Sans Pro"/>
                <a:cs typeface="Source Sans Pro"/>
              </a:rPr>
              <a:t>Etre transparent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marL="283878" indent="-283878" algn="l">
              <a:lnSpc>
                <a:spcPct val="200000"/>
              </a:lnSpc>
              <a:buFont typeface="Arial"/>
              <a:buChar char="•"/>
              <a:defRPr/>
            </a:pPr>
            <a:r>
              <a:rPr lang="fr-FR" sz="1700" b="0">
                <a:latin typeface="Source Sans Pro"/>
                <a:ea typeface="Source Sans Pro"/>
                <a:cs typeface="Source Sans Pro"/>
              </a:rPr>
              <a:t>Organiser et faciliter l’exercice des droits des personnes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marL="283878" indent="-283878" algn="l">
              <a:lnSpc>
                <a:spcPct val="200000"/>
              </a:lnSpc>
              <a:buFont typeface="Arial"/>
              <a:buChar char="•"/>
              <a:defRPr/>
            </a:pPr>
            <a:r>
              <a:rPr lang="fr-FR" sz="1700" b="0">
                <a:latin typeface="Source Sans Pro"/>
                <a:ea typeface="Source Sans Pro"/>
                <a:cs typeface="Source Sans Pro"/>
              </a:rPr>
              <a:t>Fixer des durées de conservation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marL="283878" indent="-283878" algn="l">
              <a:lnSpc>
                <a:spcPct val="200000"/>
              </a:lnSpc>
              <a:buFont typeface="Arial"/>
              <a:buChar char="•"/>
              <a:defRPr/>
            </a:pPr>
            <a:r>
              <a:rPr lang="fr-FR" sz="1700" b="0">
                <a:latin typeface="Source Sans Pro"/>
                <a:ea typeface="Source Sans Pro"/>
                <a:cs typeface="Source Sans Pro"/>
              </a:rPr>
              <a:t>Sécuriser les données et identifier les risques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algn="l">
              <a:lnSpc>
                <a:spcPct val="200000"/>
              </a:lnSpc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Dans notre cas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  <a:p>
            <a:pPr marL="272865" indent="-272865" algn="l">
              <a:lnSpc>
                <a:spcPct val="200000"/>
              </a:lnSpc>
              <a:buFont typeface="Arial"/>
              <a:buChar char="•"/>
              <a:defRPr/>
            </a:pPr>
            <a:r>
              <a:rPr lang="fr-FR" sz="1700" b="0">
                <a:latin typeface="Source Sans Pro"/>
                <a:ea typeface="Source Sans Pro"/>
                <a:cs typeface="Source Sans Pro"/>
              </a:rPr>
              <a:t>Collecte limitée aux informations nécessaires, aucune donnée personnelle n’est traitée.</a:t>
            </a:r>
            <a:endParaRPr sz="1700" b="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27929857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5E6FDF9-407C-F22A-0AB1-14EE1E6D5C1C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59970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3"/>
            <a:ext cx="9626223" cy="2852733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7 </a:t>
            </a:r>
            <a:r>
              <a:rPr lang="fr-FR"/>
              <a:t>Conclusion</a:t>
            </a:r>
            <a:br>
              <a:rPr/>
            </a:br>
            <a:endParaRPr/>
          </a:p>
        </p:txBody>
      </p:sp>
      <p:sp>
        <p:nvSpPr>
          <p:cNvPr id="93972835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CF725F2-6DE5-80D2-AAE8-82DF204C7E45}" type="slidenum">
              <a:rPr lang="fr-FR"/>
              <a:t/>
            </a:fld>
            <a:endParaRPr/>
          </a:p>
        </p:txBody>
      </p:sp>
      <p:pic>
        <p:nvPicPr>
          <p:cNvPr id="5150958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77" y="5941012"/>
            <a:ext cx="1242585" cy="790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919227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sz="3600"/>
              <a:t>7 Conclusion</a:t>
            </a:r>
            <a:endParaRPr sz="3600"/>
          </a:p>
        </p:txBody>
      </p:sp>
      <p:sp>
        <p:nvSpPr>
          <p:cNvPr id="1837273056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3"/>
            <a:ext cx="9668433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fr-FR"/>
              <a:t>Classification automatique d’articles en utilisant les descriptions ou les images est réalisable.</a:t>
            </a:r>
            <a:endParaRPr lang="fr-FR"/>
          </a:p>
          <a:p>
            <a:pPr>
              <a:lnSpc>
                <a:spcPct val="150000"/>
              </a:lnSpc>
              <a:defRPr/>
            </a:pPr>
            <a:r>
              <a:rPr lang="fr-FR"/>
              <a:t>Classification plus avancée avec un modèle préentrainé (VGG16 avec data augmentation)</a:t>
            </a:r>
            <a:endParaRPr lang="fr-FR"/>
          </a:p>
          <a:p>
            <a:pPr>
              <a:lnSpc>
                <a:spcPct val="150000"/>
              </a:lnSpc>
              <a:defRPr/>
            </a:pPr>
            <a:r>
              <a:rPr lang="fr-FR"/>
              <a:t>Collecte des 10 premiers produits à base de champagne via requête API.</a:t>
            </a:r>
            <a:endParaRPr lang="fr-FR"/>
          </a:p>
        </p:txBody>
      </p:sp>
      <p:sp>
        <p:nvSpPr>
          <p:cNvPr id="189055313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5158736-CA3C-0088-AC11-BF6F32ED8E46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40 1">
      <a:dk1>
        <a:srgbClr val="000000"/>
      </a:dk1>
      <a:lt1>
        <a:srgbClr val="404040"/>
      </a:lt1>
      <a:dk2>
        <a:srgbClr val="44546A"/>
      </a:dk2>
      <a:lt2>
        <a:srgbClr val="40404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09090"/>
      </a:hlink>
      <a:folHlink>
        <a:srgbClr val="656565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ONLYOFFICE/9.0.0.172</Application>
  <PresentationFormat>On-screen Show (4:3)</PresentationFormat>
  <Paragraphs>0</Paragraphs>
  <Slides>42</Slides>
  <Notes>42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Guillaume Lafon</dc:creator>
  <cp:lastModifiedBy/>
  <cp:revision>37</cp:revision>
  <dcterms:created xsi:type="dcterms:W3CDTF">2018-07-30T23:03:22Z</dcterms:created>
  <dcterms:modified xsi:type="dcterms:W3CDTF">2025-07-15T14:34:49Z</dcterms:modified>
</cp:coreProperties>
</file>