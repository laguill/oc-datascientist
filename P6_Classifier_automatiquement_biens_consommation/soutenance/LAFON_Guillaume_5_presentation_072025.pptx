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notesSlides/notesSlide32.xml" ContentType="application/vnd.openxmlformats-officedocument.presentationml.notes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32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3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2000" cy="6858000"/>
  <p:notesSz cx="6858000" cy="9144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8" d="100"/>
          <a:sy n="108" d="100"/>
        </p:scale>
        <p:origin x="544" y="20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 /><Relationship Id="rId38" Type="http://schemas.openxmlformats.org/officeDocument/2006/relationships/tableStyles" Target="tableStyles.xml" /><Relationship Id="rId3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14701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399286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F3696079-EBA5-8C41-96F3-032D52D44482}" type="datetimeFigureOut">
              <a:rPr lang="en-US"/>
              <a:t>3/20/19</a:t>
            </a:fld>
            <a:endParaRPr lang="en-US"/>
          </a:p>
        </p:txBody>
      </p:sp>
      <p:sp>
        <p:nvSpPr>
          <p:cNvPr id="127081506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639900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1448797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6894031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6C5E9DD-A3A8-294A-AA05-12D080B6188C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1519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7203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2735750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6C5E9DD-A3A8-294A-AA05-12D080B6188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3544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8158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33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2A01D2-5ECB-7539-D460-03EF5ADBC1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708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86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271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20D49C-A572-668E-4C69-F44C60C72A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9238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0453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961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6A0A60-C46F-9E13-8572-E908049B11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7145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456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79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0ECEA-A2F1-9B08-C4EE-659D2711B2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961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0442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922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5E85DB-E61D-FE34-23C0-FDF593C583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94812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9645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713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DD8F18-2DE6-9565-B7CD-881AFBA27E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1161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7380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771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360C92-40C3-47BE-377F-5EB19B8483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5912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035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668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B2930-D2A9-53ED-BD0C-F8AEC3B92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9494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6119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3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25AD1D-9A64-CE9C-98EB-087AF74885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6041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785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486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F2E225-18C1-8E41-A488-96AB348251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336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8536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397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AEC9D-E868-C875-C7FA-30401A7953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25914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58149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3759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C55B21-81EB-ADDE-98EF-9A186274B1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24878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5809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659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E70C1D-35EA-037A-59AE-1BCB6E497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4491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9082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3848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EBD545-0F94-920A-FC42-05B142DEC7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227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0974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7243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56AE4C-3E57-2130-4B07-B5A2EBA15D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9806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0578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149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618059-15E2-C3EF-9BE5-F91D392517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39010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4932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5730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8D16F2-3AA0-69EE-85FA-3E791AACFC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2415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54710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785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FFA5E-EB3A-9F1D-E900-B01FAAA4D1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0548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00589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81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37568B-A318-5AF8-5584-CB0731360F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11737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1230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887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BAFC62-0303-99D1-EDAE-CF272F99CF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228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795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583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12C810-8E05-4EDF-53F1-191015E6C5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425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22006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647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6F6616-3C58-6FF3-87D4-ED6F47FDE0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0973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7384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0245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8D037B-6202-C1F2-A50C-92F386C866B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1474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35156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4169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203CB-7885-A264-40AF-277B967715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509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92902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8230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D670B6-F81C-35D7-B483-AB75B33B3E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45985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6900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591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0C25CF-ACBE-C331-773C-213617A230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6077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1250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710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FDC245-4463-E9CF-FD22-7CDE5742BB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6691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64704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453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915AF5-48DF-0284-1D7C-8FB6BB9BF8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3594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1312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593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F34E01-2E89-D3F1-EBBB-CE57DB3A1F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9322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5297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270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0110A6-C52B-D28F-E056-5B47B4AD20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230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7654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656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1F2AF3-555E-BC7C-C06B-686981419C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9563116" name="Title 1"/>
          <p:cNvSpPr>
            <a:spLocks noGrp="1"/>
          </p:cNvSpPr>
          <p:nvPr>
            <p:ph type="ctrTitle"/>
          </p:nvPr>
        </p:nvSpPr>
        <p:spPr bwMode="auto">
          <a:xfrm>
            <a:off x="1523999" y="1661205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67261764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4140880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347117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4"/>
            <a:ext cx="9668435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04995949" name="Content Placeholder 2"/>
          <p:cNvSpPr>
            <a:spLocks noGrp="1"/>
          </p:cNvSpPr>
          <p:nvPr>
            <p:ph idx="1"/>
          </p:nvPr>
        </p:nvSpPr>
        <p:spPr bwMode="auto">
          <a:xfrm>
            <a:off x="1261782" y="1825624"/>
            <a:ext cx="9668435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238232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7"/>
            <a:ext cx="9626226" cy="2852737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865286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82886" y="4589462"/>
            <a:ext cx="962622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3577613" name="Title 1"/>
          <p:cNvSpPr>
            <a:spLocks noGrp="1"/>
          </p:cNvSpPr>
          <p:nvPr>
            <p:ph type="title"/>
          </p:nvPr>
        </p:nvSpPr>
        <p:spPr bwMode="auto">
          <a:xfrm>
            <a:off x="1114344" y="365124"/>
            <a:ext cx="9963311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3495250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1114344" y="1864658"/>
            <a:ext cx="7108051" cy="4688822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1480468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222396" y="1864658"/>
            <a:ext cx="2855258" cy="4688822"/>
          </a:xfrm>
        </p:spPr>
        <p:txBody>
          <a:bodyPr/>
          <a:lstStyle/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5612975" name="Picture 4"/>
          <p:cNvPicPr>
            <a:picLocks noChangeAspect="1"/>
          </p:cNvPicPr>
          <p:nvPr userDrawn="1"/>
        </p:nvPicPr>
        <p:blipFill>
          <a:blip r:embed="rId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42469998" name="Title Placeholder 1"/>
          <p:cNvSpPr>
            <a:spLocks noGrp="1"/>
          </p:cNvSpPr>
          <p:nvPr>
            <p:ph type="title"/>
          </p:nvPr>
        </p:nvSpPr>
        <p:spPr bwMode="auto">
          <a:xfrm>
            <a:off x="1261782" y="365124"/>
            <a:ext cx="966843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latin typeface="Orkney Medium"/>
                <a:ea typeface="Orkney Medium"/>
                <a:cs typeface="Orkney Medium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4047068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61782" y="1825624"/>
            <a:ext cx="96684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1800">
                <a:latin typeface="Source Sans Pro"/>
                <a:ea typeface="Source Sans Pro"/>
                <a:cs typeface="Source Sans Pro"/>
              </a:defRPr>
            </a:lvl1pPr>
            <a:lvl2pPr>
              <a:defRPr sz="1400">
                <a:latin typeface="Source Sans Pro"/>
                <a:ea typeface="Source Sans Pro"/>
                <a:cs typeface="Source Sans Pro"/>
              </a:defRPr>
            </a:lvl2pPr>
            <a:lvl3pPr>
              <a:defRPr sz="1100">
                <a:latin typeface="Source Sans Pro"/>
                <a:ea typeface="Source Sans Pro"/>
                <a:cs typeface="Source Sans Pro"/>
              </a:defRPr>
            </a:lvl3pPr>
            <a:lvl4pPr>
              <a:defRPr sz="1000">
                <a:latin typeface="Source Sans Pro"/>
                <a:ea typeface="Source Sans Pro"/>
                <a:cs typeface="Source Sans Pro"/>
              </a:defRPr>
            </a:lvl4pPr>
            <a:lvl5pPr>
              <a:defRPr sz="1000">
                <a:latin typeface="Source Sans Pro"/>
                <a:ea typeface="Source Sans Pro"/>
                <a:cs typeface="Source Sans Pro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/>
            </a:pPr>
            <a:r>
              <a:rPr lang="en-US"/>
              <a:t>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1" ftr="0" hdr="0" sldNum="1"/>
  <p:txStyles>
    <p:titleStyle>
      <a:lvl1pPr algn="l" defTabSz="914400">
        <a:lnSpc>
          <a:spcPct val="90000"/>
        </a:lnSpc>
        <a:spcBef>
          <a:spcPts val="0"/>
        </a:spcBef>
        <a:buNone/>
        <a:defRPr sz="4400" b="0" i="0">
          <a:solidFill>
            <a:srgbClr val="404040"/>
          </a:solidFill>
          <a:latin typeface="Source Sans Pro Ligh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b="0" i="0">
          <a:solidFill>
            <a:srgbClr val="404040"/>
          </a:solidFill>
          <a:latin typeface="Source Sans Pro Ligh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b="0" i="0">
          <a:solidFill>
            <a:srgbClr val="404040"/>
          </a:solidFill>
          <a:latin typeface="Source Sans Pro Ligh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b="0" i="0">
          <a:solidFill>
            <a:srgbClr val="404040"/>
          </a:solidFill>
          <a:latin typeface="Source Sans Pro Ligh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b="0" i="0">
          <a:solidFill>
            <a:srgbClr val="404040"/>
          </a:solidFill>
          <a:latin typeface="Source Sans Pro Ligh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b="0" i="0">
          <a:solidFill>
            <a:srgbClr val="404040"/>
          </a:solidFill>
          <a:latin typeface="Source Sans Pro Ligh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14.xml"/><Relationship Id="rId7" Type="http://schemas.openxmlformats.org/officeDocument/2006/relationships/slide" Target="slide22.xml"/><Relationship Id="rId8" Type="http://schemas.openxmlformats.org/officeDocument/2006/relationships/slide" Target="slide28.xml"/><Relationship Id="rId9" Type="http://schemas.openxmlformats.org/officeDocument/2006/relationships/slide" Target="slide30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3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oleObject" Target="../embeddings/oleObject1.bin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2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3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4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5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180056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	</a:t>
            </a:r>
            <a:r>
              <a:rPr lang="fr-FR"/>
              <a:t>Projet 6</a:t>
            </a:r>
            <a:endParaRPr lang="en-US"/>
          </a:p>
        </p:txBody>
      </p:sp>
      <p:sp>
        <p:nvSpPr>
          <p:cNvPr id="1218826700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 marL="0" lvl="0" indent="0">
              <a:buNone/>
              <a:defRPr/>
            </a:pPr>
            <a:r>
              <a:rPr lang="fr-FR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Classifier automatiquement des biens de consommations</a:t>
            </a:r>
            <a:br>
              <a:rPr lang="en-US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</a:br>
            <a:r>
              <a:rPr lang="en-US" sz="24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Guillaume LAFON</a:t>
            </a:r>
            <a:endParaRPr sz="2400"/>
          </a:p>
          <a:p>
            <a:pPr>
              <a:defRPr/>
            </a:pPr>
            <a:endParaRPr>
              <a:solidFill>
                <a:schemeClr val="accent3">
                  <a:lumMod val="7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582604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3"/>
            <a:ext cx="9668435" cy="132556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/>
              <a:t>Sommaire</a:t>
            </a:r>
            <a:endParaRPr lang="fr-FR"/>
          </a:p>
        </p:txBody>
      </p:sp>
      <p:sp>
        <p:nvSpPr>
          <p:cNvPr id="14853136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64734" y="1825623"/>
            <a:ext cx="9862530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3" action="ppaction://hlinksldjump" tooltip="Diapositive 3"/>
              </a:rPr>
              <a:t>1. Introduction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sz="1700" b="1" u="sng">
                <a:solidFill>
                  <a:schemeClr val="tx1"/>
                </a:solidFill>
                <a:hlinkClick r:id="rId4" action="ppaction://hlinksldjump" tooltip="Diapositive 5"/>
              </a:rPr>
              <a:t>2. Présentation du jeu de données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5" action="ppaction://hlinksldjump" tooltip="Diapositive 7"/>
              </a:rPr>
              <a:t>3 Etude de faisabilité sur les description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6" action="ppaction://hlinksldjump" tooltip="Diapositive 14"/>
              </a:rPr>
              <a:t>4. Etude de faisabilité sur les images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hlinkClick r:id="rId7" action="ppaction://hlinksldjump" tooltip="Diapositive 22"/>
              </a:rPr>
              <a:t>5 Classification supervisée des images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u="sng">
                <a:solidFill>
                  <a:schemeClr val="tx1"/>
                </a:solidFill>
                <a:hlinkClick r:id="rId8" action="ppaction://hlinksldjump" tooltip="Diapositive 28"/>
              </a:rPr>
              <a:t>6. Test d’une API</a:t>
            </a:r>
            <a:endParaRPr sz="1700" b="1" u="sng">
              <a:solidFill>
                <a:schemeClr val="tx1"/>
              </a:solidFill>
            </a:endParaRPr>
          </a:p>
          <a:p>
            <a:pPr lvl="0">
              <a:lnSpc>
                <a:spcPct val="200000"/>
              </a:lnSpc>
              <a:defRPr/>
            </a:pPr>
            <a:r>
              <a:rPr lang="fr-FR" sz="1700" b="1" i="0" u="sng" strike="noStrike" cap="none" spc="0">
                <a:latin typeface="Source Sans Pro"/>
                <a:ea typeface="Source Sans Pro"/>
                <a:cs typeface="Source Sans Pro"/>
                <a:hlinkClick r:id="rId9" action="ppaction://hlinksldjump" tooltip="Diapositive 30"/>
              </a:rPr>
              <a:t>7 Conclusion</a:t>
            </a:r>
            <a:endParaRPr sz="1700" b="1" u="sng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bldLst>
      <p:bldP spid="148531366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83961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6"/>
            <a:ext cx="9626226" cy="285273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Introduction</a:t>
            </a:r>
            <a:br>
              <a:rPr/>
            </a:br>
            <a:endParaRPr/>
          </a:p>
        </p:txBody>
      </p:sp>
      <p:pic>
        <p:nvPicPr>
          <p:cNvPr id="681930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089254" y="3967840"/>
            <a:ext cx="4013491" cy="25540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35898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2"/>
            <a:ext cx="9668435" cy="1325561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1 Introduction</a:t>
            </a:r>
            <a:endParaRPr/>
          </a:p>
        </p:txBody>
      </p:sp>
      <p:sp>
        <p:nvSpPr>
          <p:cNvPr id="72589704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lvl="0" indent="0">
              <a:spcBef>
                <a:spcPts val="2998"/>
              </a:spcBef>
              <a:buNone/>
              <a:defRPr/>
            </a:pPr>
            <a:r>
              <a:rPr lang="fr-FR" b="1"/>
              <a:t>1.1 Contexte</a:t>
            </a:r>
            <a:endParaRPr lang="fr-FR"/>
          </a:p>
          <a:p>
            <a:pPr marL="0" lvl="0" indent="0">
              <a:buNone/>
              <a:defRPr/>
            </a:pP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Place de marché est une plateforme de e-commerce en pleine expansion qui propose une solution de vente sur les marketplaces en ligne.</a:t>
            </a:r>
            <a:endParaRPr lang="fr-FR"/>
          </a:p>
          <a:p>
            <a:pPr marL="0" lvl="0" indent="0">
              <a:lnSpc>
                <a:spcPct val="100000"/>
              </a:lnSpc>
              <a:spcBef>
                <a:spcPts val="2998"/>
              </a:spcBef>
              <a:buNone/>
              <a:defRPr/>
            </a:pPr>
            <a:r>
              <a:rPr lang="fr-FR" b="1"/>
              <a:t>1.2 Mission</a:t>
            </a:r>
            <a:endParaRPr lang="fr-FR" b="1"/>
          </a:p>
          <a:p>
            <a:pPr marL="0" lvl="0" indent="0">
              <a:lnSpc>
                <a:spcPct val="90000"/>
              </a:lnSpc>
              <a:spcBef>
                <a:spcPts val="566"/>
              </a:spcBef>
              <a:buNone/>
              <a:defRPr/>
            </a:pPr>
            <a:r>
              <a:rPr lang="fr-FR" b="0"/>
              <a:t>Formulation de la problématique :</a:t>
            </a:r>
            <a:endParaRPr b="0"/>
          </a:p>
          <a:p>
            <a:pPr>
              <a:defRPr/>
            </a:pPr>
            <a:r>
              <a:rPr lang="fr-FR" sz="16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Automatiser l’attribution des catégories aux produits mis en vente pour améliorer l’expérience utilisateur.</a:t>
            </a:r>
            <a:endParaRPr lang="fr-FR" sz="1600" b="0" i="0" u="none" strike="noStrike" cap="none" spc="0">
              <a:solidFill>
                <a:srgbClr val="404040"/>
              </a:solidFill>
              <a:latin typeface="Source Sans Pro"/>
              <a:cs typeface="Source Sans Pro"/>
            </a:endParaRPr>
          </a:p>
          <a:p>
            <a:pPr lvl="0">
              <a:defRPr/>
            </a:pPr>
            <a:endParaRPr lang="fr-FR"/>
          </a:p>
          <a:p>
            <a:pPr marL="0" lvl="0" indent="0">
              <a:spcBef>
                <a:spcPts val="2997"/>
              </a:spcBef>
              <a:buNone/>
              <a:defRPr/>
            </a:pPr>
            <a:r>
              <a:rPr lang="fr-FR" sz="1700" b="1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1.3 Données</a:t>
            </a:r>
            <a:endParaRPr sz="1700"/>
          </a:p>
          <a:p>
            <a:pPr lvl="0">
              <a:defRPr/>
            </a:pPr>
            <a:r>
              <a:rPr lang="fr-FR" sz="1700" b="0" i="0" u="none" strike="noStrike" cap="none" spc="0">
                <a:solidFill>
                  <a:srgbClr val="404040"/>
                </a:solidFill>
                <a:latin typeface="Source Sans Pro"/>
                <a:ea typeface="Source Sans Pro"/>
                <a:cs typeface="Source Sans Pro"/>
              </a:rPr>
              <a:t>Jeu de données contenant des informations sur les produits mis en vente (noms, descriptions et images, catégories)</a:t>
            </a:r>
            <a:endParaRPr lang="fr-FR"/>
          </a:p>
        </p:txBody>
      </p:sp>
      <p:pic>
        <p:nvPicPr>
          <p:cNvPr id="10673085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650423" y="584197"/>
            <a:ext cx="1950812" cy="12414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bldLst>
      <p:bldP spid="72589704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65120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70" y="1709734"/>
            <a:ext cx="10745656" cy="28527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2 </a:t>
            </a:r>
            <a:r>
              <a:rPr lang="fr-FR" sz="60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du jeu de données</a:t>
            </a:r>
            <a:endParaRPr lang="fr-FR"/>
          </a:p>
        </p:txBody>
      </p:sp>
      <p:pic>
        <p:nvPicPr>
          <p:cNvPr id="5525783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1" y="5941016"/>
            <a:ext cx="1242585" cy="7907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22641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4" y="365121"/>
            <a:ext cx="10036791" cy="1325558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2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Présentation du jeu de données</a:t>
            </a:r>
            <a:endParaRPr sz="3600"/>
          </a:p>
        </p:txBody>
      </p:sp>
      <p:sp>
        <p:nvSpPr>
          <p:cNvPr id="2013494220" name=""/>
          <p:cNvSpPr txBox="1"/>
          <p:nvPr/>
        </p:nvSpPr>
        <p:spPr bwMode="auto">
          <a:xfrm flipH="0" flipV="0">
            <a:off x="1077601" y="1872927"/>
            <a:ext cx="9714435" cy="16462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1050 produits</a:t>
            </a:r>
            <a:endParaRPr sz="1700" b="0">
              <a:latin typeface="Source Sans Pro"/>
              <a:cs typeface="Source Sans Pro"/>
            </a:endParaRPr>
          </a:p>
          <a:p>
            <a:pPr marL="283879" indent="-283879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Aucune données manquantes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7 catégories de produits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150 produits par catégorie</a:t>
            </a:r>
            <a:endParaRPr lang="fr-FR" sz="1700" b="0">
              <a:latin typeface="Source Sans Pro"/>
              <a:cs typeface="Source Sans Pro"/>
            </a:endParaRPr>
          </a:p>
        </p:txBody>
      </p:sp>
      <p:pic>
        <p:nvPicPr>
          <p:cNvPr id="7332899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pic>
        <p:nvPicPr>
          <p:cNvPr id="66198015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429880" y="3519207"/>
            <a:ext cx="3941655" cy="307487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646597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751413" y="3545380"/>
            <a:ext cx="4968247" cy="304869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076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3 </a:t>
            </a:r>
            <a:r>
              <a:rPr lang="fr-FR"/>
              <a:t>Etude de faisabilité sur les descriptions</a:t>
            </a:r>
            <a:endParaRPr lang="fr-FR"/>
          </a:p>
        </p:txBody>
      </p:sp>
      <p:pic>
        <p:nvPicPr>
          <p:cNvPr id="834289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79785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2015653433" name=""/>
          <p:cNvSpPr txBox="1"/>
          <p:nvPr/>
        </p:nvSpPr>
        <p:spPr bwMode="auto">
          <a:xfrm flipH="0" flipV="0">
            <a:off x="1077601" y="1872927"/>
            <a:ext cx="9821355" cy="20349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Prétraitement des descriptions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Nettoyage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Mise en minuscule, supression de la ponctuation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Tokenisation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Segmentation des mots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StopWords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Suppression des mots de liaisons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Lemmatisation : </a:t>
            </a:r>
            <a:r>
              <a:rPr lang="fr-FR" sz="1700" b="0">
                <a:latin typeface="Source Sans Pro"/>
                <a:ea typeface="Source Sans Pro"/>
                <a:cs typeface="Source Sans Pro"/>
              </a:rPr>
              <a:t>Recherche des lemmes/radicaux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8235858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0663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753333539" name=""/>
          <p:cNvSpPr txBox="1"/>
          <p:nvPr/>
        </p:nvSpPr>
        <p:spPr bwMode="auto">
          <a:xfrm flipH="0" flipV="0">
            <a:off x="1077601" y="1872927"/>
            <a:ext cx="9821715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Prétraitement des descriptions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20676175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pic>
        <p:nvPicPr>
          <p:cNvPr id="106149564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483448" y="2182433"/>
            <a:ext cx="9010023" cy="45012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76724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923449516" name=""/>
          <p:cNvSpPr txBox="1"/>
          <p:nvPr/>
        </p:nvSpPr>
        <p:spPr bwMode="auto">
          <a:xfrm flipH="0" flipV="0">
            <a:off x="690146" y="1872926"/>
            <a:ext cx="2534972" cy="2812139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Méthodes utilisées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Bag of Words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sz="1700" b="1">
                <a:latin typeface="Source Sans Pro"/>
                <a:cs typeface="Source Sans Pro"/>
              </a:rPr>
              <a:t>Tf-Idf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sz="1700" b="1">
                <a:latin typeface="Source Sans Pro"/>
                <a:cs typeface="Source Sans Pro"/>
              </a:rPr>
              <a:t>Word2Vec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BERT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USE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MPNET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6594461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821005648" name=""/>
          <p:cNvSpPr txBox="1"/>
          <p:nvPr/>
        </p:nvSpPr>
        <p:spPr bwMode="auto">
          <a:xfrm flipH="0" flipV="0">
            <a:off x="6454135" y="1872927"/>
            <a:ext cx="2538932" cy="869039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Model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KMeans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520665326" name=""/>
          <p:cNvSpPr txBox="1"/>
          <p:nvPr/>
        </p:nvSpPr>
        <p:spPr bwMode="auto">
          <a:xfrm flipH="0" flipV="0">
            <a:off x="9338112" y="1872927"/>
            <a:ext cx="2551532" cy="869039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Performance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ARI score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927909133" name=""/>
          <p:cNvSpPr txBox="1"/>
          <p:nvPr/>
        </p:nvSpPr>
        <p:spPr bwMode="auto">
          <a:xfrm flipH="0" flipV="0">
            <a:off x="3570161" y="1872927"/>
            <a:ext cx="2559452" cy="869039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Dimensions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PCA + TSNE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09360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3" y="365121"/>
            <a:ext cx="10036791" cy="1325557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340920505" name=""/>
          <p:cNvSpPr txBox="1"/>
          <p:nvPr/>
        </p:nvSpPr>
        <p:spPr bwMode="auto">
          <a:xfrm flipH="0" flipV="0">
            <a:off x="1077601" y="1872927"/>
            <a:ext cx="9902355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457834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  <p:sp>
        <p:nvSpPr>
          <p:cNvPr id="125419006" name=""/>
          <p:cNvSpPr txBox="1"/>
          <p:nvPr/>
        </p:nvSpPr>
        <p:spPr bwMode="auto">
          <a:xfrm flipH="0" flipV="0">
            <a:off x="1077601" y="1872927"/>
            <a:ext cx="982963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7143515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535828" y="2234679"/>
            <a:ext cx="8913177" cy="4497069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77603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723845810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7047839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047089288" name=""/>
          <p:cNvSpPr txBox="1"/>
          <p:nvPr/>
        </p:nvSpPr>
        <p:spPr bwMode="auto">
          <a:xfrm flipH="0" flipV="0">
            <a:off x="1077600" y="1872927"/>
            <a:ext cx="982963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45752502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1132417" y="2305454"/>
            <a:ext cx="9720000" cy="3826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37241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3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descriptions</a:t>
            </a:r>
            <a:endParaRPr lang="fr-FR" sz="3600"/>
          </a:p>
        </p:txBody>
      </p:sp>
      <p:sp>
        <p:nvSpPr>
          <p:cNvPr id="1653629240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5659619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4569059" name=""/>
          <p:cNvSpPr txBox="1"/>
          <p:nvPr/>
        </p:nvSpPr>
        <p:spPr bwMode="auto">
          <a:xfrm flipH="0" flipV="0">
            <a:off x="1077600" y="1872927"/>
            <a:ext cx="982963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7085362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1080379" y="2225247"/>
            <a:ext cx="9720000" cy="3826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579935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4 </a:t>
            </a:r>
            <a:r>
              <a:rPr lang="fr-FR"/>
              <a:t>Etude de faisabilité sur les images</a:t>
            </a:r>
            <a:endParaRPr lang="fr-FR"/>
          </a:p>
        </p:txBody>
      </p:sp>
      <p:pic>
        <p:nvPicPr>
          <p:cNvPr id="17028618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7327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576492586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4967135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025286548" name=""/>
          <p:cNvSpPr txBox="1"/>
          <p:nvPr/>
        </p:nvSpPr>
        <p:spPr bwMode="auto">
          <a:xfrm flipH="0" flipV="0">
            <a:off x="1077600" y="1872927"/>
            <a:ext cx="10009633" cy="26978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Taille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Standardisation des images (224x224)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Niveau de gris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Réduction des dimensions en supprimant les couleurs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Exposition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Ajustement pour améliorer la visibilité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Contraste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Augmentation de la différence de la luminosité</a:t>
            </a:r>
            <a:endParaRPr sz="17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Correction du bruit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Réduction des distorsions visuelles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6040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320219843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5171157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783840598" name=""/>
          <p:cNvSpPr txBox="1"/>
          <p:nvPr/>
        </p:nvSpPr>
        <p:spPr bwMode="auto">
          <a:xfrm flipH="0" flipV="0">
            <a:off x="1077600" y="1872927"/>
            <a:ext cx="10011073" cy="7547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  <p:pic>
        <p:nvPicPr>
          <p:cNvPr id="202442716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157775" y="2416448"/>
            <a:ext cx="7876447" cy="4044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8130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2002768667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54443413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459272929" name=""/>
          <p:cNvSpPr txBox="1"/>
          <p:nvPr/>
        </p:nvSpPr>
        <p:spPr bwMode="auto">
          <a:xfrm flipH="0" flipV="0">
            <a:off x="1077600" y="1872927"/>
            <a:ext cx="10011073" cy="7547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Prétraitement des images</a:t>
            </a:r>
            <a:endParaRPr sz="1700" b="1">
              <a:latin typeface="Source Sans Pro"/>
              <a:ea typeface="Source Sans Pro"/>
              <a:cs typeface="Source Sans Pro"/>
            </a:endParaRPr>
          </a:p>
          <a:p>
            <a:pPr>
              <a:defRPr/>
            </a:pPr>
            <a:endParaRPr/>
          </a:p>
        </p:txBody>
      </p:sp>
      <p:pic>
        <p:nvPicPr>
          <p:cNvPr id="20808594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2157599" y="2427518"/>
            <a:ext cx="7876800" cy="401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19241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892987753" name=""/>
          <p:cNvSpPr txBox="1"/>
          <p:nvPr/>
        </p:nvSpPr>
        <p:spPr bwMode="auto">
          <a:xfrm flipH="0" flipV="0">
            <a:off x="690145" y="1872925"/>
            <a:ext cx="2637904" cy="1257659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Méthodes utilisées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SIFT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Transfer Learning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749557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73149423" name=""/>
          <p:cNvSpPr txBox="1"/>
          <p:nvPr/>
        </p:nvSpPr>
        <p:spPr bwMode="auto">
          <a:xfrm flipH="0" flipV="0">
            <a:off x="6495287" y="1872927"/>
            <a:ext cx="2538931" cy="869038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Model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KMeans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930137991" name=""/>
          <p:cNvSpPr txBox="1"/>
          <p:nvPr/>
        </p:nvSpPr>
        <p:spPr bwMode="auto">
          <a:xfrm flipH="0" flipV="0">
            <a:off x="9338112" y="1872927"/>
            <a:ext cx="2551531" cy="869038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Performance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ARI score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sp>
        <p:nvSpPr>
          <p:cNvPr id="2129852245" name=""/>
          <p:cNvSpPr txBox="1"/>
          <p:nvPr/>
        </p:nvSpPr>
        <p:spPr bwMode="auto">
          <a:xfrm flipH="0" flipV="0">
            <a:off x="3631942" y="1872927"/>
            <a:ext cx="2559451" cy="869038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Dimensions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PCA + TSNE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31040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408288479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24561500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505623823" name=""/>
          <p:cNvSpPr txBox="1"/>
          <p:nvPr/>
        </p:nvSpPr>
        <p:spPr bwMode="auto">
          <a:xfrm flipH="0" flipV="0">
            <a:off x="1077600" y="1872927"/>
            <a:ext cx="982963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96296692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527756" y="2353345"/>
            <a:ext cx="8467073" cy="4271991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5320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1360997849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642266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403406183" name=""/>
          <p:cNvSpPr txBox="1"/>
          <p:nvPr/>
        </p:nvSpPr>
        <p:spPr bwMode="auto">
          <a:xfrm flipH="0" flipV="0">
            <a:off x="1077600" y="1872927"/>
            <a:ext cx="983251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SIFT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99478685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36084" y="2297063"/>
            <a:ext cx="10264295" cy="403931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619890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4 </a:t>
            </a: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Etude de faisabilité sur les images</a:t>
            </a:r>
            <a:endParaRPr lang="fr-FR" sz="3600"/>
          </a:p>
        </p:txBody>
      </p:sp>
      <p:sp>
        <p:nvSpPr>
          <p:cNvPr id="227632133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8721681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503119134" name=""/>
          <p:cNvSpPr txBox="1"/>
          <p:nvPr/>
        </p:nvSpPr>
        <p:spPr bwMode="auto">
          <a:xfrm flipH="0" flipV="0">
            <a:off x="1077600" y="1872927"/>
            <a:ext cx="9839353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Analyse des résultats</a:t>
            </a:r>
            <a:r>
              <a:rPr lang="fr-FR" sz="1700" b="1">
                <a:latin typeface="Source Sans Pro"/>
                <a:ea typeface="Source Sans Pro"/>
                <a:cs typeface="Source Sans Pro"/>
              </a:rPr>
              <a:t> : CNN Transfer Learning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44900051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36779" y="2293582"/>
            <a:ext cx="10263600" cy="4042800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62461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723169" y="1709733"/>
            <a:ext cx="10745655" cy="285273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marL="0" lvl="0" indent="0">
              <a:buNone/>
              <a:defRPr/>
            </a:pPr>
            <a:r>
              <a:rPr lang="fr-FR"/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14090247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80" y="5941015"/>
            <a:ext cx="1242585" cy="7907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5879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sp>
        <p:nvSpPr>
          <p:cNvPr id="28246910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214210075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54114958" name=""/>
          <p:cNvSpPr txBox="1"/>
          <p:nvPr/>
        </p:nvSpPr>
        <p:spPr bwMode="auto">
          <a:xfrm flipH="0" flipV="0">
            <a:off x="690145" y="1872925"/>
            <a:ext cx="10839090" cy="2423519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Méthodes utilisées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Préprocessing simple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Applique des transformations basiques aux images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Data augmentation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Génère des versions modifiées des images d'entraînement (rotation, zoom, etc.)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Dataset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Utilise un ensemble de données statique sans modifications supplémentaires</a:t>
            </a:r>
            <a:endParaRPr sz="1700" b="0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Dataset avec data augmentation 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Combine un ensemble de données de base avec des techniques de data augmentation appliquées dynamiquement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58813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sp>
        <p:nvSpPr>
          <p:cNvPr id="252062467" name=""/>
          <p:cNvSpPr txBox="1"/>
          <p:nvPr/>
        </p:nvSpPr>
        <p:spPr bwMode="auto">
          <a:xfrm flipH="0" flipV="0">
            <a:off x="1077600" y="1872927"/>
            <a:ext cx="9902354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lvl="1" algn="l">
              <a:lnSpc>
                <a:spcPct val="150000"/>
              </a:lnSpc>
              <a:defRPr/>
            </a:pP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2327976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453308981" name=""/>
          <p:cNvSpPr txBox="1"/>
          <p:nvPr/>
        </p:nvSpPr>
        <p:spPr bwMode="auto">
          <a:xfrm flipH="0" flipV="0">
            <a:off x="690145" y="1872925"/>
            <a:ext cx="10909290" cy="2034900"/>
          </a:xfrm>
          <a:prstGeom prst="rect">
            <a:avLst/>
          </a:prstGeom>
          <a:noFill/>
          <a:ln w="6349">
            <a:solidFill>
              <a:schemeClr val="accent1">
                <a:lumMod val="50196"/>
              </a:schemeClr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Méthodes utilisées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683928" lvl="1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Calcul des scores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1083978" lvl="2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Capacité du modèle à généraliser (overfitting, underfitting)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1083978" lvl="2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Capacité à prédire les catégories attendues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1083978" lvl="2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Temps de calcul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graphicFrame>
        <p:nvGraphicFramePr>
          <p:cNvPr id="1043017436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1077602" y="4584777"/>
          <a:ext cx="9417693" cy="1046410"/>
        </p:xfrm>
        <a:graphic>
          <a:graphicData uri="http://schemas.openxmlformats.org/presentationml/2006/ole">
            <p:oleObj name="oleObj" r:id="rId5" imgW="4857750" imgH="533400" progId="asc.{DB38923B-A8C0-4DE9-8AEE-A61BB5C901A5}">
              <p:embed/>
              <p:pic>
                <p:nvPicPr>
                  <p:cNvPr id="1043017436" name=""/>
                  <p:cNvPicPr/>
                  <p:nvPr/>
                </p:nvPicPr>
                <p:blipFill>
                  <a:blip r:embed="rId4"/>
                  <a:stretch/>
                </p:blipFill>
                <p:spPr bwMode="auto">
                  <a:xfrm flipH="0" flipV="0">
                    <a:off x="1077602" y="4584777"/>
                    <a:ext cx="9417693" cy="104641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01796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2603234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146773714" name=""/>
          <p:cNvSpPr txBox="1"/>
          <p:nvPr/>
        </p:nvSpPr>
        <p:spPr bwMode="auto">
          <a:xfrm flipH="0" flipV="0">
            <a:off x="1077600" y="1872927"/>
            <a:ext cx="9847992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Matrices de confusion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1855250556" name=""/>
          <p:cNvPicPr>
            <a:picLocks noChangeAspect="1"/>
          </p:cNvPicPr>
          <p:nvPr/>
        </p:nvPicPr>
        <p:blipFill>
          <a:blip r:embed="rId4"/>
          <a:srcRect l="0" t="0" r="0" b="49820"/>
          <a:stretch/>
        </p:blipFill>
        <p:spPr bwMode="auto">
          <a:xfrm flipH="0" flipV="0">
            <a:off x="2479513" y="2272625"/>
            <a:ext cx="7232972" cy="434743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54757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11863487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403767455" name=""/>
          <p:cNvSpPr txBox="1"/>
          <p:nvPr/>
        </p:nvSpPr>
        <p:spPr bwMode="auto">
          <a:xfrm flipH="0" flipV="0">
            <a:off x="1077599" y="1872927"/>
            <a:ext cx="9847991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Matrices de confusion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47270889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632165" y="2288319"/>
            <a:ext cx="8927669" cy="443346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58801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5 </a:t>
            </a:r>
            <a:r>
              <a:rPr lang="fr-FR"/>
              <a:t>Classification supervisée</a:t>
            </a:r>
            <a:endParaRPr lang="fr-FR"/>
          </a:p>
        </p:txBody>
      </p:sp>
      <p:pic>
        <p:nvPicPr>
          <p:cNvPr id="4450580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1318517503" name=""/>
          <p:cNvSpPr txBox="1"/>
          <p:nvPr/>
        </p:nvSpPr>
        <p:spPr bwMode="auto">
          <a:xfrm flipH="0" flipV="0">
            <a:off x="1077600" y="1872927"/>
            <a:ext cx="9847992" cy="4804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lnSpc>
                <a:spcPct val="150000"/>
              </a:lnSpc>
              <a:buFont typeface="Arial"/>
              <a:buChar char="•"/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Matrices de confusion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  <p:pic>
        <p:nvPicPr>
          <p:cNvPr id="303762606" name=""/>
          <p:cNvPicPr>
            <a:picLocks noChangeAspect="1"/>
          </p:cNvPicPr>
          <p:nvPr/>
        </p:nvPicPr>
        <p:blipFill>
          <a:blip r:embed="rId4"/>
          <a:srcRect l="0" t="50245" r="0" b="0"/>
          <a:stretch/>
        </p:blipFill>
        <p:spPr bwMode="auto">
          <a:xfrm flipH="0" flipV="0">
            <a:off x="2583838" y="2424550"/>
            <a:ext cx="7024321" cy="418628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1757578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4"/>
            <a:ext cx="9626224" cy="2852734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6 </a:t>
            </a:r>
            <a:r>
              <a:rPr/>
              <a:t>Test d’une API</a:t>
            </a:r>
            <a:br>
              <a:rPr/>
            </a:br>
            <a:endParaRPr/>
          </a:p>
        </p:txBody>
      </p:sp>
      <p:pic>
        <p:nvPicPr>
          <p:cNvPr id="12239631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265584" y="6215465"/>
            <a:ext cx="822460" cy="462633"/>
          </a:xfrm>
          <a:prstGeom prst="rect">
            <a:avLst/>
          </a:prstGeom>
          <a:ln w="12699">
            <a:solidFill>
              <a:schemeClr val="accent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64835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2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6 </a:t>
            </a:r>
            <a:r>
              <a:rPr lang="fr-FR"/>
              <a:t>Test d’une API</a:t>
            </a:r>
            <a:endParaRPr lang="fr-FR"/>
          </a:p>
        </p:txBody>
      </p:sp>
      <p:pic>
        <p:nvPicPr>
          <p:cNvPr id="16227646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9" y="5941014"/>
            <a:ext cx="1242585" cy="790734"/>
          </a:xfrm>
          <a:prstGeom prst="rect">
            <a:avLst/>
          </a:prstGeom>
        </p:spPr>
      </p:pic>
      <p:sp>
        <p:nvSpPr>
          <p:cNvPr id="476394550" name=""/>
          <p:cNvSpPr txBox="1"/>
          <p:nvPr/>
        </p:nvSpPr>
        <p:spPr bwMode="auto">
          <a:xfrm flipH="0" flipV="0">
            <a:off x="1077599" y="1872926"/>
            <a:ext cx="10161043" cy="2941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72865" indent="-272865"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Collecte de données via API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 Objectif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Elargissement de la gamme d'épicerie fine, spécifiquement les produits à base de champagne.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 APi Utilisée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Edamam Food.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Méthode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Requête API pour filtrer et collecter des informations sur les produits a base de champagne.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ea typeface="Source Sans Pro"/>
              <a:cs typeface="Source Sans Pro"/>
            </a:endParaRPr>
          </a:p>
          <a:p>
            <a:pPr marL="272865" indent="-272865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Filtre Appliqué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Recherche par ingrédient spécifique "champagne".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Données Collectées : </a:t>
            </a:r>
            <a:r>
              <a:rPr lang="fr-FR" sz="1700" b="0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foodid, label, category, foodContentsLabel, image.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39605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77601" y="365121"/>
            <a:ext cx="10036791" cy="1325556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fr-FR" sz="3600" b="0" i="0" u="none" strike="noStrike" cap="none" spc="0">
                <a:solidFill>
                  <a:srgbClr val="404040"/>
                </a:solidFill>
                <a:latin typeface="Orkney Medium"/>
                <a:ea typeface="Orkney Medium"/>
                <a:cs typeface="Orkney Medium"/>
              </a:rPr>
              <a:t>6 </a:t>
            </a:r>
            <a:r>
              <a:rPr lang="fr-FR"/>
              <a:t>Test d’une API</a:t>
            </a:r>
            <a:endParaRPr lang="fr-FR"/>
          </a:p>
        </p:txBody>
      </p:sp>
      <p:pic>
        <p:nvPicPr>
          <p:cNvPr id="5640801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800378" y="5941013"/>
            <a:ext cx="1242585" cy="790733"/>
          </a:xfrm>
          <a:prstGeom prst="rect">
            <a:avLst/>
          </a:prstGeom>
        </p:spPr>
      </p:pic>
      <p:sp>
        <p:nvSpPr>
          <p:cNvPr id="1077143455" name=""/>
          <p:cNvSpPr txBox="1"/>
          <p:nvPr/>
        </p:nvSpPr>
        <p:spPr bwMode="auto">
          <a:xfrm flipH="0" flipV="0">
            <a:off x="1077599" y="1872926"/>
            <a:ext cx="10308283" cy="39780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700" b="1" i="0" u="none" strike="noStrike" cap="none" spc="0">
                <a:solidFill>
                  <a:schemeClr val="tx1"/>
                </a:solidFill>
                <a:latin typeface="Source Sans Pro"/>
                <a:ea typeface="Source Sans Pro"/>
                <a:cs typeface="Source Sans Pro"/>
              </a:rPr>
              <a:t>Principes Clés du RGPD</a:t>
            </a:r>
            <a:endParaRPr lang="fr-FR" sz="1700" b="1" i="0" u="none" strike="noStrike" cap="none" spc="0">
              <a:solidFill>
                <a:schemeClr val="tx1"/>
              </a:solidFill>
              <a:latin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Ne collecter que les données nécessaire pour atteindre l’objectif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Etre transparent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Organiser et faciliter l’exercice des droits des personnes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Fixer des durées de conservation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marL="283878" indent="-283878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Sécuriser les données et identifier les risques</a:t>
            </a:r>
            <a:endParaRPr lang="fr-FR" sz="1700" b="0">
              <a:latin typeface="Source Sans Pro"/>
              <a:ea typeface="Source Sans Pro"/>
              <a:cs typeface="Source Sans Pro"/>
            </a:endParaRPr>
          </a:p>
          <a:p>
            <a:pPr algn="l">
              <a:lnSpc>
                <a:spcPct val="200000"/>
              </a:lnSpc>
              <a:defRPr/>
            </a:pPr>
            <a:r>
              <a:rPr lang="fr-FR" sz="1700" b="1">
                <a:latin typeface="Source Sans Pro"/>
                <a:ea typeface="Source Sans Pro"/>
                <a:cs typeface="Source Sans Pro"/>
              </a:rPr>
              <a:t>Dans notre cas</a:t>
            </a:r>
            <a:endParaRPr lang="fr-FR" sz="1700" b="1">
              <a:latin typeface="Source Sans Pro"/>
              <a:ea typeface="Source Sans Pro"/>
              <a:cs typeface="Source Sans Pro"/>
            </a:endParaRPr>
          </a:p>
          <a:p>
            <a:pPr marL="272865" indent="-272865" algn="l">
              <a:lnSpc>
                <a:spcPct val="200000"/>
              </a:lnSpc>
              <a:buFont typeface="Arial"/>
              <a:buChar char="•"/>
              <a:defRPr/>
            </a:pPr>
            <a:r>
              <a:rPr lang="fr-FR" sz="1700" b="0">
                <a:latin typeface="Source Sans Pro"/>
                <a:ea typeface="Source Sans Pro"/>
                <a:cs typeface="Source Sans Pro"/>
              </a:rPr>
              <a:t>Collecte limitée aux informations nécessaires, aucune donnée personnelle n’est traitée.</a:t>
            </a:r>
            <a:endParaRPr sz="1700" b="0">
              <a:latin typeface="Source Sans Pro"/>
              <a:ea typeface="Source Sans Pro"/>
              <a:cs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3210152" name="Title 1"/>
          <p:cNvSpPr>
            <a:spLocks noGrp="1"/>
          </p:cNvSpPr>
          <p:nvPr>
            <p:ph type="title"/>
          </p:nvPr>
        </p:nvSpPr>
        <p:spPr bwMode="auto">
          <a:xfrm>
            <a:off x="1282887" y="1709733"/>
            <a:ext cx="9626223" cy="2852733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/>
              <a:t>7 </a:t>
            </a:r>
            <a:r>
              <a:rPr lang="fr-FR"/>
              <a:t>Conclusion</a:t>
            </a:r>
            <a:br>
              <a:rPr/>
            </a:br>
            <a:endParaRPr/>
          </a:p>
        </p:txBody>
      </p:sp>
      <p:pic>
        <p:nvPicPr>
          <p:cNvPr id="11776147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265583" y="6215464"/>
            <a:ext cx="822459" cy="462632"/>
          </a:xfrm>
          <a:prstGeom prst="rect">
            <a:avLst/>
          </a:prstGeom>
          <a:ln w="12699">
            <a:solidFill>
              <a:schemeClr val="accent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184853" name="Title 1"/>
          <p:cNvSpPr>
            <a:spLocks noGrp="1"/>
          </p:cNvSpPr>
          <p:nvPr>
            <p:ph type="title"/>
          </p:nvPr>
        </p:nvSpPr>
        <p:spPr bwMode="auto">
          <a:xfrm>
            <a:off x="1261782" y="365123"/>
            <a:ext cx="9668435" cy="1325562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sz="3600"/>
              <a:t>7 Conclusion</a:t>
            </a:r>
            <a:endParaRPr sz="3600"/>
          </a:p>
        </p:txBody>
      </p:sp>
      <p:sp>
        <p:nvSpPr>
          <p:cNvPr id="832683568" name="Content Placeholder 2"/>
          <p:cNvSpPr>
            <a:spLocks noGrp="1"/>
          </p:cNvSpPr>
          <p:nvPr>
            <p:ph idx="1"/>
          </p:nvPr>
        </p:nvSpPr>
        <p:spPr bwMode="auto">
          <a:xfrm>
            <a:off x="1261782" y="1825623"/>
            <a:ext cx="9668433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lnSpc>
                <a:spcPct val="150000"/>
              </a:lnSpc>
              <a:defRPr/>
            </a:pPr>
            <a:r>
              <a:rPr lang="fr-FR"/>
              <a:t>Classification automatique d’articles en utilisant les descriptions ou les images est réalisable.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Classification plus avancée avec un modèle préentrainé (VGG16 avec data augmentation)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Exploration de d’autres variables (type de produits, saisonalité)</a:t>
            </a:r>
            <a:endParaRPr lang="fr-FR"/>
          </a:p>
          <a:p>
            <a:pPr>
              <a:lnSpc>
                <a:spcPct val="150000"/>
              </a:lnSpc>
              <a:defRPr/>
            </a:pPr>
            <a:r>
              <a:rPr lang="fr-FR"/>
              <a:t>Collecte des 10 premiers produits à base de champagne via requête API.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40 1">
      <a:dk1>
        <a:srgbClr val="000000"/>
      </a:dk1>
      <a:lt1>
        <a:srgbClr val="404040"/>
      </a:lt1>
      <a:dk2>
        <a:srgbClr val="44546A"/>
      </a:dk2>
      <a:lt2>
        <a:srgbClr val="404040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909090"/>
      </a:hlink>
      <a:folHlink>
        <a:srgbClr val="656565"/>
      </a:folHlink>
    </a:clrScheme>
    <a:fontScheme name="Office Them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ONLYOFFICE/9.0.0.172</Application>
  <PresentationFormat>On-screen Show (4:3)</PresentationFormat>
  <Paragraphs>0</Paragraphs>
  <Slides>32</Slides>
  <Notes>32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Stephens</dc:creator>
  <cp:lastModifiedBy/>
  <cp:revision>36</cp:revision>
  <dcterms:created xsi:type="dcterms:W3CDTF">2018-07-30T23:03:22Z</dcterms:created>
  <dcterms:modified xsi:type="dcterms:W3CDTF">2025-07-08T08:00:47Z</dcterms:modified>
</cp:coreProperties>
</file>