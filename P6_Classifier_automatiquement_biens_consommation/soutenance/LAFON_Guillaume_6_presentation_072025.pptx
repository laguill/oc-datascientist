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9.xml" ContentType="application/vnd.openxmlformats-officedocument.presentationml.slide+xml"/>
  <Override PartName="/ppt/slides/slide3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notesSlides/notesSlide34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3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38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 /><Relationship Id="rId45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29626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35203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696079-EBA5-8C41-96F3-032D52D44482}" type="datetimeFigureOut">
              <a:rPr lang="en-US"/>
              <a:t>3/20/19</a:t>
            </a:fld>
            <a:endParaRPr lang="en-US"/>
          </a:p>
        </p:txBody>
      </p:sp>
      <p:sp>
        <p:nvSpPr>
          <p:cNvPr id="13747982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1273658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670245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185034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C5E9DD-A3A8-294A-AA05-12D080B6188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146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46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963024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C5E9DD-A3A8-294A-AA05-12D080B6188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74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322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3623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A01D2-5ECB-7539-D460-03EF5ADBC1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483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1810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901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0D49C-A572-668E-4C69-F44C60C72A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701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9669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53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A0A60-C46F-9E13-8572-E908049B11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812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6752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18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0ECEA-A2F1-9B08-C4EE-659D2711B2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125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368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23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5E85DB-E61D-FE34-23C0-FDF593C583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635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7604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8403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360C92-40C3-47BE-377F-5EB19B8483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542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3462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432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7B2930-D2A9-53ED-BD0C-F8AEC3B929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667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145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677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25AD1D-9A64-CE9C-98EB-087AF74885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053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645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671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F2E225-18C1-8E41-A488-96AB348251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0668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4862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983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C1B853-7A87-27AB-BDB0-8905770861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359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611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6455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54EC70-AF80-C28F-9416-A32D901455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51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880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31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925E86-44B4-5E35-7AD0-EBAED0B5AB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950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41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78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117022-17CF-426E-565B-DF0AC246C4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518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123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175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6DE7F5-A8C4-ABED-ECAE-4902FAE139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781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350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639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76C3C-D78D-6674-F925-D8C35B8BCA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368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5308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9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E66768-8CA6-6DD1-1B30-0991C767C3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057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61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9063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DBD6DA-FD33-D55E-41D6-7684115300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406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9992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844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6C27F4-BC3D-DCFC-7431-428064EB73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447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2266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15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AA394A-D2C5-DA9E-7008-07B2FCB64F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857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229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06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9C3C20-94C6-01BC-76F8-E978F3DCDE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031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01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73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2AE031-F616-2DC0-A9F9-1E00B4888A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332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309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863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EA1F2E-C6C7-23F6-150D-5B0DA67889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96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5057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711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1B66E6-76EF-2F8F-F645-3C4690E7A4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8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580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434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0EFD8A-F35C-11EC-3FAD-62D55BA02D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512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6503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310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FAD80-82D8-40E1-9695-67416D799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914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4857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611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72793A-ADFC-E4F8-0F59-EB7CE81F6E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720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2797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708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E64BF1-3726-DA88-F64B-F7C75B5524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49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67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44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D82DE-F211-8819-7BA0-3A72184143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574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865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583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5A5E05-D3AB-F4F2-A381-0B8286310E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812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9065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622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8FF1BE-A70B-A78F-092B-0777DD51E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04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7486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338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7328A-5182-CF49-CD83-1BA8FD3EB2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11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3282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039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CB61E9-7EC9-EBA9-A7D7-4D07D17E93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2476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56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D1F68C-CE9C-0972-3BAB-36F39B14B9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482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7482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31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D1390-A821-575D-E877-0CB4A26931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361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16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45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31FBBD-A885-D456-B289-6A345CAA33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487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4347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236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6C15E9-4C81-7619-85B9-C579EB7418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000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12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674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FDC245-4463-E9CF-FD22-7CDE5742BB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631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0979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263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F2AF3-555E-BC7C-C06B-686981419C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733581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1878519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49703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3548249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172273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220133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933509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4929707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878541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3853756" name="Picture 4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8751877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316963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1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7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8.png"/><Relationship Id="rId4" Type="http://schemas.openxmlformats.org/officeDocument/2006/relationships/image" Target="../media/image59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8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28924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	</a:t>
            </a:r>
            <a:r>
              <a:rPr lang="fr-FR"/>
              <a:t>Projet 6</a:t>
            </a:r>
            <a:endParaRPr lang="en-US"/>
          </a:p>
        </p:txBody>
      </p:sp>
      <p:sp>
        <p:nvSpPr>
          <p:cNvPr id="144062831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 lang="fr-FR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Classifier automatiquement des biens de consommations</a:t>
            </a:r>
            <a:b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Guillaume LAFON</a:t>
            </a:r>
            <a:endParaRPr sz="2400"/>
          </a:p>
          <a:p>
            <a:pPr>
              <a:defRPr/>
            </a:pP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64667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Sommaire</a:t>
            </a:r>
            <a:endParaRPr lang="fr-FR"/>
          </a:p>
        </p:txBody>
      </p:sp>
      <p:sp>
        <p:nvSpPr>
          <p:cNvPr id="33796477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64734" y="1825623"/>
            <a:ext cx="986253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3" action="ppaction://hlinksldjump" tooltip="Diapositive 3"/>
              </a:rPr>
              <a:t>1. Introduction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sz="1700" b="1" u="sng">
                <a:solidFill>
                  <a:schemeClr val="tx1"/>
                </a:solidFill>
                <a:hlinkClick r:id="rId4" action="ppaction://hlinksldjump" tooltip="Diapositive 5"/>
              </a:rPr>
              <a:t>2. Présentation du jeu de données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5" action="ppaction://hlinksldjump" tooltip="Diapositive 7"/>
              </a:rPr>
              <a:t>3 Etude de faisabilité sur les description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/>
              <a:t>4. Etude de faisabilité sur les images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/>
              <a:t>5 Classification supervisée des images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none">
                <a:solidFill>
                  <a:schemeClr val="tx1"/>
                </a:solidFill>
              </a:rPr>
              <a:t>6. Test d’une API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i="0" strike="noStrike" cap="none" spc="0">
                <a:latin typeface="Source Sans Pro"/>
                <a:ea typeface="Source Sans Pro"/>
                <a:cs typeface="Source Sans Pro"/>
              </a:rPr>
              <a:t>6 Conclusion</a:t>
            </a:r>
            <a:endParaRPr sz="1700" b="1" u="sng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3796477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221507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6"/>
            <a:ext cx="9626226" cy="285273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Introduction</a:t>
            </a:r>
            <a:br>
              <a:rPr/>
            </a:br>
            <a:endParaRPr/>
          </a:p>
        </p:txBody>
      </p:sp>
      <p:pic>
        <p:nvPicPr>
          <p:cNvPr id="15040947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9254" y="3967840"/>
            <a:ext cx="4013491" cy="25540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64926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5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194389058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b="1"/>
              <a:t>1.1 Contexte</a:t>
            </a:r>
            <a:endParaRPr lang="fr-FR"/>
          </a:p>
          <a:p>
            <a:pPr marL="0" lvl="0" indent="0">
              <a:buNone/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Place de marché est une plateforme de e-commerce en pleine expansion qui propose une solution de vente sur les marketplaces en ligne.</a:t>
            </a:r>
            <a:endParaRPr lang="fr-FR"/>
          </a:p>
          <a:p>
            <a:pPr marL="0" lvl="0" indent="0">
              <a:lnSpc>
                <a:spcPct val="100000"/>
              </a:lnSpc>
              <a:spcBef>
                <a:spcPts val="2998"/>
              </a:spcBef>
              <a:buNone/>
              <a:defRPr/>
            </a:pPr>
            <a:r>
              <a:rPr lang="fr-FR" b="1"/>
              <a:t>1.2 Mission</a:t>
            </a:r>
            <a:endParaRPr lang="fr-FR" b="1"/>
          </a:p>
          <a:p>
            <a:pPr marL="0" lvl="0" indent="0">
              <a:lnSpc>
                <a:spcPct val="90000"/>
              </a:lnSpc>
              <a:spcBef>
                <a:spcPts val="566"/>
              </a:spcBef>
              <a:buNone/>
              <a:defRPr/>
            </a:pPr>
            <a:r>
              <a:rPr lang="fr-FR" b="0"/>
              <a:t>Formulation de la problématique :</a:t>
            </a:r>
            <a:endParaRPr b="0"/>
          </a:p>
          <a:p>
            <a:pPr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Automatiser l’attribution des catégories aux produits mis en vente pour améliorer l’expérience utilisateur.</a:t>
            </a:r>
            <a:endParaRPr lang="fr-FR" sz="1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lvl="0">
              <a:defRPr/>
            </a:pPr>
            <a:endParaRPr lang="fr-FR"/>
          </a:p>
          <a:p>
            <a:pPr marL="0" lvl="0" indent="0">
              <a:spcBef>
                <a:spcPts val="2997"/>
              </a:spcBef>
              <a:buNone/>
              <a:defRPr/>
            </a:pP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1.3 Données</a:t>
            </a:r>
            <a:endParaRPr sz="1700"/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Jeu de données contenant des informations sur les produits mis en vente (noms, descriptions et images, catégories)</a:t>
            </a:r>
            <a:endParaRPr lang="fr-FR"/>
          </a:p>
        </p:txBody>
      </p:sp>
      <p:pic>
        <p:nvPicPr>
          <p:cNvPr id="267188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50423" y="584197"/>
            <a:ext cx="1950812" cy="1241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94389058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9777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70" y="1709734"/>
            <a:ext cx="10745656" cy="285273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2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du jeu de données</a:t>
            </a:r>
            <a:endParaRPr lang="fr-FR"/>
          </a:p>
        </p:txBody>
      </p:sp>
      <p:pic>
        <p:nvPicPr>
          <p:cNvPr id="13051305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1" y="5941016"/>
            <a:ext cx="1242585" cy="7907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5628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du jeu de données</a:t>
            </a:r>
            <a:endParaRPr sz="3600"/>
          </a:p>
        </p:txBody>
      </p:sp>
      <p:sp>
        <p:nvSpPr>
          <p:cNvPr id="1843726029" name=""/>
          <p:cNvSpPr txBox="1"/>
          <p:nvPr/>
        </p:nvSpPr>
        <p:spPr bwMode="auto">
          <a:xfrm flipH="0" flipV="0">
            <a:off x="1077601" y="1872927"/>
            <a:ext cx="9714435" cy="1646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1050 produits</a:t>
            </a:r>
            <a:endParaRPr sz="1700" b="0">
              <a:latin typeface="Source Sans Pro"/>
              <a:cs typeface="Source Sans Pro"/>
            </a:endParaRPr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Aucune données manquantes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7 catégories de produits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0">
                <a:latin typeface="Source Sans Pro"/>
                <a:ea typeface="Source Sans Pro"/>
                <a:cs typeface="Source Sans Pro"/>
              </a:rPr>
              <a:t>150 produits par catégorie</a:t>
            </a:r>
            <a:endParaRPr lang="fr-FR" sz="1700" b="0">
              <a:latin typeface="Source Sans Pro"/>
              <a:cs typeface="Source Sans Pro"/>
            </a:endParaRPr>
          </a:p>
        </p:txBody>
      </p:sp>
      <p:pic>
        <p:nvPicPr>
          <p:cNvPr id="123706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pic>
        <p:nvPicPr>
          <p:cNvPr id="182386342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29880" y="3519207"/>
            <a:ext cx="3941655" cy="307487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06058077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751413" y="3545380"/>
            <a:ext cx="4968247" cy="304869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38593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1066764931" name=""/>
          <p:cNvSpPr txBox="1"/>
          <p:nvPr/>
        </p:nvSpPr>
        <p:spPr bwMode="auto">
          <a:xfrm flipH="0" flipV="0">
            <a:off x="1077601" y="1872927"/>
            <a:ext cx="9821355" cy="20349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Prétraitement des descriptions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Nettoyage : </a:t>
            </a:r>
            <a:r>
              <a:rPr lang="fr-FR" sz="1700" b="0">
                <a:latin typeface="Source Sans Pro"/>
                <a:ea typeface="Source Sans Pro"/>
                <a:cs typeface="Source Sans Pro"/>
              </a:rPr>
              <a:t>Mise en minuscule, supression de la ponctuation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Tokenisation : </a:t>
            </a:r>
            <a:r>
              <a:rPr lang="fr-FR" sz="1700" b="0">
                <a:latin typeface="Source Sans Pro"/>
                <a:ea typeface="Source Sans Pro"/>
                <a:cs typeface="Source Sans Pro"/>
              </a:rPr>
              <a:t>Segmentation des mots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StopWords : </a:t>
            </a:r>
            <a:r>
              <a:rPr lang="fr-FR" sz="1700" b="0">
                <a:latin typeface="Source Sans Pro"/>
                <a:ea typeface="Source Sans Pro"/>
                <a:cs typeface="Source Sans Pro"/>
              </a:rPr>
              <a:t>Suppression des mots de liaisons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Lemmatisation : </a:t>
            </a:r>
            <a:r>
              <a:rPr lang="fr-FR" sz="1700" b="0">
                <a:latin typeface="Source Sans Pro"/>
                <a:ea typeface="Source Sans Pro"/>
                <a:cs typeface="Source Sans Pro"/>
              </a:rPr>
              <a:t>Recherche des lemmes/radicaux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2948490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97854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2095104294" name=""/>
          <p:cNvSpPr txBox="1"/>
          <p:nvPr/>
        </p:nvSpPr>
        <p:spPr bwMode="auto">
          <a:xfrm flipH="0" flipV="0">
            <a:off x="1077601" y="1872927"/>
            <a:ext cx="9821715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Prétraitement des descriptions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5805074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pic>
        <p:nvPicPr>
          <p:cNvPr id="55759503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83448" y="2182433"/>
            <a:ext cx="9010023" cy="4501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78999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2126055316" name=""/>
          <p:cNvSpPr txBox="1"/>
          <p:nvPr/>
        </p:nvSpPr>
        <p:spPr bwMode="auto">
          <a:xfrm flipH="0" flipV="0">
            <a:off x="690146" y="1872926"/>
            <a:ext cx="2534972" cy="2812139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Méthodes utilisées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Bag of Words</a:t>
            </a:r>
            <a:endParaRPr lang="fr-FR" sz="1700" b="0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sz="1700" b="1">
                <a:latin typeface="Source Sans Pro"/>
                <a:cs typeface="Source Sans Pro"/>
              </a:rPr>
              <a:t>Tf-Idf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sz="1700" b="1">
                <a:latin typeface="Source Sans Pro"/>
                <a:cs typeface="Source Sans Pro"/>
              </a:rPr>
              <a:t>Word2Vec</a:t>
            </a:r>
            <a:endParaRPr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BERT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USE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MPNET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9334639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sp>
        <p:nvSpPr>
          <p:cNvPr id="1067016206" name=""/>
          <p:cNvSpPr txBox="1"/>
          <p:nvPr/>
        </p:nvSpPr>
        <p:spPr bwMode="auto">
          <a:xfrm flipH="0" flipV="0">
            <a:off x="6454136" y="1872927"/>
            <a:ext cx="2538932" cy="869039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Model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KMeans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390055060" name=""/>
          <p:cNvSpPr txBox="1"/>
          <p:nvPr/>
        </p:nvSpPr>
        <p:spPr bwMode="auto">
          <a:xfrm flipH="0" flipV="0">
            <a:off x="9338112" y="1872927"/>
            <a:ext cx="2551532" cy="869039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Performance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ARI score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2037620522" name=""/>
          <p:cNvSpPr txBox="1"/>
          <p:nvPr/>
        </p:nvSpPr>
        <p:spPr bwMode="auto">
          <a:xfrm flipH="0" flipV="0">
            <a:off x="3570161" y="1872927"/>
            <a:ext cx="2559452" cy="869039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Dimensions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PCA + TSNE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65940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Etude de faisabilité sur les descriptions</a:t>
            </a:r>
            <a:endParaRPr lang="fr-FR" sz="3600"/>
          </a:p>
        </p:txBody>
      </p:sp>
      <p:sp>
        <p:nvSpPr>
          <p:cNvPr id="1079416548" name=""/>
          <p:cNvSpPr txBox="1"/>
          <p:nvPr/>
        </p:nvSpPr>
        <p:spPr bwMode="auto">
          <a:xfrm flipH="0" flipV="0">
            <a:off x="1077601" y="1872927"/>
            <a:ext cx="9902355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20620327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00380" y="5941015"/>
            <a:ext cx="1242585" cy="790735"/>
          </a:xfrm>
          <a:prstGeom prst="rect">
            <a:avLst/>
          </a:prstGeom>
        </p:spPr>
      </p:pic>
      <p:sp>
        <p:nvSpPr>
          <p:cNvPr id="1618197375" name=""/>
          <p:cNvSpPr txBox="1"/>
          <p:nvPr/>
        </p:nvSpPr>
        <p:spPr bwMode="auto">
          <a:xfrm flipH="0" flipV="0">
            <a:off x="1077601" y="1872927"/>
            <a:ext cx="9829634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>
                <a:latin typeface="Source Sans Pro"/>
                <a:ea typeface="Source Sans Pro"/>
                <a:cs typeface="Source Sans Pro"/>
              </a:rPr>
              <a:t>Analyse des résultats</a:t>
            </a: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9932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1275816303" name=""/>
          <p:cNvSpPr txBox="1"/>
          <p:nvPr/>
        </p:nvSpPr>
        <p:spPr bwMode="auto">
          <a:xfrm flipH="0" flipV="0">
            <a:off x="1077602" y="1872927"/>
            <a:ext cx="9747196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Exploration 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Nombre de clients en progression sur la dernière année</a:t>
            </a:r>
            <a:endParaRPr lang="fr-FR"/>
          </a:p>
        </p:txBody>
      </p:sp>
      <p:pic>
        <p:nvPicPr>
          <p:cNvPr id="1657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0071364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712742" y="1953432"/>
            <a:ext cx="4477766" cy="37253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8697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1471641675" name=""/>
          <p:cNvSpPr txBox="1"/>
          <p:nvPr/>
        </p:nvSpPr>
        <p:spPr bwMode="auto">
          <a:xfrm flipH="0" flipV="0">
            <a:off x="1077602" y="1872927"/>
            <a:ext cx="9795076" cy="2240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Feature Engineering 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Fusion de trois tables :</a:t>
            </a:r>
            <a:endParaRPr lang="fr-FR"/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order_reviews</a:t>
            </a:r>
            <a:endParaRPr lang="fr-FR"/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orders</a:t>
            </a:r>
            <a:endParaRPr lang="fr-FR"/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customer</a:t>
            </a:r>
            <a:endParaRPr lang="fr-FR"/>
          </a:p>
        </p:txBody>
      </p:sp>
      <p:pic>
        <p:nvPicPr>
          <p:cNvPr id="10751750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200489206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80460" y="1953432"/>
            <a:ext cx="6164991" cy="370990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76141336" name=""/>
          <p:cNvSpPr/>
          <p:nvPr/>
        </p:nvSpPr>
        <p:spPr bwMode="auto">
          <a:xfrm>
            <a:off x="5880459" y="1953430"/>
            <a:ext cx="6164667" cy="3709905"/>
          </a:xfrm>
          <a:custGeom>
            <a:avLst/>
            <a:gdLst/>
            <a:ahLst/>
            <a:cxnLst/>
            <a:rect l="0" t="0" r="r" b="b"/>
            <a:pathLst>
              <a:path w="6164667" h="3709906" fill="norm" stroke="1" extrusionOk="0">
                <a:moveTo>
                  <a:pt x="0" y="0"/>
                </a:moveTo>
                <a:cubicBezTo>
                  <a:pt x="0" y="0"/>
                  <a:pt x="6164667" y="0"/>
                  <a:pt x="6164667" y="0"/>
                </a:cubicBezTo>
                <a:cubicBezTo>
                  <a:pt x="6164667" y="0"/>
                  <a:pt x="6164667" y="3709906"/>
                  <a:pt x="6164667" y="3709906"/>
                </a:cubicBezTo>
                <a:cubicBezTo>
                  <a:pt x="6164667" y="3709906"/>
                  <a:pt x="3082494" y="3709906"/>
                  <a:pt x="3082494" y="3709906"/>
                </a:cubicBezTo>
                <a:cubicBezTo>
                  <a:pt x="3082494" y="3709906"/>
                  <a:pt x="3082494" y="1475568"/>
                  <a:pt x="3082494" y="1475568"/>
                </a:cubicBezTo>
                <a:cubicBezTo>
                  <a:pt x="3082494" y="1475568"/>
                  <a:pt x="0" y="1475568"/>
                  <a:pt x="0" y="1475568"/>
                </a:cubicBezTo>
                <a:cubicBezTo>
                  <a:pt x="0" y="1475568"/>
                  <a:pt x="0" y="0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75000"/>
            </a:schemeClr>
          </a:soli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1581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2019292822" name=""/>
          <p:cNvSpPr txBox="1"/>
          <p:nvPr/>
        </p:nvSpPr>
        <p:spPr bwMode="auto">
          <a:xfrm flipH="0" flipV="0">
            <a:off x="1077601" y="1872927"/>
            <a:ext cx="9842235" cy="2240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Feature Engineering :</a:t>
            </a:r>
            <a:endParaRPr lang="fr-FR"/>
          </a:p>
          <a:p>
            <a:pPr marL="683929" lvl="1" indent="-283879"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Recency : Temps écoulé depuis le dernier achat du client.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Fréquency : Nombre total d'achats effectués par le client.</a:t>
            </a:r>
            <a:endParaRPr/>
          </a:p>
          <a:p>
            <a:pPr marL="683929" lvl="1" indent="-283879">
              <a:buFont typeface="Arial"/>
              <a:buChar char="•"/>
              <a:defRPr/>
            </a:pPr>
            <a:r>
              <a:rPr lang="fr-FR"/>
              <a:t>Monetary :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Valeur totale dépensée par le client.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683928" lvl="1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Avg_review : Note moyenne laissée par client 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endParaRPr lang="fr-FR"/>
          </a:p>
        </p:txBody>
      </p:sp>
      <p:pic>
        <p:nvPicPr>
          <p:cNvPr id="186028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27346380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42382" y="3994042"/>
            <a:ext cx="5107234" cy="2119649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01886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2130545982" name=""/>
          <p:cNvSpPr txBox="1"/>
          <p:nvPr/>
        </p:nvSpPr>
        <p:spPr bwMode="auto">
          <a:xfrm flipH="0" flipV="0">
            <a:off x="1077602" y="1872927"/>
            <a:ext cx="9990556" cy="18291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Feature Analysis: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Moins de 1% de valeurs manquantes... Suppression des lignes.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Seulement </a:t>
            </a:r>
            <a:r>
              <a:rPr lang="fr-FR" b="1"/>
              <a:t>3%</a:t>
            </a:r>
            <a:r>
              <a:rPr lang="fr-FR"/>
              <a:t> de clients ont passé commande plusieurs fois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80% des clients sont satisfaits (Note de 4 ou 5)</a:t>
            </a:r>
            <a:endParaRPr lang="fr-FR"/>
          </a:p>
        </p:txBody>
      </p:sp>
      <p:pic>
        <p:nvPicPr>
          <p:cNvPr id="15152419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828848562" name=""/>
          <p:cNvPicPr>
            <a:picLocks noChangeAspect="1"/>
          </p:cNvPicPr>
          <p:nvPr/>
        </p:nvPicPr>
        <p:blipFill>
          <a:blip r:embed="rId4"/>
          <a:srcRect l="34109" t="12619" r="32682" b="0"/>
          <a:stretch/>
        </p:blipFill>
        <p:spPr bwMode="auto">
          <a:xfrm flipH="0" flipV="0">
            <a:off x="3852642" y="3704616"/>
            <a:ext cx="3405971" cy="297348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2444812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427094" y="3704616"/>
            <a:ext cx="3705616" cy="2973483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890424283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60884" y="3704616"/>
            <a:ext cx="3005571" cy="2973483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07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sp>
        <p:nvSpPr>
          <p:cNvPr id="2016068847" name=""/>
          <p:cNvSpPr txBox="1"/>
          <p:nvPr/>
        </p:nvSpPr>
        <p:spPr bwMode="auto">
          <a:xfrm flipH="0" flipV="0">
            <a:off x="1077602" y="1872927"/>
            <a:ext cx="9853036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Feature Analysis et Transformation:</a:t>
            </a:r>
            <a:endParaRPr lang="fr-FR"/>
          </a:p>
        </p:txBody>
      </p:sp>
      <p:pic>
        <p:nvPicPr>
          <p:cNvPr id="19429929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630336089" name=""/>
          <p:cNvPicPr>
            <a:picLocks noChangeAspect="1"/>
          </p:cNvPicPr>
          <p:nvPr/>
        </p:nvPicPr>
        <p:blipFill>
          <a:blip r:embed="rId4"/>
          <a:srcRect l="70456" t="13861" r="0" b="0"/>
          <a:stretch/>
        </p:blipFill>
        <p:spPr bwMode="auto">
          <a:xfrm flipH="0" flipV="0">
            <a:off x="306116" y="2367377"/>
            <a:ext cx="2481656" cy="240214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320106941" name=""/>
          <p:cNvPicPr>
            <a:picLocks noChangeAspect="1"/>
          </p:cNvPicPr>
          <p:nvPr/>
        </p:nvPicPr>
        <p:blipFill>
          <a:blip r:embed="rId5"/>
          <a:srcRect l="34109" t="12619" r="32682" b="0"/>
          <a:stretch/>
        </p:blipFill>
        <p:spPr bwMode="auto">
          <a:xfrm flipH="0" flipV="0">
            <a:off x="2978664" y="2367377"/>
            <a:ext cx="2718786" cy="237355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259026582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2951897" y="4787173"/>
            <a:ext cx="2772321" cy="199444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238005178" name=""/>
          <p:cNvPicPr>
            <a:picLocks noChangeAspect="1"/>
          </p:cNvPicPr>
          <p:nvPr/>
        </p:nvPicPr>
        <p:blipFill>
          <a:blip r:embed="rId7"/>
          <a:srcRect l="33476" t="12792" r="32584" b="0"/>
          <a:stretch/>
        </p:blipFill>
        <p:spPr bwMode="auto">
          <a:xfrm flipH="0" flipV="0">
            <a:off x="5937888" y="2346135"/>
            <a:ext cx="2871583" cy="242339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595925871" name=""/>
          <p:cNvPicPr>
            <a:picLocks noChangeAspect="1"/>
          </p:cNvPicPr>
          <p:nvPr/>
        </p:nvPicPr>
        <p:blipFill>
          <a:blip r:embed="rId8"/>
          <a:srcRect l="0" t="6904" r="0" b="0"/>
          <a:stretch/>
        </p:blipFill>
        <p:spPr bwMode="auto">
          <a:xfrm flipH="0" flipV="0">
            <a:off x="5937888" y="4829663"/>
            <a:ext cx="2715808" cy="1951952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076053204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 flipH="0" flipV="0">
            <a:off x="9022531" y="2351226"/>
            <a:ext cx="2959560" cy="2374829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44282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5"/>
            <a:ext cx="9626225" cy="2852735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3 </a:t>
            </a:r>
            <a:r>
              <a:rPr lang="fr-FR"/>
              <a:t>Segmentation client</a:t>
            </a:r>
            <a:br>
              <a:rPr/>
            </a:br>
            <a:endParaRPr/>
          </a:p>
        </p:txBody>
      </p:sp>
      <p:pic>
        <p:nvPicPr>
          <p:cNvPr id="18021958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3189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675864876" name=""/>
          <p:cNvSpPr txBox="1"/>
          <p:nvPr/>
        </p:nvSpPr>
        <p:spPr bwMode="auto">
          <a:xfrm flipH="0" flipV="0">
            <a:off x="1077602" y="1872927"/>
            <a:ext cx="9982276" cy="18291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Algorithme de clusterings non supervisés (KMeans, Dbscans, Agglomerative Clustering)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Définition nombre de clusters optimum (Méthode du coude)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Evaluation de la qualité des clusters avec les coefficients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Calinski-Harabasz</a:t>
            </a:r>
            <a:r>
              <a:rPr lang="fr-FR"/>
              <a:t> et Silhouette</a:t>
            </a:r>
            <a:endParaRPr lang="fr-FR"/>
          </a:p>
        </p:txBody>
      </p:sp>
      <p:pic>
        <p:nvPicPr>
          <p:cNvPr id="1032393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2034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862603148" name=""/>
          <p:cNvSpPr txBox="1"/>
          <p:nvPr/>
        </p:nvSpPr>
        <p:spPr bwMode="auto">
          <a:xfrm flipH="0" flipV="0">
            <a:off x="1077602" y="1872927"/>
            <a:ext cx="9982276" cy="18291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Méthodologie: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Algorithme de clusterings non supervisés (KMeans, Dbscans, Agglomerative Clustering)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Définition nombre de clusters optimum (Méthode du coude)</a:t>
            </a:r>
            <a:endParaRPr lang="fr-FR"/>
          </a:p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Evaluation de la qualité des clusters avec les coefficients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Calinski-Harabasz</a:t>
            </a:r>
            <a:r>
              <a:rPr lang="fr-FR"/>
              <a:t> et Silhouette</a:t>
            </a:r>
            <a:endParaRPr lang="fr-FR"/>
          </a:p>
        </p:txBody>
      </p:sp>
      <p:pic>
        <p:nvPicPr>
          <p:cNvPr id="10919855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6848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838336280" name=""/>
          <p:cNvSpPr txBox="1"/>
          <p:nvPr/>
        </p:nvSpPr>
        <p:spPr bwMode="auto">
          <a:xfrm flipH="0" flipV="0">
            <a:off x="1077602" y="1872927"/>
            <a:ext cx="9993076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KMeans avec 4 variables:</a:t>
            </a:r>
            <a:endParaRPr lang="fr-FR"/>
          </a:p>
        </p:txBody>
      </p:sp>
      <p:pic>
        <p:nvPicPr>
          <p:cNvPr id="1184624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4191695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38846" y="2531216"/>
            <a:ext cx="10114306" cy="339365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29993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913208541" name=""/>
          <p:cNvSpPr txBox="1"/>
          <p:nvPr/>
        </p:nvSpPr>
        <p:spPr bwMode="auto">
          <a:xfrm flipH="0" flipV="0">
            <a:off x="1077602" y="1872927"/>
            <a:ext cx="10001716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KMeans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silhouette score =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0,32</a:t>
            </a:r>
            <a:endParaRPr lang="fr-FR"/>
          </a:p>
        </p:txBody>
      </p:sp>
      <p:pic>
        <p:nvPicPr>
          <p:cNvPr id="573568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64233600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66313" y="2501991"/>
            <a:ext cx="5716217" cy="422503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793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392323413" name=""/>
          <p:cNvSpPr txBox="1"/>
          <p:nvPr/>
        </p:nvSpPr>
        <p:spPr bwMode="auto">
          <a:xfrm flipH="0" flipV="0">
            <a:off x="1077602" y="1872927"/>
            <a:ext cx="10002796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KMeans avec 4 variables:</a:t>
            </a:r>
            <a:endParaRPr lang="fr-FR"/>
          </a:p>
        </p:txBody>
      </p:sp>
      <p:pic>
        <p:nvPicPr>
          <p:cNvPr id="3434714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6350145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42344" y="1381124"/>
            <a:ext cx="4733924" cy="31337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81144181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290519" y="4614073"/>
            <a:ext cx="9585749" cy="217725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303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055848774" name=""/>
          <p:cNvSpPr txBox="1"/>
          <p:nvPr/>
        </p:nvSpPr>
        <p:spPr bwMode="auto">
          <a:xfrm flipH="0" flipV="0">
            <a:off x="1077602" y="1872927"/>
            <a:ext cx="10013956" cy="1417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Dbscans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eps = 0.3 et MinPts = 8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silhouette score =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0,015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776252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2001141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520402" y="2257955"/>
            <a:ext cx="5561437" cy="4188827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37309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1579750604" name=""/>
          <p:cNvSpPr txBox="1"/>
          <p:nvPr/>
        </p:nvSpPr>
        <p:spPr bwMode="auto">
          <a:xfrm flipH="0" flipV="0">
            <a:off x="1077602" y="1872927"/>
            <a:ext cx="10064356" cy="1417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Dbscans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Nombre de clusters trop important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Long temps de calcul</a:t>
            </a:r>
            <a:endParaRPr lang="fr-FR"/>
          </a:p>
        </p:txBody>
      </p:sp>
      <p:pic>
        <p:nvPicPr>
          <p:cNvPr id="11905997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6682434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475719" y="1035843"/>
            <a:ext cx="4638674" cy="31337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53005223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03771" y="4319659"/>
            <a:ext cx="10383468" cy="235844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3383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587012905" name=""/>
          <p:cNvSpPr txBox="1"/>
          <p:nvPr/>
        </p:nvSpPr>
        <p:spPr bwMode="auto">
          <a:xfrm flipH="0" flipV="0">
            <a:off x="1077602" y="1872927"/>
            <a:ext cx="10034836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Agglomerative Clustering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silhouette score = </a:t>
            </a:r>
            <a:r>
              <a:rPr lang="fr-FR"/>
              <a:t>0.26</a:t>
            </a:r>
            <a:endParaRPr lang="fr-FR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848281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208633258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44599" y="2581767"/>
            <a:ext cx="5369794" cy="4109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846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Segmentation clients</a:t>
            </a:r>
            <a:endParaRPr sz="3600"/>
          </a:p>
        </p:txBody>
      </p:sp>
      <p:sp>
        <p:nvSpPr>
          <p:cNvPr id="589179514" name=""/>
          <p:cNvSpPr txBox="1"/>
          <p:nvPr/>
        </p:nvSpPr>
        <p:spPr bwMode="auto">
          <a:xfrm flipH="0" flipV="0">
            <a:off x="1077602" y="1872927"/>
            <a:ext cx="10081996" cy="1417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Agglomerative Clustering</a:t>
            </a:r>
            <a:r>
              <a:rPr lang="fr-FR" sz="2200" b="1"/>
              <a:t> avec 4 variables: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silhouette score moins bon qu’avec KMeans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Long temps de calcul</a:t>
            </a:r>
            <a:endParaRPr lang="fr-FR"/>
          </a:p>
        </p:txBody>
      </p:sp>
      <p:pic>
        <p:nvPicPr>
          <p:cNvPr id="13612373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54552912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04004" y="928686"/>
            <a:ext cx="4638674" cy="31337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63139799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51085" y="4241930"/>
            <a:ext cx="11014499" cy="2501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180227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4"/>
            <a:ext cx="9626224" cy="2852734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4</a:t>
            </a:r>
            <a:r>
              <a:rPr/>
              <a:t> </a:t>
            </a:r>
            <a:r>
              <a:rPr lang="fr-FR"/>
              <a:t>Sélection du modèle</a:t>
            </a:r>
            <a:br>
              <a:rPr/>
            </a:br>
            <a:endParaRPr/>
          </a:p>
        </p:txBody>
      </p:sp>
      <p:pic>
        <p:nvPicPr>
          <p:cNvPr id="1568571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91664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Selection du modèle</a:t>
            </a:r>
            <a:endParaRPr sz="3600"/>
          </a:p>
        </p:txBody>
      </p:sp>
      <p:sp>
        <p:nvSpPr>
          <p:cNvPr id="740555245" name=""/>
          <p:cNvSpPr txBox="1"/>
          <p:nvPr/>
        </p:nvSpPr>
        <p:spPr bwMode="auto">
          <a:xfrm flipH="0" flipV="0">
            <a:off x="1077602" y="1872927"/>
            <a:ext cx="10002796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KMeans avec 4 variables:</a:t>
            </a:r>
            <a:endParaRPr lang="fr-FR"/>
          </a:p>
        </p:txBody>
      </p:sp>
      <p:pic>
        <p:nvPicPr>
          <p:cNvPr id="204045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3816121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42344" y="1381124"/>
            <a:ext cx="4733924" cy="313372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05899521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290519" y="4614073"/>
            <a:ext cx="9585749" cy="217725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2134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Selection du modèle</a:t>
            </a:r>
            <a:endParaRPr sz="3600"/>
          </a:p>
        </p:txBody>
      </p:sp>
      <p:sp>
        <p:nvSpPr>
          <p:cNvPr id="1306882679" name=""/>
          <p:cNvSpPr txBox="1"/>
          <p:nvPr/>
        </p:nvSpPr>
        <p:spPr bwMode="auto">
          <a:xfrm flipH="0" flipV="0">
            <a:off x="1077602" y="1872926"/>
            <a:ext cx="10938821" cy="3033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Interprétation des clusters</a:t>
            </a:r>
            <a:endParaRPr lang="fr-FR" sz="2200" b="1"/>
          </a:p>
          <a:p>
            <a:pPr marL="327936" indent="-327936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0: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12% des clients qui sont insatisfaits du service de Olist et ne recommenderont probablement pas (Frequency =1)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1: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20% de clients qui dépensent plus que la moyenne mais ne sont pas fidélisés (Monetary &gt; 200 et Frequency =1)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2: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clients récurents (Frequency = 2) mais représentent moins de 1% de la totalité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3: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Anciens clients qui pourraient revenir car satisfait (review = 5)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27936" indent="-327936" algn="l">
              <a:lnSpc>
                <a:spcPct val="200000"/>
              </a:lnSpc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Groupe 4:</a:t>
            </a: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30% des clients sont nouveaux et dépensent peu (recency &lt; 200 et monetary = 69€)</a:t>
            </a:r>
            <a:endParaRPr lang="fr-FR"/>
          </a:p>
        </p:txBody>
      </p:sp>
      <p:pic>
        <p:nvPicPr>
          <p:cNvPr id="13490353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72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Sélection du modèle</a:t>
            </a:r>
            <a:endParaRPr sz="3600"/>
          </a:p>
        </p:txBody>
      </p:sp>
      <p:sp>
        <p:nvSpPr>
          <p:cNvPr id="903914738" name=""/>
          <p:cNvSpPr txBox="1"/>
          <p:nvPr/>
        </p:nvSpPr>
        <p:spPr bwMode="auto">
          <a:xfrm flipH="0" flipV="0">
            <a:off x="1077602" y="1872926"/>
            <a:ext cx="10967981" cy="1509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Stabilité des clusters à l’initialisation</a:t>
            </a: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/>
              <a:t>Initialisation stable</a:t>
            </a: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248244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8419459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262033" y="2322443"/>
            <a:ext cx="6039533" cy="4282578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678281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4"/>
            <a:ext cx="9626224" cy="2852734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5</a:t>
            </a:r>
            <a:r>
              <a:rPr/>
              <a:t> </a:t>
            </a:r>
            <a:r>
              <a:rPr lang="fr-FR"/>
              <a:t>Maintenance du modèle</a:t>
            </a:r>
            <a:br>
              <a:rPr/>
            </a:br>
            <a:endParaRPr/>
          </a:p>
        </p:txBody>
      </p:sp>
      <p:pic>
        <p:nvPicPr>
          <p:cNvPr id="2417809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1779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1707779930" name=""/>
          <p:cNvSpPr txBox="1"/>
          <p:nvPr/>
        </p:nvSpPr>
        <p:spPr bwMode="auto">
          <a:xfrm flipH="0" flipV="0">
            <a:off x="1077602" y="1872926"/>
            <a:ext cx="10973381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6298405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79071721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316570" y="1210804"/>
            <a:ext cx="5558857" cy="5558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36883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460215888" name=""/>
          <p:cNvSpPr txBox="1"/>
          <p:nvPr/>
        </p:nvSpPr>
        <p:spPr bwMode="auto">
          <a:xfrm flipH="0" flipV="0">
            <a:off x="1077601" y="1872925"/>
            <a:ext cx="10973380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5" indent="-327935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20832769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4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311744477" name=""/>
          <p:cNvPicPr>
            <a:picLocks noChangeAspect="1"/>
          </p:cNvPicPr>
          <p:nvPr/>
        </p:nvPicPr>
        <p:blipFill>
          <a:blip r:embed="rId4"/>
          <a:srcRect l="0" t="0" r="0" b="75219"/>
          <a:stretch/>
        </p:blipFill>
        <p:spPr bwMode="auto">
          <a:xfrm flipH="0" flipV="0">
            <a:off x="3053969" y="1872925"/>
            <a:ext cx="7020645" cy="440828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2297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641643255" name=""/>
          <p:cNvSpPr txBox="1"/>
          <p:nvPr/>
        </p:nvSpPr>
        <p:spPr bwMode="auto">
          <a:xfrm flipH="0" flipV="0">
            <a:off x="1077601" y="1872925"/>
            <a:ext cx="10973380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5" indent="-327935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472878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4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196553731" name=""/>
          <p:cNvPicPr>
            <a:picLocks noChangeAspect="1"/>
          </p:cNvPicPr>
          <p:nvPr/>
        </p:nvPicPr>
        <p:blipFill>
          <a:blip r:embed="rId4"/>
          <a:srcRect l="0" t="25219" r="0" b="50000"/>
          <a:stretch/>
        </p:blipFill>
        <p:spPr bwMode="auto">
          <a:xfrm flipH="0" flipV="0">
            <a:off x="3053969" y="1872925"/>
            <a:ext cx="7020645" cy="440828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1183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1757375217" name=""/>
          <p:cNvSpPr txBox="1"/>
          <p:nvPr/>
        </p:nvSpPr>
        <p:spPr bwMode="auto">
          <a:xfrm flipH="0" flipV="0">
            <a:off x="1077601" y="1872925"/>
            <a:ext cx="10973380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Méthodologie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5" indent="-327935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1361722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4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396477527" name=""/>
          <p:cNvPicPr>
            <a:picLocks noChangeAspect="1"/>
          </p:cNvPicPr>
          <p:nvPr/>
        </p:nvPicPr>
        <p:blipFill>
          <a:blip r:embed="rId4"/>
          <a:srcRect l="0" t="50000" r="0" b="25218"/>
          <a:stretch/>
        </p:blipFill>
        <p:spPr bwMode="auto">
          <a:xfrm flipH="0" flipV="0">
            <a:off x="3053969" y="1872925"/>
            <a:ext cx="7020645" cy="440828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4589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36945809" name=""/>
          <p:cNvSpPr txBox="1"/>
          <p:nvPr/>
        </p:nvSpPr>
        <p:spPr bwMode="auto">
          <a:xfrm flipH="0" flipV="0">
            <a:off x="1077602" y="1872926"/>
            <a:ext cx="10975901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Analyse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3061591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21339217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27499" y="2415233"/>
            <a:ext cx="10478662" cy="4123678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828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1830860558" name=""/>
          <p:cNvSpPr txBox="1"/>
          <p:nvPr/>
        </p:nvSpPr>
        <p:spPr bwMode="auto">
          <a:xfrm flipH="0" flipV="0">
            <a:off x="1077602" y="1872926"/>
            <a:ext cx="11003261" cy="2423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Analyse</a:t>
            </a:r>
            <a:r>
              <a:rPr lang="fr-FR" sz="2200" b="1"/>
              <a:t> :</a:t>
            </a: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/>
              <a:t>Algorithme obsolète après 10 semaines</a:t>
            </a: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13982</a:t>
            </a:r>
            <a:r>
              <a:rPr lang="fr-FR" sz="1800" b="0"/>
              <a:t> clients supplémentaires</a:t>
            </a:r>
            <a:endParaRPr lang="fr-FR" sz="1800" b="0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8625903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5665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3" y="365121"/>
            <a:ext cx="1003679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Maintenance du modèle</a:t>
            </a:r>
            <a:endParaRPr sz="3600"/>
          </a:p>
        </p:txBody>
      </p:sp>
      <p:sp>
        <p:nvSpPr>
          <p:cNvPr id="52601088" name=""/>
          <p:cNvSpPr txBox="1"/>
          <p:nvPr/>
        </p:nvSpPr>
        <p:spPr bwMode="auto">
          <a:xfrm flipH="0" flipV="0">
            <a:off x="1077602" y="1872926"/>
            <a:ext cx="11003621" cy="1600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/>
              <a:t>Analyse</a:t>
            </a:r>
            <a:r>
              <a:rPr lang="fr-FR" sz="2200" b="1"/>
              <a:t> :</a:t>
            </a:r>
            <a:endParaRPr lang="fr-FR" sz="2200" b="1"/>
          </a:p>
          <a:p>
            <a:pPr algn="l">
              <a:lnSpc>
                <a:spcPct val="150000"/>
              </a:lnSpc>
              <a:defRPr/>
            </a:pPr>
            <a:endParaRPr lang="fr-FR" sz="2200" b="1"/>
          </a:p>
          <a:p>
            <a:pPr marL="327936" indent="-327936" algn="l">
              <a:lnSpc>
                <a:spcPct val="150000"/>
              </a:lnSpc>
              <a:buFont typeface="Arial"/>
              <a:buChar char="•"/>
              <a:defRPr/>
            </a:pPr>
            <a:endParaRPr lang="fr-FR" sz="2200" b="1"/>
          </a:p>
        </p:txBody>
      </p:sp>
      <p:pic>
        <p:nvPicPr>
          <p:cNvPr id="13095283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5" y="6215465"/>
            <a:ext cx="822461" cy="462634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  <p:pic>
        <p:nvPicPr>
          <p:cNvPr id="115619982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60035" y="2393527"/>
            <a:ext cx="9602089" cy="2159919"/>
          </a:xfrm>
          <a:prstGeom prst="rect">
            <a:avLst/>
          </a:prstGeom>
          <a:ln w="12699">
            <a:solidFill>
              <a:schemeClr val="bg1"/>
            </a:solidFill>
            <a:prstDash val="solid"/>
          </a:ln>
        </p:spPr>
      </p:pic>
      <p:pic>
        <p:nvPicPr>
          <p:cNvPr id="69661456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441253" y="4622570"/>
            <a:ext cx="9567265" cy="2152085"/>
          </a:xfrm>
          <a:prstGeom prst="rect">
            <a:avLst/>
          </a:prstGeom>
          <a:ln w="12699">
            <a:solidFill>
              <a:srgbClr val="FF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204902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4"/>
            <a:ext cx="9626224" cy="2852734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5</a:t>
            </a:r>
            <a:r>
              <a:rPr/>
              <a:t> </a:t>
            </a:r>
            <a:r>
              <a:rPr lang="fr-FR"/>
              <a:t>Conclusion</a:t>
            </a:r>
            <a:br>
              <a:rPr/>
            </a:br>
            <a:endParaRPr/>
          </a:p>
        </p:txBody>
      </p:sp>
      <p:pic>
        <p:nvPicPr>
          <p:cNvPr id="18136317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65584" y="6215465"/>
            <a:ext cx="822460" cy="462633"/>
          </a:xfrm>
          <a:prstGeom prst="rect">
            <a:avLst/>
          </a:prstGeom>
          <a:ln w="12699">
            <a:solidFill>
              <a:schemeClr val="accent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29892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/>
              <a:t>6</a:t>
            </a:r>
            <a:r>
              <a:rPr sz="3600"/>
              <a:t> Conclusion</a:t>
            </a:r>
            <a:endParaRPr sz="3600"/>
          </a:p>
        </p:txBody>
      </p:sp>
      <p:sp>
        <p:nvSpPr>
          <p:cNvPr id="1701331029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/>
              <a:t>Calcul des features lors de l’ajout de nouveaux clients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Mis à jour régulière des features de fréquence et de récence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Exploration de d’autres variables (type de produits, saisonalité)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Réduction de la temporalité pour calculer la maintenance de l’algorithme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ONLYOFFICE/9.0.0.172</Application>
  <PresentationFormat>On-screen Show (4:3)</PresentationFormat>
  <Paragraphs>0</Paragraphs>
  <Slides>39</Slides>
  <Notes>39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Stephens</dc:creator>
  <cp:lastModifiedBy/>
  <cp:revision>34</cp:revision>
  <dcterms:created xsi:type="dcterms:W3CDTF">2018-07-30T23:03:22Z</dcterms:created>
  <dcterms:modified xsi:type="dcterms:W3CDTF">2025-07-04T15:02:38Z</dcterms:modified>
</cp:coreProperties>
</file>