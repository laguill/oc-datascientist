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9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15.xml" ContentType="application/vnd.openxmlformats-officedocument.presentationml.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26.xml" ContentType="application/vnd.openxmlformats-officedocument.presentationml.slide+xml"/>
  <Override PartName="/ppt/slides/slide23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20.xml" ContentType="application/vnd.openxmlformats-officedocument.presentationml.slide+xml"/>
  <Override PartName="/ppt/slides/slide28.xml" ContentType="application/vnd.openxmlformats-officedocument.presentationml.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s/slide30.xml" ContentType="application/vnd.openxmlformats-officedocument.presentationml.slid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notesSlides/notesSlide32.xml" ContentType="application/vnd.openxmlformats-officedocument.presentationml.notesSlide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2.xml" ContentType="application/vnd.openxmlformats-officedocument.presentationml.notesSlide+xml"/>
  <Override PartName="/ppt/slides/slide1.xml" ContentType="application/vnd.openxmlformats-officedocument.presentationml.slide+xml"/>
  <Override PartName="/ppt/slides/slide25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1.xml" ContentType="application/vnd.openxmlformats-officedocument.presentationml.notesSlide+xml"/>
  <Override PartName="/ppt/slideLayouts/slideLayout3.xml" ContentType="application/vnd.openxmlformats-officedocument.presentationml.slideLayout+xml"/>
  <Override PartName="/ppt/notesSlides/notesSlide34.xml" ContentType="application/vnd.openxmlformats-officedocument.presentationml.notes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8.xml" ContentType="application/vnd.openxmlformats-officedocument.presentationml.slide+xml"/>
  <Override PartName="/ppt/slides/slide33.xml" ContentType="application/vnd.openxmlformats-officedocument.presentationml.slide+xml"/>
  <Override PartName="/ppt/slides/slide24.xml" ContentType="application/vnd.openxmlformats-officedocument.presentationml.slide+xml"/>
  <Override PartName="/ppt/slides/slide40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4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slides/slide21.xml" ContentType="application/vnd.openxmlformats-officedocument.presentationml.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howSpecialPlsOnTitleSld="0">
  <p:sldMasterIdLst>
    <p:sldMasterId id="2147483648" r:id="rId1"/>
  </p:sldMasterIdLst>
  <p:notesMasterIdLst>
    <p:notesMasterId r:id="rId4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</p:sldIdLst>
  <p:sldSz cx="12192000" cy="6858000"/>
  <p:notesSz cx="6858000" cy="9144000"/>
  <p:defaultTextStyle>
    <a:defPPr>
      <a:defRPr lang="fr-FR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1EBBBCC-DAD2-459C-BE2E-F6DE35CF9A28}">
  <a:tblStyle styleId="{91EBBBCC-DAD2-459C-BE2E-F6DE35CF9A28}" styleName="Dark Style 2 - Accent 3/Accent 4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>
              <a:noFill/>
            </a:ln>
          </a:bottom>
        </a:tcBdr>
        <a:fill>
          <a:solidFill>
            <a:schemeClr val="accent4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8" d="100"/>
          <a:sy n="108" d="100"/>
        </p:scale>
        <p:origin x="544" y="20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 /><Relationship Id="rId50" Type="http://schemas.openxmlformats.org/officeDocument/2006/relationships/tableStyles" Target="tableStyles.xml" /><Relationship Id="rId5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16756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603184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F3696079-EBA5-8C41-96F3-032D52D44482}" type="datetimeFigureOut">
              <a:rPr lang="en-US"/>
              <a:t>3/20/19</a:t>
            </a:fld>
            <a:endParaRPr lang="en-US"/>
          </a:p>
        </p:txBody>
      </p:sp>
      <p:sp>
        <p:nvSpPr>
          <p:cNvPr id="117397824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4645124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22658530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7205826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6C5E9DD-A3A8-294A-AA05-12D080B6188C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0686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76653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5725313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6C5E9DD-A3A8-294A-AA05-12D080B6188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2126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75161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245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2A01D2-5ECB-7539-D460-03EF5ADBC1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7671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52221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7806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20D49C-A572-668E-4C69-F44C60C72A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4310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2452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507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6A0A60-C46F-9E13-8572-E908049B11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2936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25108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266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0ECEA-A2F1-9B08-C4EE-659D2711B2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9603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5140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47260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CA47C4-C127-308E-8A09-B0B43AAE09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8998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60317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383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59AC0E1-17B8-DD79-AA9E-90B953B0C2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6781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50424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6517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5E85DB-E61D-FE34-23C0-FDF593C583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674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92940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739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DD8F18-2DE6-9565-B7CD-881AFBA27E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1367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7352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051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360C92-40C3-47BE-377F-5EB19B8483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1372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4932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8641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C23D83-583E-260E-438E-F1DE1FB3CF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8806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7883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67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7B2930-D2A9-53ED-BD0C-F8AEC3B92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7047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8814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382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E40F39-203D-68BE-84F6-2971510559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3873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2817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4283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FD7A1E-6153-9356-C64B-706665A5A7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8952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8128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994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AEC9D-E868-C875-C7FA-30401A79539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56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50612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416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F2E225-18C1-8E41-A488-96AB348251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9596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9273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17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C55B21-81EB-ADDE-98EF-9A186274B1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3280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25738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9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E70C1D-35EA-037A-59AE-1BCB6E4972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3134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4558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994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EBD545-0F94-920A-FC42-05B142DEC7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2880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95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084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56AE4C-3E57-2130-4B07-B5A2EBA15D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8806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41026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6217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618059-15E2-C3EF-9BE5-F91D3925175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922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37881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922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B39767-9D81-B898-1F3B-AA165FF103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19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03217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2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8D16F2-3AA0-69EE-85FA-3E791AACFC4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1023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86716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71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68B3E2-9EC6-DA3F-F6DA-F74C257834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7877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6349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7085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37568B-A318-5AF8-5584-CB0731360F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5686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01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0892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BAFC62-0303-99D1-EDAE-CF272F99CF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2203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61743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77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FFA5E-EB3A-9F1D-E900-B01FAAA4D1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000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41847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645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12C810-8E05-4EDF-53F1-191015E6C5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8384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3098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319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3518A-BBFB-4BE1-0047-C0735B21C3F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65203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5062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25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98054D-7E46-3CC8-601A-B8E6BB0ED1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21855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81537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0150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A7468B-1BD3-838C-A509-204955B89E7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1951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1756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0378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9B73A-4CE8-9F46-CF00-224CBF74BFF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5257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938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6361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23007F-69E9-1B8E-AD0C-63B4E98F1D1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45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79989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274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6FAB47-6F78-7F19-A944-7B1A207790E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28965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8692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3875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0203CB-7885-A264-40AF-277B967715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67759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1686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7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5D8361-EC77-40C3-63EA-2C454AFBBC4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2945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15929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320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57F51C-5D5C-10F9-A3C5-4A7D49B653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4706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10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111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0C25CF-ACBE-C331-773C-213617A230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2298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1209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0634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FDC245-4463-E9CF-FD22-7CDE5742BB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0335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51616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294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915AF5-48DF-0284-1D7C-8FB6BB9BF8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2951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3009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658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1BBA25-06BD-9AC3-BD24-1C93CC2F653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135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34565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05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F34E01-2E89-D3F1-EBBB-CE57DB3A1F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7163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37736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22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0110A6-C52B-D28F-E056-5B47B4AD20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7210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94158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3435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1F2AF3-555E-BC7C-C06B-686981419C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971129" name="Title 1"/>
          <p:cNvSpPr>
            <a:spLocks noGrp="1"/>
          </p:cNvSpPr>
          <p:nvPr>
            <p:ph type="ctrTitle"/>
          </p:nvPr>
        </p:nvSpPr>
        <p:spPr bwMode="auto">
          <a:xfrm>
            <a:off x="1523999" y="1661205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82111894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4140880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6221974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C1F99BE7-0409-93F8-0309-044EF2021A17}" type="slidenum">
              <a:rPr lang="fr-FR"/>
              <a:t/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888485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4"/>
            <a:ext cx="9668435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35176355" name="Content Placeholder 2"/>
          <p:cNvSpPr>
            <a:spLocks noGrp="1"/>
          </p:cNvSpPr>
          <p:nvPr>
            <p:ph idx="1"/>
          </p:nvPr>
        </p:nvSpPr>
        <p:spPr bwMode="auto">
          <a:xfrm>
            <a:off x="1261782" y="1825624"/>
            <a:ext cx="9668435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87975263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ADD994A6-F5A7-682C-C17A-F6B833735B4C}" type="slidenum">
              <a:rPr lang="fr-FR"/>
              <a:t/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588040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7"/>
            <a:ext cx="9626226" cy="2852737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01605984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282886" y="4589462"/>
            <a:ext cx="962622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</p:txBody>
      </p:sp>
      <p:sp>
        <p:nvSpPr>
          <p:cNvPr id="333232393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915D0009-1646-FD38-7AD6-6666D101796D}" type="slidenum">
              <a:rPr lang="fr-FR"/>
              <a:t/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936462" name="Title 1"/>
          <p:cNvSpPr>
            <a:spLocks noGrp="1"/>
          </p:cNvSpPr>
          <p:nvPr>
            <p:ph type="title"/>
          </p:nvPr>
        </p:nvSpPr>
        <p:spPr bwMode="auto">
          <a:xfrm>
            <a:off x="1114344" y="365124"/>
            <a:ext cx="9963311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03253475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114344" y="1864658"/>
            <a:ext cx="7108051" cy="4688822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12190007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222396" y="1864658"/>
            <a:ext cx="2855258" cy="4688822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0099333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EC62F0AC-2641-79B7-04F7-E1AC3EF851CD}" type="slidenum">
              <a:rPr lang="fr-FR"/>
              <a:t/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2518216" name="Picture 4"/>
          <p:cNvPicPr>
            <a:picLocks noChangeAspect="1"/>
          </p:cNvPicPr>
          <p:nvPr userDrawn="1"/>
        </p:nvPicPr>
        <p:blipFill>
          <a:blip r:embed="rId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73247609" name="Title Placeholder 1"/>
          <p:cNvSpPr>
            <a:spLocks noGrp="1"/>
          </p:cNvSpPr>
          <p:nvPr>
            <p:ph type="title"/>
          </p:nvPr>
        </p:nvSpPr>
        <p:spPr bwMode="auto">
          <a:xfrm>
            <a:off x="1261782" y="365124"/>
            <a:ext cx="966843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latin typeface="Orkney Medium"/>
                <a:ea typeface="Orkney Medium"/>
                <a:cs typeface="Orkney Medium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161949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261782" y="1825624"/>
            <a:ext cx="966843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1800">
                <a:latin typeface="Source Sans Pro"/>
                <a:ea typeface="Source Sans Pro"/>
                <a:cs typeface="Source Sans Pro"/>
              </a:defRPr>
            </a:lvl1pPr>
            <a:lvl2pPr>
              <a:defRPr sz="1400">
                <a:latin typeface="Source Sans Pro"/>
                <a:ea typeface="Source Sans Pro"/>
                <a:cs typeface="Source Sans Pro"/>
              </a:defRPr>
            </a:lvl2pPr>
            <a:lvl3pPr>
              <a:defRPr sz="1100">
                <a:latin typeface="Source Sans Pro"/>
                <a:ea typeface="Source Sans Pro"/>
                <a:cs typeface="Source Sans Pro"/>
              </a:defRPr>
            </a:lvl3pPr>
            <a:lvl4pPr>
              <a:defRPr sz="1000">
                <a:latin typeface="Source Sans Pro"/>
                <a:ea typeface="Source Sans Pro"/>
                <a:cs typeface="Source Sans Pro"/>
              </a:defRPr>
            </a:lvl4pPr>
            <a:lvl5pPr>
              <a:defRPr sz="1000">
                <a:latin typeface="Source Sans Pro"/>
                <a:ea typeface="Source Sans Pro"/>
                <a:cs typeface="Source Sans Pro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200640460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5" y="980375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07AB8A59-D064-84AA-BAFA-3F67DA652490}" type="slidenum">
              <a:rPr lang="fr-FR"/>
              <a:t/>
            </a:fld>
            <a:endParaRPr lang="fr-F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1"/>
  <p:txStyles>
    <p:titleStyle>
      <a:lvl1pPr algn="l" defTabSz="914400">
        <a:lnSpc>
          <a:spcPct val="90000"/>
        </a:lnSpc>
        <a:spcBef>
          <a:spcPts val="0"/>
        </a:spcBef>
        <a:buNone/>
        <a:defRPr sz="4400" b="0" i="0">
          <a:solidFill>
            <a:srgbClr val="404040"/>
          </a:solidFill>
          <a:latin typeface="Source Sans Pro Ligh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b="0" i="0">
          <a:solidFill>
            <a:srgbClr val="404040"/>
          </a:solidFill>
          <a:latin typeface="Source Sans Pro Ligh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b="0" i="0">
          <a:solidFill>
            <a:srgbClr val="404040"/>
          </a:solidFill>
          <a:latin typeface="Source Sans Pro Ligh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b="0" i="0">
          <a:solidFill>
            <a:srgbClr val="404040"/>
          </a:solidFill>
          <a:latin typeface="Source Sans Pro Ligh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b="0" i="0">
          <a:solidFill>
            <a:srgbClr val="404040"/>
          </a:solidFill>
          <a:latin typeface="Source Sans Pro Ligh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b="0" i="0">
          <a:solidFill>
            <a:srgbClr val="404040"/>
          </a:solidFill>
          <a:latin typeface="Source Sans Pro Ligh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14.xml"/><Relationship Id="rId7" Type="http://schemas.openxmlformats.org/officeDocument/2006/relationships/slide" Target="slide22.xml"/><Relationship Id="rId8" Type="http://schemas.openxmlformats.org/officeDocument/2006/relationships/slide" Target="slide28.xml"/><Relationship Id="rId9" Type="http://schemas.openxmlformats.org/officeDocument/2006/relationships/slide" Target="slide30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oleObject" Target="../embeddings/oleObject1.bin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oleObject" Target="../embeddings/oleObject2.bin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oleObject" Target="../embeddings/oleObject3.bin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oleObject" Target="../embeddings/oleObject4.bin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oleObject" Target="../embeddings/oleObject5.bin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5.png"/><Relationship Id="rId4" Type="http://schemas.openxmlformats.org/officeDocument/2006/relationships/image" Target="../media/image18.png"/><Relationship Id="rId5" Type="http://schemas.openxmlformats.org/officeDocument/2006/relationships/oleObject" Target="../embeddings/oleObject4.bin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2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oleObject" Target="../embeddings/oleObject6.bin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oleObject" Target="../embeddings/oleObject7.bin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oleObject" Target="../embeddings/oleObject8.bin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oleObject" Target="../embeddings/oleObject9.bin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5.png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6.png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69.png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0.png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851567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	</a:t>
            </a:r>
            <a:r>
              <a:rPr lang="fr-FR"/>
              <a:t>Projet 6</a:t>
            </a:r>
            <a:endParaRPr lang="en-US"/>
          </a:p>
        </p:txBody>
      </p:sp>
      <p:sp>
        <p:nvSpPr>
          <p:cNvPr id="85568556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 marL="0" lvl="0" indent="0">
              <a:buNone/>
              <a:defRPr/>
            </a:pPr>
            <a:r>
              <a:rPr lang="fr-FR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Classifier automatiquement des biens de consommations</a:t>
            </a:r>
            <a:br>
              <a:rPr lang="en-US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</a:br>
            <a:r>
              <a:rPr lang="en-US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Guillaume LAFON</a:t>
            </a:r>
            <a:endParaRPr sz="2400"/>
          </a:p>
          <a:p>
            <a:pPr>
              <a:defRPr/>
            </a:pPr>
            <a:endParaRPr>
              <a:solidFill>
                <a:schemeClr val="accent3">
                  <a:lumMod val="7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664691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3"/>
            <a:ext cx="9668435" cy="1325562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/>
              <a:t>Sommaire</a:t>
            </a:r>
            <a:endParaRPr lang="fr-FR"/>
          </a:p>
        </p:txBody>
      </p:sp>
      <p:sp>
        <p:nvSpPr>
          <p:cNvPr id="8647165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64734" y="1825623"/>
            <a:ext cx="9862530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3" action="ppaction://hlinksldjump" tooltip="Diapositive 3"/>
              </a:rPr>
              <a:t>1. Introduction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sz="1700" b="1" u="sng">
                <a:solidFill>
                  <a:schemeClr val="tx1"/>
                </a:solidFill>
                <a:hlinkClick r:id="rId4" action="ppaction://hlinksldjump" tooltip="Diapositive 5"/>
              </a:rPr>
              <a:t>2. Présentation du jeu de données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5" action="ppaction://hlinksldjump" tooltip="Diapositive 7"/>
              </a:rPr>
              <a:t>3 Etude de faisabilité sur les description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6" action="ppaction://hlinksldjump" tooltip="Diapositive 14"/>
              </a:rPr>
              <a:t>4. Etude de faisabilité sur les images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7" action="ppaction://hlinksldjump" tooltip="Diapositive 22"/>
              </a:rPr>
              <a:t>5 Classification supervisée des images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solidFill>
                  <a:schemeClr val="tx1"/>
                </a:solidFill>
                <a:hlinkClick r:id="rId8" action="ppaction://hlinksldjump" tooltip="Diapositive 28"/>
              </a:rPr>
              <a:t>6. Test d’une API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i="0" u="sng" strike="noStrike" cap="none" spc="0">
                <a:latin typeface="Source Sans Pro"/>
                <a:ea typeface="Source Sans Pro"/>
                <a:cs typeface="Source Sans Pro"/>
                <a:hlinkClick r:id="rId9" action="ppaction://hlinksldjump" tooltip="Diapositive 30"/>
              </a:rPr>
              <a:t>7 Conclusion</a:t>
            </a:r>
            <a:endParaRPr sz="1700" b="1" u="sng">
              <a:solidFill>
                <a:schemeClr val="tx1"/>
              </a:solidFill>
            </a:endParaRPr>
          </a:p>
        </p:txBody>
      </p:sp>
      <p:sp>
        <p:nvSpPr>
          <p:cNvPr id="178310728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9E1C5022-64DE-6212-1F2B-DF3A7A0C0E87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bldLst>
      <p:bldP spid="864716559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63223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6"/>
            <a:ext cx="9626226" cy="285273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Introduction</a:t>
            </a:r>
            <a:br>
              <a:rPr/>
            </a:br>
            <a:endParaRPr/>
          </a:p>
        </p:txBody>
      </p:sp>
      <p:pic>
        <p:nvPicPr>
          <p:cNvPr id="20323884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089254" y="3967840"/>
            <a:ext cx="4013491" cy="2554039"/>
          </a:xfrm>
          <a:prstGeom prst="rect">
            <a:avLst/>
          </a:prstGeom>
        </p:spPr>
      </p:pic>
      <p:sp>
        <p:nvSpPr>
          <p:cNvPr id="211197630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B9804DC6-9870-9FB8-3039-899F63A512D1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109314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2"/>
            <a:ext cx="9668435" cy="1325561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1 Introduction</a:t>
            </a:r>
            <a:endParaRPr/>
          </a:p>
        </p:txBody>
      </p:sp>
      <p:sp>
        <p:nvSpPr>
          <p:cNvPr id="2075588825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lvl="0" indent="0">
              <a:spcBef>
                <a:spcPts val="2998"/>
              </a:spcBef>
              <a:buNone/>
              <a:defRPr/>
            </a:pPr>
            <a:r>
              <a:rPr lang="fr-FR" b="1"/>
              <a:t>1.1 Contexte</a:t>
            </a:r>
            <a:endParaRPr lang="fr-FR"/>
          </a:p>
          <a:p>
            <a:pPr marL="0" lvl="0" indent="0">
              <a:buNone/>
              <a:defRPr/>
            </a:pPr>
            <a:r>
              <a:rPr lang="fr-FR" sz="17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Place de marché est une plateforme de e-commerce en pleine expansion qui propose une solution de vente sur les marketplaces en ligne.</a:t>
            </a:r>
            <a:endParaRPr lang="fr-FR"/>
          </a:p>
          <a:p>
            <a:pPr marL="0" lvl="0" indent="0">
              <a:lnSpc>
                <a:spcPct val="100000"/>
              </a:lnSpc>
              <a:spcBef>
                <a:spcPts val="2998"/>
              </a:spcBef>
              <a:buNone/>
              <a:defRPr/>
            </a:pPr>
            <a:r>
              <a:rPr lang="fr-FR" b="1"/>
              <a:t>1.2 Mission</a:t>
            </a:r>
            <a:endParaRPr lang="fr-FR" b="1"/>
          </a:p>
          <a:p>
            <a:pPr marL="0" lvl="0" indent="0">
              <a:lnSpc>
                <a:spcPct val="90000"/>
              </a:lnSpc>
              <a:spcBef>
                <a:spcPts val="566"/>
              </a:spcBef>
              <a:buNone/>
              <a:defRPr/>
            </a:pPr>
            <a:r>
              <a:rPr lang="fr-FR" b="0"/>
              <a:t>Formulation de la problématique :</a:t>
            </a:r>
            <a:endParaRPr b="0"/>
          </a:p>
          <a:p>
            <a:pPr>
              <a:defRPr/>
            </a:pPr>
            <a:r>
              <a:rPr lang="fr-FR" sz="16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Automatiser l’attribution des catégories aux produits mis en vente pour améliorer l’expérience utilisateur.</a:t>
            </a:r>
            <a:endParaRPr lang="fr-FR" sz="1600" b="0" i="0" u="none" strike="noStrike" cap="none" spc="0">
              <a:solidFill>
                <a:srgbClr val="404040"/>
              </a:solidFill>
              <a:latin typeface="Source Sans Pro"/>
              <a:cs typeface="Source Sans Pro"/>
            </a:endParaRPr>
          </a:p>
          <a:p>
            <a:pPr lvl="0">
              <a:defRPr/>
            </a:pPr>
            <a:endParaRPr lang="fr-FR"/>
          </a:p>
          <a:p>
            <a:pPr marL="0" lvl="0" indent="0">
              <a:spcBef>
                <a:spcPts val="2997"/>
              </a:spcBef>
              <a:buNone/>
              <a:defRPr/>
            </a:pPr>
            <a:r>
              <a:rPr lang="fr-FR" sz="1700" b="1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1.3 Données</a:t>
            </a:r>
            <a:endParaRPr sz="1700"/>
          </a:p>
          <a:p>
            <a:pPr lvl="0">
              <a:defRPr/>
            </a:pPr>
            <a:r>
              <a:rPr lang="fr-FR" sz="17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Jeu de données contenant des informations sur les produits mis en vente (noms, descriptions et images, catégories)</a:t>
            </a:r>
            <a:endParaRPr lang="fr-FR"/>
          </a:p>
        </p:txBody>
      </p:sp>
      <p:pic>
        <p:nvPicPr>
          <p:cNvPr id="14617533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650423" y="584197"/>
            <a:ext cx="1950812" cy="1241425"/>
          </a:xfrm>
          <a:prstGeom prst="rect">
            <a:avLst/>
          </a:prstGeom>
        </p:spPr>
      </p:pic>
      <p:sp>
        <p:nvSpPr>
          <p:cNvPr id="7742219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0AA2E8BE-E580-DDD9-503B-2C68CB1BFE61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bldLst>
      <p:bldP spid="2075588825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59737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70" y="1709734"/>
            <a:ext cx="10745656" cy="28527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2 </a:t>
            </a:r>
            <a:r>
              <a:rPr lang="fr-FR" sz="60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Présentation du jeu de données</a:t>
            </a:r>
            <a:endParaRPr lang="fr-FR"/>
          </a:p>
        </p:txBody>
      </p:sp>
      <p:pic>
        <p:nvPicPr>
          <p:cNvPr id="206871160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1" y="5941016"/>
            <a:ext cx="1242585" cy="790736"/>
          </a:xfrm>
          <a:prstGeom prst="rect">
            <a:avLst/>
          </a:prstGeom>
        </p:spPr>
      </p:pic>
      <p:sp>
        <p:nvSpPr>
          <p:cNvPr id="1042543738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3E3EC634-E74E-A503-A4D7-322A616FDBBD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38258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2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Présentation du jeu de données</a:t>
            </a:r>
            <a:endParaRPr sz="3600"/>
          </a:p>
        </p:txBody>
      </p:sp>
      <p:pic>
        <p:nvPicPr>
          <p:cNvPr id="12607242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80303703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3" y="980373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F6B1F186-2E04-3784-EFF2-E251EE72104D}" type="slidenum">
              <a:rPr lang="fr-FR"/>
              <a:t/>
            </a:fld>
            <a:endParaRPr/>
          </a:p>
        </p:txBody>
      </p:sp>
      <p:graphicFrame>
        <p:nvGraphicFramePr>
          <p:cNvPr id="291219269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3512339" y="1435889"/>
          <a:ext cx="5167320" cy="5167320"/>
        </p:xfrm>
        <a:graphic>
          <a:graphicData uri="http://schemas.openxmlformats.org/presentationml/2006/ole">
            <p:oleObj name="oleObj" r:id="rId5" imgW="9467850" imgH="9467850" progId="asc.{DB38923B-A8C0-4DE9-8AEE-A61BB5C901A5}">
              <p:embed/>
              <p:pic>
                <p:nvPicPr>
                  <p:cNvPr id="291219269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3512339" y="1435889"/>
                    <a:ext cx="5167320" cy="516732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70317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2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Présentation du jeu de données</a:t>
            </a:r>
            <a:endParaRPr sz="3600"/>
          </a:p>
        </p:txBody>
      </p:sp>
      <p:pic>
        <p:nvPicPr>
          <p:cNvPr id="108053606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666332701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3" y="980373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AA3339DA-1BCF-3DF9-6B48-9C52926404BA}" type="slidenum">
              <a:rPr lang="fr-FR"/>
              <a:t/>
            </a:fld>
            <a:endParaRPr/>
          </a:p>
        </p:txBody>
      </p:sp>
      <p:graphicFrame>
        <p:nvGraphicFramePr>
          <p:cNvPr id="974363478" name=""/>
          <p:cNvGraphicFramePr>
            <a:graphicFrameLocks xmlns:a="http://schemas.openxmlformats.org/drawingml/2006/main"/>
          </p:cNvGraphicFramePr>
          <p:nvPr/>
        </p:nvGraphicFramePr>
        <p:xfrm>
          <a:off x="2367449" y="2266949"/>
          <a:ext cx="7978650" cy="35051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{91EBBBCC-DAD2-459C-BE2E-F6DE35CF9A28}</a:tableStyleId>
              </a:tblPr>
              <a:tblGrid>
                <a:gridCol w="2976081"/>
                <a:gridCol w="5002568"/>
              </a:tblGrid>
              <a:tr h="443379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1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Source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1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Feature Engineering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</a:tr>
              <a:tr h="443379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bureau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Dettes, montants, type crédits, statut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</a:tr>
              <a:tr h="443379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bureau_balance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Historique des statuts de paiements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</a:tr>
              <a:tr h="443379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previous_application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Comptage demandes, taux d’approbation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</a:tr>
              <a:tr h="844929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installments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Retard/avance de paiements, montants dus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</a:tr>
              <a:tr h="443379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pos_cash_balance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Retard max sur prêts à la consommation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</a:tr>
              <a:tr h="443379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credit_card_balance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Source Sans Pro"/>
                          <a:ea typeface="Source Sans Pro"/>
                          <a:cs typeface="Source Sans Pro"/>
                        </a:rPr>
                        <a:t>Moyenne des soldes &amp; retards carte</a:t>
                      </a:r>
                      <a:endParaRPr sz="2000">
                        <a:latin typeface="Source Sans Pro"/>
                        <a:cs typeface="Source Sans Pro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38548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4" y="365121"/>
            <a:ext cx="10036791" cy="1325558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2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Présentation du jeu de données</a:t>
            </a:r>
            <a:endParaRPr sz="3600"/>
          </a:p>
        </p:txBody>
      </p:sp>
      <p:sp>
        <p:nvSpPr>
          <p:cNvPr id="1830017264" name=""/>
          <p:cNvSpPr txBox="1"/>
          <p:nvPr/>
        </p:nvSpPr>
        <p:spPr bwMode="auto">
          <a:xfrm flipH="0" flipV="0">
            <a:off x="1077601" y="1872927"/>
            <a:ext cx="9714435" cy="16462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1050 produits</a:t>
            </a:r>
            <a:endParaRPr sz="1700" b="0">
              <a:latin typeface="Source Sans Pro"/>
              <a:cs typeface="Source Sans Pro"/>
            </a:endParaRPr>
          </a:p>
          <a:p>
            <a:pPr marL="283879" indent="-283879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Aucune données manquantes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7 catégories de produits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150 produits par catégorie</a:t>
            </a:r>
            <a:endParaRPr lang="fr-FR" sz="1700" b="0">
              <a:latin typeface="Source Sans Pro"/>
              <a:cs typeface="Source Sans Pro"/>
            </a:endParaRPr>
          </a:p>
        </p:txBody>
      </p:sp>
      <p:pic>
        <p:nvPicPr>
          <p:cNvPr id="163617573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pic>
        <p:nvPicPr>
          <p:cNvPr id="693666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429880" y="3519207"/>
            <a:ext cx="3941655" cy="3074871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12372832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751413" y="3545380"/>
            <a:ext cx="4968247" cy="304869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9533465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76CEDF0F-7C3C-79D0-A050-BF5BC170749D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19747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9" y="1709733"/>
            <a:ext cx="10745655" cy="285273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3 </a:t>
            </a:r>
            <a:r>
              <a:rPr lang="fr-FR"/>
              <a:t>Etude de faisabilité sur les descriptions</a:t>
            </a:r>
            <a:endParaRPr lang="fr-FR"/>
          </a:p>
        </p:txBody>
      </p:sp>
      <p:pic>
        <p:nvPicPr>
          <p:cNvPr id="95811112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sp>
        <p:nvSpPr>
          <p:cNvPr id="735438758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1B1C71A3-5EF4-88CC-AA7C-D65195906E2A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782753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1739780518" name=""/>
          <p:cNvSpPr txBox="1"/>
          <p:nvPr/>
        </p:nvSpPr>
        <p:spPr bwMode="auto">
          <a:xfrm flipH="0" flipV="0">
            <a:off x="1077600" y="1872927"/>
            <a:ext cx="9844754" cy="2423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Prétraitement des descriptions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Nettoyage : </a:t>
            </a:r>
            <a:r>
              <a:rPr lang="fr-FR" sz="1700" b="0">
                <a:latin typeface="Source Sans Pro"/>
                <a:ea typeface="Source Sans Pro"/>
                <a:cs typeface="Source Sans Pro"/>
              </a:rPr>
              <a:t>Mise en minuscule, suppression de la ponctuation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Tokenisation : </a:t>
            </a:r>
            <a:r>
              <a:rPr lang="fr-FR" sz="1700" b="0">
                <a:latin typeface="Source Sans Pro"/>
                <a:ea typeface="Source Sans Pro"/>
                <a:cs typeface="Source Sans Pro"/>
              </a:rPr>
              <a:t>Segmentation des mots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StopWords : </a:t>
            </a:r>
            <a:r>
              <a:rPr lang="fr-FR" sz="1700" b="0">
                <a:latin typeface="Source Sans Pro"/>
                <a:ea typeface="Source Sans Pro"/>
                <a:cs typeface="Source Sans Pro"/>
              </a:rPr>
              <a:t>Suppression des mots de liaisons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Lemmatisation : </a:t>
            </a:r>
            <a:r>
              <a:rPr lang="fr-FR" sz="1700" b="0">
                <a:latin typeface="Source Sans Pro"/>
                <a:ea typeface="Source Sans Pro"/>
                <a:cs typeface="Source Sans Pro"/>
              </a:rPr>
              <a:t>Recherche des lemmes/radicaux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Suppression des mots présents dans les 7 catégories</a:t>
            </a:r>
            <a:endParaRPr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89988556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sp>
        <p:nvSpPr>
          <p:cNvPr id="500161863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4D8BED23-1AB2-C048-B9DD-B9A51D382E5F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25624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1455628520" name=""/>
          <p:cNvSpPr txBox="1"/>
          <p:nvPr/>
        </p:nvSpPr>
        <p:spPr bwMode="auto">
          <a:xfrm flipH="0" flipV="0">
            <a:off x="1077600" y="1872927"/>
            <a:ext cx="982171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Prétraitement des descriptions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70297094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06284674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A2B9E957-8D92-6AD7-E77A-636388AB49D4}" type="slidenum">
              <a:rPr lang="fr-FR"/>
              <a:t/>
            </a:fld>
            <a:endParaRPr/>
          </a:p>
        </p:txBody>
      </p:sp>
      <p:graphicFrame>
        <p:nvGraphicFramePr>
          <p:cNvPr id="112626077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926872" y="2272626"/>
          <a:ext cx="6948000" cy="4536000"/>
        </p:xfrm>
        <a:graphic>
          <a:graphicData uri="http://schemas.openxmlformats.org/presentationml/2006/ole">
            <p:oleObj name="oleObj" r:id="rId5" imgW="6943725" imgH="4533900" progId="asc.{DB38923B-A8C0-4DE9-8AEE-A61BB5C901A5}">
              <p:embed/>
              <p:pic>
                <p:nvPicPr>
                  <p:cNvPr id="112626077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926872" y="2272626"/>
                    <a:ext cx="6948000" cy="4536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32148497" name=""/>
          <p:cNvSpPr txBox="1"/>
          <p:nvPr/>
        </p:nvSpPr>
        <p:spPr bwMode="auto">
          <a:xfrm rot="0" flipH="0" flipV="0">
            <a:off x="8590296" y="3874575"/>
            <a:ext cx="3143826" cy="857895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latin typeface="Source Sans Pro"/>
                <a:ea typeface="Source Sans Pro"/>
                <a:cs typeface="Source Sans Pro"/>
              </a:rPr>
              <a:t>Réduction du nombre de mots de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87644</a:t>
            </a:r>
            <a:r>
              <a:rPr>
                <a:latin typeface="Source Sans Pro"/>
                <a:ea typeface="Source Sans Pro"/>
                <a:cs typeface="Source Sans Pro"/>
              </a:rPr>
              <a:t> à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57219</a:t>
            </a:r>
            <a:r>
              <a:rPr>
                <a:latin typeface="Source Sans Pro"/>
                <a:ea typeface="Source Sans Pro"/>
                <a:cs typeface="Source Sans Pro"/>
              </a:rPr>
              <a:t> </a:t>
            </a:r>
            <a:r>
              <a:rPr b="1">
                <a:latin typeface="Source Sans Pro"/>
                <a:ea typeface="Source Sans Pro"/>
                <a:cs typeface="Source Sans Pro"/>
              </a:rPr>
              <a:t>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fr-FR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f>
                        <m:fPr>
                          <m:ctrlPr>
                            <a:rPr lang="fr-FR" sz="2400" b="1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b"/>
                            </m:rPr>
                            <a:rPr lang="fr-FR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b"/>
                            </m:rPr>
                            <a:rPr lang="fr-FR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b="1">
                <a:latin typeface="Source Sans Pro"/>
                <a:ea typeface="Source Sans Pro"/>
                <a:cs typeface="Source Sans Pro"/>
              </a:rPr>
              <a:t>)</a:t>
            </a:r>
            <a:endParaRPr>
              <a:latin typeface="Source Sans Pro"/>
              <a:cs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56241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1609009569" name=""/>
          <p:cNvSpPr txBox="1"/>
          <p:nvPr/>
        </p:nvSpPr>
        <p:spPr bwMode="auto">
          <a:xfrm flipH="0" flipV="0">
            <a:off x="1077601" y="1872927"/>
            <a:ext cx="9821715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Prétraitement des descriptions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86927651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pic>
        <p:nvPicPr>
          <p:cNvPr id="110232669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483448" y="2182433"/>
            <a:ext cx="9010023" cy="4501209"/>
          </a:xfrm>
          <a:prstGeom prst="rect">
            <a:avLst/>
          </a:prstGeom>
        </p:spPr>
      </p:pic>
      <p:sp>
        <p:nvSpPr>
          <p:cNvPr id="81257128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54257943-5F3B-3958-A97C-D2AA50478215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3327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pic>
        <p:nvPicPr>
          <p:cNvPr id="72091580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2002010210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28D76171-26B3-C0DE-2F4C-DA1E1E1110B4}" type="slidenum">
              <a:rPr lang="fr-FR"/>
              <a:t/>
            </a:fld>
            <a:endParaRPr/>
          </a:p>
        </p:txBody>
      </p:sp>
      <p:graphicFrame>
        <p:nvGraphicFramePr>
          <p:cNvPr id="376655194" name=""/>
          <p:cNvGraphicFramePr>
            <a:graphicFrameLocks xmlns:a="http://schemas.openxmlformats.org/drawingml/2006/main" noChangeAspect="1"/>
          </p:cNvGraphicFramePr>
          <p:nvPr/>
        </p:nvGraphicFramePr>
        <p:xfrm>
          <a:off x="2681338" y="1594677"/>
          <a:ext cx="6552000" cy="4932000"/>
        </p:xfrm>
        <a:graphic>
          <a:graphicData uri="http://schemas.openxmlformats.org/presentationml/2006/ole">
            <p:oleObj name="oleObj" r:id="rId5" imgW="6543675" imgH="4924425" progId="asc.{DB38923B-A8C0-4DE9-8AEE-A61BB5C901A5}">
              <p:embed/>
              <p:pic>
                <p:nvPicPr>
                  <p:cNvPr id="376655194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>
                    <a:off x="2681338" y="1594677"/>
                    <a:ext cx="6552000" cy="4932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44422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pic>
        <p:nvPicPr>
          <p:cNvPr id="19208408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63617506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DB91223E-EB7D-0ACE-16DB-C2156CE73A4C}" type="slidenum">
              <a:rPr lang="fr-FR"/>
              <a:t/>
            </a:fld>
            <a:endParaRPr/>
          </a:p>
        </p:txBody>
      </p:sp>
      <p:graphicFrame>
        <p:nvGraphicFramePr>
          <p:cNvPr id="1944941474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2857093" y="1345498"/>
          <a:ext cx="6604982" cy="5404077"/>
        </p:xfrm>
        <a:graphic>
          <a:graphicData uri="http://schemas.openxmlformats.org/presentationml/2006/ole">
            <p:oleObj name="oleObj" r:id="rId5" imgW="7915275" imgH="6477000" progId="asc.{DB38923B-A8C0-4DE9-8AEE-A61BB5C901A5}">
              <p:embed/>
              <p:pic>
                <p:nvPicPr>
                  <p:cNvPr id="1944941474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2857093" y="1345498"/>
                    <a:ext cx="6604982" cy="540407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82104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961055552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57866575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2002752255" name=""/>
          <p:cNvSpPr txBox="1"/>
          <p:nvPr/>
        </p:nvSpPr>
        <p:spPr bwMode="auto">
          <a:xfrm flipH="0" flipV="0">
            <a:off x="1077599" y="1872927"/>
            <a:ext cx="9832512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 : TF-IDF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46543337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1132417" y="2305454"/>
            <a:ext cx="9720000" cy="382680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474933134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8061FC59-EC8C-6390-3A1C-27E376874D96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80630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1464650156" name=""/>
          <p:cNvSpPr txBox="1"/>
          <p:nvPr/>
        </p:nvSpPr>
        <p:spPr bwMode="auto">
          <a:xfrm flipH="0" flipV="0">
            <a:off x="1077601" y="1872927"/>
            <a:ext cx="9902355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7893288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sp>
        <p:nvSpPr>
          <p:cNvPr id="934967325" name=""/>
          <p:cNvSpPr txBox="1"/>
          <p:nvPr/>
        </p:nvSpPr>
        <p:spPr bwMode="auto">
          <a:xfrm flipH="0" flipV="0">
            <a:off x="1077601" y="1872927"/>
            <a:ext cx="982963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90176163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535828" y="2234679"/>
            <a:ext cx="8913177" cy="449706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70939424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388F262B-E760-36D5-950B-89638C077A22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311581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178439193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5556679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826024904" name=""/>
          <p:cNvSpPr txBox="1"/>
          <p:nvPr/>
        </p:nvSpPr>
        <p:spPr bwMode="auto">
          <a:xfrm flipH="0" flipV="0">
            <a:off x="1077599" y="1872927"/>
            <a:ext cx="9832152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 : MPNET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85504353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1080379" y="2225247"/>
            <a:ext cx="9720000" cy="382680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443366040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5C5F46D2-B08E-B281-A238-083353355B94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47047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9" y="1709733"/>
            <a:ext cx="10745655" cy="285273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4 </a:t>
            </a:r>
            <a:r>
              <a:rPr lang="fr-FR"/>
              <a:t>Etude de faisabilité sur les images</a:t>
            </a:r>
            <a:endParaRPr lang="fr-FR"/>
          </a:p>
        </p:txBody>
      </p:sp>
      <p:pic>
        <p:nvPicPr>
          <p:cNvPr id="112150660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sp>
        <p:nvSpPr>
          <p:cNvPr id="1103066370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B169717E-2C97-08AF-2C64-231F2062CEC1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14349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763854064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0976304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826334419" name=""/>
          <p:cNvSpPr txBox="1"/>
          <p:nvPr/>
        </p:nvSpPr>
        <p:spPr bwMode="auto">
          <a:xfrm flipH="0" flipV="0">
            <a:off x="1077600" y="1872927"/>
            <a:ext cx="10009633" cy="26978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Prétraitement des images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Taille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Standardisation des images (224x224)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Niveau de gris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Réduction des dimensions en supprimant les couleurs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Exposition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Ajustement pour améliorer la visibilité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Contraste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Augmentation de la différence de la luminosité</a:t>
            </a:r>
            <a:endParaRPr sz="17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Correction du bruit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Réduction des distorsions visuelles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>
              <a:defRPr/>
            </a:pPr>
            <a:endParaRPr/>
          </a:p>
        </p:txBody>
      </p:sp>
      <p:sp>
        <p:nvSpPr>
          <p:cNvPr id="65862474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D4DD297D-428F-C251-9A9C-6C865188267A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4577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675666869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1232867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671830127" name=""/>
          <p:cNvSpPr txBox="1"/>
          <p:nvPr/>
        </p:nvSpPr>
        <p:spPr bwMode="auto">
          <a:xfrm flipH="0" flipV="0">
            <a:off x="1077599" y="1872927"/>
            <a:ext cx="10015032" cy="7547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Prétraitement des images : Originale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>
              <a:defRPr/>
            </a:pPr>
            <a:endParaRPr/>
          </a:p>
        </p:txBody>
      </p:sp>
      <p:pic>
        <p:nvPicPr>
          <p:cNvPr id="92269140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157775" y="2416448"/>
            <a:ext cx="7876447" cy="4044125"/>
          </a:xfrm>
          <a:prstGeom prst="rect">
            <a:avLst/>
          </a:prstGeom>
        </p:spPr>
      </p:pic>
      <p:sp>
        <p:nvSpPr>
          <p:cNvPr id="83416256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8F07F6A5-1AD7-50E7-D406-B4381DC15E28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362679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746194243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4552516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545732902" name=""/>
          <p:cNvSpPr txBox="1"/>
          <p:nvPr/>
        </p:nvSpPr>
        <p:spPr bwMode="auto">
          <a:xfrm flipH="0" flipV="0">
            <a:off x="1077599" y="1872927"/>
            <a:ext cx="10017192" cy="7547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Prétraitement des images : Filtre gris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>
              <a:defRPr/>
            </a:pPr>
            <a:endParaRPr/>
          </a:p>
        </p:txBody>
      </p:sp>
      <p:pic>
        <p:nvPicPr>
          <p:cNvPr id="5326772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2157599" y="2427518"/>
            <a:ext cx="7876800" cy="4014000"/>
          </a:xfrm>
          <a:prstGeom prst="rect">
            <a:avLst/>
          </a:prstGeom>
        </p:spPr>
      </p:pic>
      <p:sp>
        <p:nvSpPr>
          <p:cNvPr id="210758370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75FC05B1-A01D-4977-DA1A-1EEE12CBEA89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93815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1774833550" name=""/>
          <p:cNvSpPr txBox="1"/>
          <p:nvPr/>
        </p:nvSpPr>
        <p:spPr bwMode="auto">
          <a:xfrm flipH="0" flipV="0">
            <a:off x="1077599" y="1872927"/>
            <a:ext cx="9902353" cy="4804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4434149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400787457" name=""/>
          <p:cNvSpPr txBox="1"/>
          <p:nvPr/>
        </p:nvSpPr>
        <p:spPr bwMode="auto">
          <a:xfrm flipH="0" flipV="0">
            <a:off x="1077599" y="1872927"/>
            <a:ext cx="10016472" cy="7547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Prétraitement des images</a:t>
            </a:r>
            <a:r>
              <a:rPr sz="1700" b="1">
                <a:latin typeface="Source Sans Pro"/>
                <a:ea typeface="Source Sans Pro"/>
                <a:cs typeface="Source Sans Pro"/>
              </a:rPr>
              <a:t> : Filtre flou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>
              <a:defRPr/>
            </a:pPr>
            <a:endParaRPr/>
          </a:p>
        </p:txBody>
      </p:sp>
      <p:sp>
        <p:nvSpPr>
          <p:cNvPr id="203412549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6A72FA7B-F62C-2418-CAAA-6A0008964E41}" type="slidenum">
              <a:rPr lang="fr-FR"/>
              <a:t/>
            </a:fld>
            <a:endParaRPr/>
          </a:p>
        </p:txBody>
      </p:sp>
      <p:pic>
        <p:nvPicPr>
          <p:cNvPr id="868792327" name="Image 187584445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2157599" y="2354400"/>
            <a:ext cx="7876800" cy="4032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10451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pic>
        <p:nvPicPr>
          <p:cNvPr id="75370278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99950587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BE7D8916-6A58-CAED-970D-313AEF5B64E3}" type="slidenum">
              <a:rPr lang="fr-FR"/>
              <a:t/>
            </a:fld>
            <a:endParaRPr/>
          </a:p>
        </p:txBody>
      </p:sp>
      <p:graphicFrame>
        <p:nvGraphicFramePr>
          <p:cNvPr id="832911237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3485999" y="1533686"/>
          <a:ext cx="5220000" cy="5040000"/>
        </p:xfrm>
        <a:graphic>
          <a:graphicData uri="http://schemas.openxmlformats.org/presentationml/2006/ole">
            <p:oleObj name="oleObj" r:id="rId5" imgW="5219700" imgH="5038725" progId="asc.{DB38923B-A8C0-4DE9-8AEE-A61BB5C901A5}">
              <p:embed/>
              <p:pic>
                <p:nvPicPr>
                  <p:cNvPr id="832911237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3485999" y="1533686"/>
                    <a:ext cx="5220000" cy="5040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255621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pic>
        <p:nvPicPr>
          <p:cNvPr id="4553482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816608850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C4F33908-0CD5-9246-E0F9-CE9155A9CB77}" type="slidenum">
              <a:rPr lang="fr-FR"/>
              <a:t/>
            </a:fld>
            <a:endParaRPr/>
          </a:p>
        </p:txBody>
      </p:sp>
      <p:graphicFrame>
        <p:nvGraphicFramePr>
          <p:cNvPr id="1538123855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2857093" y="1345498"/>
          <a:ext cx="6604982" cy="5404077"/>
        </p:xfrm>
        <a:graphic>
          <a:graphicData uri="http://schemas.openxmlformats.org/presentationml/2006/ole">
            <p:oleObj name="oleObj" r:id="rId5" imgW="7915275" imgH="6477000" progId="asc.{DB38923B-A8C0-4DE9-8AEE-A61BB5C901A5}">
              <p:embed/>
              <p:pic>
                <p:nvPicPr>
                  <p:cNvPr id="1538123855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2857093" y="1345498"/>
                    <a:ext cx="6604982" cy="540407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241047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1068703009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757501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628489504" name=""/>
          <p:cNvSpPr txBox="1"/>
          <p:nvPr/>
        </p:nvSpPr>
        <p:spPr bwMode="auto">
          <a:xfrm flipH="0" flipV="0">
            <a:off x="1077600" y="1872927"/>
            <a:ext cx="9832513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r>
              <a:rPr lang="fr-FR" sz="1700" b="1">
                <a:latin typeface="Source Sans Pro"/>
                <a:ea typeface="Source Sans Pro"/>
                <a:cs typeface="Source Sans Pro"/>
              </a:rPr>
              <a:t> : SIFT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54361903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36084" y="2297063"/>
            <a:ext cx="10264295" cy="403931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437775061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2C309220-A200-C263-C1E2-B193303383CF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770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1814720729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521544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546650099" name=""/>
          <p:cNvSpPr txBox="1"/>
          <p:nvPr/>
        </p:nvSpPr>
        <p:spPr bwMode="auto">
          <a:xfrm flipH="0" flipV="0">
            <a:off x="1077600" y="1872927"/>
            <a:ext cx="9839353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r>
              <a:rPr lang="fr-FR" sz="1700" b="1">
                <a:latin typeface="Source Sans Pro"/>
                <a:ea typeface="Source Sans Pro"/>
                <a:cs typeface="Source Sans Pro"/>
              </a:rPr>
              <a:t> : CNN Transfer Learning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31722200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36779" y="2293582"/>
            <a:ext cx="10263600" cy="404280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260043613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2BD6BE3C-873F-C830-1B53-C861945AC538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27692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1767936660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4762157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541470904" name=""/>
          <p:cNvSpPr txBox="1"/>
          <p:nvPr/>
        </p:nvSpPr>
        <p:spPr bwMode="auto">
          <a:xfrm flipH="0" flipV="0">
            <a:off x="1077600" y="1872927"/>
            <a:ext cx="9829633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37230788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527756" y="2353345"/>
            <a:ext cx="8467073" cy="4271991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50339922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6B540EAF-818A-8E52-44EB-57078B70E806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82774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9" y="1709733"/>
            <a:ext cx="10745655" cy="285273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3450845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sp>
        <p:nvSpPr>
          <p:cNvPr id="110889445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994613A2-58F0-047B-E64F-D44D5718F2A0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485794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47939272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271601198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47AB0E5D-7144-FA97-0862-E3A628E1A52A}" type="slidenum">
              <a:rPr lang="fr-FR"/>
              <a:t/>
            </a:fld>
            <a:endParaRPr/>
          </a:p>
        </p:txBody>
      </p:sp>
      <p:graphicFrame>
        <p:nvGraphicFramePr>
          <p:cNvPr id="1054717181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2304864" y="1744330"/>
          <a:ext cx="7582271" cy="4790788"/>
        </p:xfrm>
        <a:graphic>
          <a:graphicData uri="http://schemas.openxmlformats.org/presentationml/2006/ole">
            <p:oleObj name="oleObj" r:id="rId5" imgW="7229475" imgH="4572000" progId="asc.{DB38923B-A8C0-4DE9-8AEE-A61BB5C901A5}">
              <p:embed/>
              <p:pic>
                <p:nvPicPr>
                  <p:cNvPr id="1054717181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2304864" y="1744330"/>
                    <a:ext cx="7582271" cy="479078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489945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sp>
        <p:nvSpPr>
          <p:cNvPr id="1564998516" name=""/>
          <p:cNvSpPr txBox="1"/>
          <p:nvPr/>
        </p:nvSpPr>
        <p:spPr bwMode="auto">
          <a:xfrm flipH="0" flipV="0">
            <a:off x="1077599" y="1872927"/>
            <a:ext cx="9902353" cy="4804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4943863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185137723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3C0914B9-51F2-D6EA-D212-74E4ACBFA76A}" type="slidenum">
              <a:rPr lang="fr-FR"/>
              <a:t/>
            </a:fld>
            <a:endParaRPr/>
          </a:p>
        </p:txBody>
      </p:sp>
      <p:graphicFrame>
        <p:nvGraphicFramePr>
          <p:cNvPr id="316054660" name=""/>
          <p:cNvGraphicFramePr>
            <a:graphicFrameLocks xmlns:a="http://schemas.openxmlformats.org/drawingml/2006/main" noChangeAspect="1"/>
          </p:cNvGraphicFramePr>
          <p:nvPr/>
        </p:nvGraphicFramePr>
        <p:xfrm>
          <a:off x="3809999" y="1458507"/>
          <a:ext cx="4572000" cy="4176000"/>
        </p:xfrm>
        <a:graphic>
          <a:graphicData uri="http://schemas.openxmlformats.org/presentationml/2006/ole">
            <p:oleObj name="oleObj" r:id="rId5" imgW="4572000" imgH="4171950" progId="asc.{DB38923B-A8C0-4DE9-8AEE-A61BB5C901A5}">
              <p:embed/>
              <p:pic>
                <p:nvPicPr>
                  <p:cNvPr id="316054660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>
                    <a:off x="3809999" y="1458507"/>
                    <a:ext cx="4572000" cy="4176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144783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sp>
        <p:nvSpPr>
          <p:cNvPr id="1460697273" name=""/>
          <p:cNvSpPr txBox="1"/>
          <p:nvPr/>
        </p:nvSpPr>
        <p:spPr bwMode="auto">
          <a:xfrm flipH="0" flipV="0">
            <a:off x="1077599" y="1872927"/>
            <a:ext cx="9902353" cy="4804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8667683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803700953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5FED0533-6620-2A71-BD44-4EC151A5F85A}" type="slidenum">
              <a:rPr lang="fr-FR"/>
              <a:t/>
            </a:fld>
            <a:endParaRPr/>
          </a:p>
        </p:txBody>
      </p:sp>
      <p:graphicFrame>
        <p:nvGraphicFramePr>
          <p:cNvPr id="1304342066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3814932" y="1541902"/>
          <a:ext cx="4562130" cy="5235376"/>
        </p:xfrm>
        <a:graphic>
          <a:graphicData uri="http://schemas.openxmlformats.org/presentationml/2006/ole">
            <p:oleObj name="oleObj" r:id="rId5" imgW="4600575" imgH="5286375" progId="asc.{DB38923B-A8C0-4DE9-8AEE-A61BB5C901A5}">
              <p:embed/>
              <p:pic>
                <p:nvPicPr>
                  <p:cNvPr id="1304342066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3814932" y="1541902"/>
                    <a:ext cx="4562130" cy="523537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971311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42388438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40168778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04F58349-AC03-659E-BAD7-ADF5ABA07BF6}" type="slidenum">
              <a:rPr lang="fr-FR"/>
              <a:t/>
            </a:fld>
            <a:endParaRPr/>
          </a:p>
        </p:txBody>
      </p:sp>
      <p:sp>
        <p:nvSpPr>
          <p:cNvPr id="78287558" name=""/>
          <p:cNvSpPr txBox="1"/>
          <p:nvPr/>
        </p:nvSpPr>
        <p:spPr bwMode="auto">
          <a:xfrm flipH="0" flipV="0">
            <a:off x="502118" y="1872927"/>
            <a:ext cx="11690991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Processing simple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26 lots de 32 images par epoch, et sur 50 epochs. Le model est entraîné toujours sur les mêmes images.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47529169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45295" y="2531023"/>
            <a:ext cx="4877160" cy="2531023"/>
          </a:xfrm>
          <a:prstGeom prst="rect">
            <a:avLst/>
          </a:prstGeom>
        </p:spPr>
      </p:pic>
      <p:pic>
        <p:nvPicPr>
          <p:cNvPr id="7773523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7314915" y="2531023"/>
            <a:ext cx="4212273" cy="2185976"/>
          </a:xfrm>
          <a:prstGeom prst="rect">
            <a:avLst/>
          </a:prstGeom>
        </p:spPr>
      </p:pic>
      <p:pic>
        <p:nvPicPr>
          <p:cNvPr id="1204044629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186642" y="4822610"/>
            <a:ext cx="3935475" cy="204233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15735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2865205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2596406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FF7308F1-3542-D68B-1393-EFB5B331CD9E}" type="slidenum">
              <a:rPr lang="fr-FR"/>
              <a:t/>
            </a:fld>
            <a:endParaRPr/>
          </a:p>
        </p:txBody>
      </p:sp>
      <p:sp>
        <p:nvSpPr>
          <p:cNvPr id="1932500140" name=""/>
          <p:cNvSpPr txBox="1"/>
          <p:nvPr/>
        </p:nvSpPr>
        <p:spPr bwMode="auto">
          <a:xfrm flipH="0" flipV="0">
            <a:off x="728135" y="1872927"/>
            <a:ext cx="11416015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Data augmentation</a:t>
            </a:r>
            <a:r>
              <a:rPr lang="fr-FR" sz="1700" b="1">
                <a:latin typeface="Source Sans Pro"/>
                <a:ea typeface="Source Sans Pro"/>
                <a:cs typeface="Source Sans Pro"/>
              </a:rPr>
              <a:t>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26 lots de 32 images augmentées par epoch, et sur 50 epochs, soit environ 41 600 images au total. .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22897047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23937" y="2874380"/>
            <a:ext cx="11744125" cy="21446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92688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sp>
        <p:nvSpPr>
          <p:cNvPr id="708110233" name=""/>
          <p:cNvSpPr txBox="1"/>
          <p:nvPr/>
        </p:nvSpPr>
        <p:spPr bwMode="auto">
          <a:xfrm flipH="0" flipV="0">
            <a:off x="1077599" y="1872927"/>
            <a:ext cx="9902353" cy="4804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73837607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202775260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51AD1321-19E9-2576-1F6A-79AC50A73575}" type="slidenum">
              <a:rPr lang="fr-FR"/>
              <a:t/>
            </a:fld>
            <a:endParaRPr/>
          </a:p>
        </p:txBody>
      </p:sp>
      <p:graphicFrame>
        <p:nvGraphicFramePr>
          <p:cNvPr id="1619648466" name=""/>
          <p:cNvGraphicFramePr>
            <a:graphicFrameLocks xmlns:a="http://schemas.openxmlformats.org/drawingml/2006/main" noChangeAspect="1"/>
          </p:cNvGraphicFramePr>
          <p:nvPr/>
        </p:nvGraphicFramePr>
        <p:xfrm>
          <a:off x="1423987" y="1872927"/>
          <a:ext cx="9344024" cy="4505324"/>
        </p:xfrm>
        <a:graphic>
          <a:graphicData uri="http://schemas.openxmlformats.org/presentationml/2006/ole">
            <p:oleObj name="oleObj" r:id="rId5" imgW="8810625" imgH="4238625" progId="asc.{DB38923B-A8C0-4DE9-8AEE-A61BB5C901A5}">
              <p:embed/>
              <p:pic>
                <p:nvPicPr>
                  <p:cNvPr id="1619648466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>
                    <a:off x="1423987" y="1872927"/>
                    <a:ext cx="9344024" cy="450532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78389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53929157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990740615" name=""/>
          <p:cNvSpPr txBox="1"/>
          <p:nvPr/>
        </p:nvSpPr>
        <p:spPr bwMode="auto">
          <a:xfrm flipH="0" flipV="0">
            <a:off x="1077598" y="1872927"/>
            <a:ext cx="9863470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r>
              <a:rPr lang="fr-FR" sz="1700" b="1">
                <a:latin typeface="Source Sans Pro"/>
                <a:ea typeface="Source Sans Pro"/>
                <a:cs typeface="Source Sans Pro"/>
              </a:rPr>
              <a:t> : Preprocessing simple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63899963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68BD1147-F36E-F6B2-26C4-A5517133FD2B}" type="slidenum">
              <a:rPr lang="fr-FR"/>
              <a:t/>
            </a:fld>
            <a:endParaRPr/>
          </a:p>
        </p:txBody>
      </p:sp>
      <p:pic>
        <p:nvPicPr>
          <p:cNvPr id="98826869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946148" y="2353347"/>
            <a:ext cx="8299703" cy="419500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581477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21162537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860552081" name=""/>
          <p:cNvSpPr txBox="1"/>
          <p:nvPr/>
        </p:nvSpPr>
        <p:spPr bwMode="auto">
          <a:xfrm flipH="0" flipV="0">
            <a:off x="1077598" y="1872927"/>
            <a:ext cx="9869590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r>
              <a:rPr lang="fr-FR" sz="1700" b="1">
                <a:latin typeface="Source Sans Pro"/>
                <a:ea typeface="Source Sans Pro"/>
                <a:cs typeface="Source Sans Pro"/>
              </a:rPr>
              <a:t> : Data augmentation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50815835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77B26008-213A-2138-4B65-F54476595582}" type="slidenum">
              <a:rPr lang="fr-FR"/>
              <a:t/>
            </a:fld>
            <a:endParaRPr/>
          </a:p>
        </p:txBody>
      </p:sp>
      <p:pic>
        <p:nvPicPr>
          <p:cNvPr id="184412390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948218" y="2353346"/>
            <a:ext cx="8295563" cy="4192911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31045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16421238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183992833" name=""/>
          <p:cNvSpPr txBox="1"/>
          <p:nvPr/>
        </p:nvSpPr>
        <p:spPr bwMode="auto">
          <a:xfrm flipH="0" flipV="0">
            <a:off x="1077598" y="1872927"/>
            <a:ext cx="9855550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151677631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CC789EF5-17D9-4E22-63B7-14E66FF9327D}" type="slidenum">
              <a:rPr lang="fr-FR"/>
              <a:t/>
            </a:fld>
            <a:endParaRPr/>
          </a:p>
        </p:txBody>
      </p:sp>
      <p:pic>
        <p:nvPicPr>
          <p:cNvPr id="208456867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852130" y="2336873"/>
            <a:ext cx="6487738" cy="431415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82405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20960028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428722429" name=""/>
          <p:cNvSpPr txBox="1"/>
          <p:nvPr/>
        </p:nvSpPr>
        <p:spPr bwMode="auto">
          <a:xfrm flipH="0" flipV="0">
            <a:off x="1077599" y="1872927"/>
            <a:ext cx="9863111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26456472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F277A88D-5A72-237B-5213-8F7DE7FF9BFA}" type="slidenum">
              <a:rPr lang="fr-FR"/>
              <a:t/>
            </a:fld>
            <a:endParaRPr/>
          </a:p>
        </p:txBody>
      </p:sp>
      <p:pic>
        <p:nvPicPr>
          <p:cNvPr id="45936135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946148" y="2462790"/>
            <a:ext cx="8299703" cy="40937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834162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4"/>
            <a:ext cx="9626224" cy="2852734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6 </a:t>
            </a:r>
            <a:r>
              <a:rPr/>
              <a:t>Test d’une API</a:t>
            </a:r>
            <a:br>
              <a:rPr/>
            </a:br>
            <a:endParaRPr/>
          </a:p>
        </p:txBody>
      </p:sp>
      <p:pic>
        <p:nvPicPr>
          <p:cNvPr id="18963889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265584" y="6215465"/>
            <a:ext cx="822460" cy="462633"/>
          </a:xfrm>
          <a:prstGeom prst="rect">
            <a:avLst/>
          </a:prstGeom>
          <a:ln w="12699">
            <a:solidFill>
              <a:schemeClr val="accent1"/>
            </a:solidFill>
            <a:prstDash val="solid"/>
          </a:ln>
        </p:spPr>
      </p:pic>
      <p:sp>
        <p:nvSpPr>
          <p:cNvPr id="770607923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02E5C874-C897-AEF9-D6C6-B5EBE58208F7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12248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6 </a:t>
            </a:r>
            <a:r>
              <a:rPr lang="fr-FR"/>
              <a:t>Test d’une API</a:t>
            </a:r>
            <a:endParaRPr lang="fr-FR"/>
          </a:p>
        </p:txBody>
      </p:sp>
      <p:pic>
        <p:nvPicPr>
          <p:cNvPr id="4362655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861407959" name=""/>
          <p:cNvSpPr txBox="1"/>
          <p:nvPr/>
        </p:nvSpPr>
        <p:spPr bwMode="auto">
          <a:xfrm flipH="0" flipV="0">
            <a:off x="1077599" y="1872926"/>
            <a:ext cx="10161043" cy="2941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72865" indent="-272865"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Collecte de données via API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  <a:p>
            <a:pPr marL="272865" indent="-272865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 Objectif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Elargissement de la gamme d'épicerie fine, spécifiquement les produits à base de champagne.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  <a:p>
            <a:pPr marL="272865" indent="-272865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 APi Utilisée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Edamam Food.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  <a:p>
            <a:pPr marL="272865" indent="-272865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Méthode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Requête API pour filtrer et collecter des informations sur les produits a base de champagne.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  <a:p>
            <a:pPr marL="272865" indent="-272865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Filtre Appliqué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Recherche par ingrédient spécifique "champagne".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Données Collectées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foodid, label, category, foodContentsLabel, image.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148626300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BBB4F453-3BF1-5578-AA2C-2583810E159B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50818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6 </a:t>
            </a:r>
            <a:r>
              <a:rPr lang="fr-FR"/>
              <a:t>Test d’une API</a:t>
            </a:r>
            <a:endParaRPr lang="fr-FR"/>
          </a:p>
        </p:txBody>
      </p:sp>
      <p:pic>
        <p:nvPicPr>
          <p:cNvPr id="17854847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090170855" name=""/>
          <p:cNvSpPr txBox="1"/>
          <p:nvPr/>
        </p:nvSpPr>
        <p:spPr bwMode="auto">
          <a:xfrm flipH="0" flipV="0">
            <a:off x="1077598" y="1872925"/>
            <a:ext cx="10161402" cy="350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72864" indent="-272864"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Collecte de données via API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9354418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88473" y="1564043"/>
            <a:ext cx="12015051" cy="4683381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45558813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67F11049-45D8-EFDE-6730-3BAF4F72947D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05774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6 </a:t>
            </a:r>
            <a:r>
              <a:rPr lang="fr-FR"/>
              <a:t>Test d’une API</a:t>
            </a:r>
            <a:endParaRPr lang="fr-FR"/>
          </a:p>
        </p:txBody>
      </p:sp>
      <p:pic>
        <p:nvPicPr>
          <p:cNvPr id="11734374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77610641" name=""/>
          <p:cNvSpPr txBox="1"/>
          <p:nvPr/>
        </p:nvSpPr>
        <p:spPr bwMode="auto">
          <a:xfrm flipH="0" flipV="0">
            <a:off x="1077599" y="1872926"/>
            <a:ext cx="10308283" cy="39780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Principes Clés du RGPD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Ne collecter que les données nécessaire pour atteindre l’objectif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Etre transparent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Organiser et faciliter l’exercice des droits des personnes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Fixer des durées de conservation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Sécuriser les données et identifier les risques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algn="l">
              <a:lnSpc>
                <a:spcPct val="200000"/>
              </a:lnSpc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Dans notre cas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272865" indent="-272865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Collecte limitée aux informations nécessaires, aucune donnée personnelle n’est traitée.</a:t>
            </a:r>
            <a:endParaRPr sz="1700" b="0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33265212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55E6FDF9-407C-F22A-0AB1-14EE1E6D5C1C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727289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3"/>
            <a:ext cx="9626223" cy="2852733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7 </a:t>
            </a:r>
            <a:r>
              <a:rPr lang="fr-FR"/>
              <a:t>Conclusion</a:t>
            </a:r>
            <a:br>
              <a:rPr/>
            </a:br>
            <a:endParaRPr/>
          </a:p>
        </p:txBody>
      </p:sp>
      <p:sp>
        <p:nvSpPr>
          <p:cNvPr id="125436504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6CF725F2-6DE5-80D2-AAE8-82DF204C7E45}" type="slidenum">
              <a:rPr lang="fr-FR"/>
              <a:t/>
            </a:fld>
            <a:endParaRPr/>
          </a:p>
        </p:txBody>
      </p:sp>
      <p:pic>
        <p:nvPicPr>
          <p:cNvPr id="90637022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7" y="5941012"/>
            <a:ext cx="1242585" cy="7907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440592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3"/>
            <a:ext cx="9668435" cy="1325562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sz="3600"/>
              <a:t>7 Conclusion</a:t>
            </a:r>
            <a:endParaRPr sz="3600"/>
          </a:p>
        </p:txBody>
      </p:sp>
      <p:sp>
        <p:nvSpPr>
          <p:cNvPr id="1511290730" name="Content Placeholder 2"/>
          <p:cNvSpPr>
            <a:spLocks noGrp="1"/>
          </p:cNvSpPr>
          <p:nvPr>
            <p:ph idx="1"/>
          </p:nvPr>
        </p:nvSpPr>
        <p:spPr bwMode="auto">
          <a:xfrm>
            <a:off x="1261782" y="1825623"/>
            <a:ext cx="9668433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lnSpc>
                <a:spcPct val="150000"/>
              </a:lnSpc>
              <a:defRPr/>
            </a:pPr>
            <a:r>
              <a:rPr lang="fr-FR"/>
              <a:t>Classification automatique d’articles en utilisant les descriptions ou les images est réalisable.</a:t>
            </a:r>
            <a:endParaRPr lang="fr-FR"/>
          </a:p>
          <a:p>
            <a:pPr>
              <a:lnSpc>
                <a:spcPct val="150000"/>
              </a:lnSpc>
              <a:defRPr/>
            </a:pPr>
            <a:r>
              <a:rPr lang="fr-FR"/>
              <a:t>Classification plus avancée avec un modèle préentrainé (VGG16 avec data augmentation)</a:t>
            </a:r>
            <a:endParaRPr lang="fr-FR"/>
          </a:p>
          <a:p>
            <a:pPr>
              <a:lnSpc>
                <a:spcPct val="150000"/>
              </a:lnSpc>
              <a:defRPr/>
            </a:pPr>
            <a:r>
              <a:rPr lang="fr-FR"/>
              <a:t>Collecte des 10 premiers produits à base de champagne via requête API.</a:t>
            </a:r>
            <a:endParaRPr lang="fr-FR"/>
          </a:p>
        </p:txBody>
      </p:sp>
      <p:sp>
        <p:nvSpPr>
          <p:cNvPr id="234038727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9351934" y="980374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  <a:lvl2pPr>
              <a:defRPr sz="2200" b="1">
                <a:solidFill>
                  <a:schemeClr val="bg1"/>
                </a:solidFill>
              </a:defRPr>
            </a:lvl2pPr>
            <a:lvl3pPr>
              <a:defRPr sz="2200" b="1">
                <a:solidFill>
                  <a:schemeClr val="bg1"/>
                </a:solidFill>
              </a:defRPr>
            </a:lvl3pPr>
            <a:lvl4pPr>
              <a:defRPr sz="2200" b="1">
                <a:solidFill>
                  <a:schemeClr val="bg1"/>
                </a:solidFill>
              </a:defRPr>
            </a:lvl4pPr>
            <a:lvl5pPr>
              <a:defRPr sz="2200" b="1">
                <a:solidFill>
                  <a:schemeClr val="bg1"/>
                </a:solidFill>
              </a:defRPr>
            </a:lvl5pPr>
            <a:lvl6pPr>
              <a:defRPr sz="2200" b="1">
                <a:solidFill>
                  <a:schemeClr val="bg1"/>
                </a:solidFill>
              </a:defRPr>
            </a:lvl6pPr>
            <a:lvl7pPr>
              <a:defRPr sz="2200" b="1">
                <a:solidFill>
                  <a:schemeClr val="bg1"/>
                </a:solidFill>
              </a:defRPr>
            </a:lvl7pPr>
            <a:lvl8pPr>
              <a:defRPr sz="2200" b="1">
                <a:solidFill>
                  <a:schemeClr val="bg1"/>
                </a:solidFill>
              </a:defRPr>
            </a:lvl8pPr>
            <a:lvl9pPr>
              <a:defRPr sz="2200"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fld id="{55158736-CA3C-0088-AC11-BF6F32ED8E46}" type="slidenum">
              <a:rPr lang="fr-FR"/>
              <a:t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40 1">
      <a:dk1>
        <a:srgbClr val="000000"/>
      </a:dk1>
      <a:lt1>
        <a:srgbClr val="404040"/>
      </a:lt1>
      <a:dk2>
        <a:srgbClr val="44546A"/>
      </a:dk2>
      <a:lt2>
        <a:srgbClr val="404040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909090"/>
      </a:hlink>
      <a:folHlink>
        <a:srgbClr val="656565"/>
      </a:folHlink>
    </a:clrScheme>
    <a:fontScheme name="Office Them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44</Slides>
  <Notes>44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Guillaume Lafon</dc:creator>
  <cp:lastModifiedBy/>
  <cp:revision>38</cp:revision>
  <dcterms:created xsi:type="dcterms:W3CDTF">2018-07-30T23:03:22Z</dcterms:created>
  <dcterms:modified xsi:type="dcterms:W3CDTF">2025-07-23T15:13:32Z</dcterms:modified>
</cp:coreProperties>
</file>