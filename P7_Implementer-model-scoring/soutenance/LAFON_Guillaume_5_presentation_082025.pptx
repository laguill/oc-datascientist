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s/slide8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4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1EBBBCC-DAD2-459C-BE2E-F6DE35CF9A28}">
  <a:tblStyle styleId="{91EBBBCC-DAD2-459C-BE2E-F6DE35CF9A28}" styleName="Dark Style 2 - Accent 3/Accent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  <a:fill>
          <a:solidFill>
            <a:schemeClr val="accent3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noFill/>
            </a:ln>
          </a:bottom>
        </a:tcBdr>
        <a:fill>
          <a:solidFill>
            <a:schemeClr val="accent4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 /><Relationship Id="rId50" Type="http://schemas.openxmlformats.org/officeDocument/2006/relationships/tableStyles" Target="tableStyles.xml" /><Relationship Id="rId5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5157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623308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184151253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857321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714522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39626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048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562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680463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607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2427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42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306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929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344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253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323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188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288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179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03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83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7836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Description des emprunteurs et des demandes de prêt :</a:t>
            </a:r>
            <a:endParaRPr sz="1600">
              <a:latin typeface="Source Sans Pro"/>
              <a:cs typeface="Source Sans Pro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1100" b="1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Données démographiques</a:t>
            </a: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 : Âge, sexe, situation familiale, etc.</a:t>
            </a:r>
            <a:endParaRPr sz="1600">
              <a:latin typeface="Source Sans Pro"/>
              <a:cs typeface="Source Sans Pro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1100" b="1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Données financières</a:t>
            </a: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 : Revenu, voiture de fonction, locataire, etc.</a:t>
            </a:r>
            <a:endParaRPr sz="1600">
              <a:latin typeface="Source Sans Pro"/>
              <a:cs typeface="Source Sans Pro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1100" b="1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Informations liées à la demande</a:t>
            </a: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 : Documents fournis, première demande de prêt, etc.</a:t>
            </a:r>
            <a:endParaRPr sz="1600">
              <a:latin typeface="Source Sans Pro"/>
              <a:cs typeface="Source Sans Pro"/>
            </a:endParaRPr>
          </a:p>
          <a:p>
            <a:pPr>
              <a:defRPr/>
            </a:pPr>
            <a:endParaRPr sz="800"/>
          </a:p>
        </p:txBody>
      </p:sp>
      <p:sp>
        <p:nvSpPr>
          <p:cNvPr id="977837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8E0991-7DD3-26F0-3306-3577FABA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811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07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238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D8F18-2DE6-9565-B7CD-881AFBA27E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77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5091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0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5324E3-66BB-8244-86FA-08FA3F748E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399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458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252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08B4F-C2FC-0D75-7FDF-B953051910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673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814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93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D57B11-5076-9C58-0BFC-7AF7BD91B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094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0858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988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99AB5D-C749-FA8F-6C94-D4904908E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772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610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3157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D7FA2B-3D9E-82B5-8C37-3662F0D833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35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810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693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670777-EC5F-A6D3-9914-D4FE6ACACA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34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2973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895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19F1E3-A45E-764B-D855-DBB05A773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097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871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635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AF64F0-BA21-09CC-AFEF-D08E39F404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376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800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792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96C8A2-2CAE-D497-DDDD-EC9A267939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330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187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Le graphique à barres ci-dessus révèle que la majorité des clients remboursent effectivement leurs prêts. On observe un déséquilibre important dans la distribution de la variable cible.</a:t>
            </a:r>
            <a:endParaRPr sz="11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Cette disparité est un facteur crucial à considérer lors du choix d'une méthode d'évaluation pour le modèle.</a:t>
            </a:r>
            <a:endParaRPr sz="11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 sz="11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En effet, il est possible d'obtenir de bonnes performances prédictives simplement parce que le modèle néglige les prédictions pour les clients à risque.</a:t>
            </a:r>
            <a:endParaRPr sz="11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 sz="11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Dans un tel cas, le modèle perdrait son utilité, car il ne remplirait pas son objectif principal d'identifier correctement les clients à risque.</a:t>
            </a:r>
            <a:endParaRPr sz="11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</p:txBody>
      </p:sp>
      <p:sp>
        <p:nvSpPr>
          <p:cNvPr id="825996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C8CC6-AB83-0E8A-3399-BCB70C344D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907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862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56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E70C1D-35EA-037A-59AE-1BCB6E4972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897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035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606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EBD545-0F94-920A-FC42-05B142DEC7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567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581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471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6038BB-817B-B514-DD4F-E633FE37A3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70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936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711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977575-D733-3926-944D-2F5EEDB8D4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255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030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845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BF4891-0A06-A48E-0128-B3203F564E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815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11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082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91DAE-3710-303A-4C50-0D1245FA45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17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995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07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76EB8A-D889-5694-63AE-23E216ECFF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49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192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7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9BFD1E-8DC5-7EF5-5BF1-5CE0B21407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566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916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04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B631AD-CB21-DDA3-6324-35749C0F9C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361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06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760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45143-63D8-99B1-B1A1-59EAA52445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220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4701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483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D2E18-D15E-5DAC-60FB-BC90501EA5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858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4348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10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C049E-BDC5-16F4-9E78-E3A6607C2B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99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2926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260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35065-E6C9-F4A0-E5CE-7A76743B5C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6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765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984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DC785D-2D50-6E0B-64A8-EAC70CEBF0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284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778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185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E7A4EA-B4F8-1E17-DB82-FCE72F742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277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486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53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81B908-C3AD-3253-F682-81F72CAE39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091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236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90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0110A6-C52B-D28F-E056-5B47B4AD2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549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9549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166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0BC9A-62A3-DBDD-A68A-F6D81CA1D5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009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741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57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80F42D-50A6-87B8-45DA-BF89023E25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335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616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068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DD46DD-122C-4BA2-AE74-182D1B47F0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873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213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021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263732-9F33-D409-1D2B-16DC81AF24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745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729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574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C83EF-C971-52A4-4937-D7B2FD358E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21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308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87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1DFB39-B507-A26B-280F-602A8C00E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739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094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14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2CF20C-FB87-D9D1-76CB-B37E7F57C9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089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863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833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63EF15-CE2B-3195-4925-FE1A1B24E4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00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767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084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E6F08D-2F56-9029-F70D-2A25C17D24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158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2020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143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613235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4141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833143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1F99BE7-0409-93F8-0309-044EF2021A17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70562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267417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78075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ADD994A6-F5A7-682C-C17A-F6B833735B4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757065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79313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367567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15D0009-1646-FD38-7AD6-6666D101796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750674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72986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85324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3905767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C62F0AC-2641-79B7-04F7-E1AC3EF851C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807672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65676461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818002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3087077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5" y="980375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7AB8A59-D064-84AA-BAFA-3F67DA652490}" type="slidenum">
              <a:rPr lang="fr-FR"/>
              <a:t/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slide" Target="slide22.xml"/><Relationship Id="rId8" Type="http://schemas.openxmlformats.org/officeDocument/2006/relationships/slide" Target="slide28.xml"/><Relationship Id="rId9" Type="http://schemas.openxmlformats.org/officeDocument/2006/relationships/slide" Target="slide30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oleObject" Target="../embeddings/oleObject2.bin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oleObject" Target="../embeddings/oleObject3.bin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5" Type="http://schemas.openxmlformats.org/officeDocument/2006/relationships/image" Target="../media/image12.png"/><Relationship Id="rId6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oleObject" Target="../embeddings/oleObject6.bin"/><Relationship Id="rId5" Type="http://schemas.openxmlformats.org/officeDocument/2006/relationships/image" Target="../media/image14.png"/><Relationship Id="rId6" Type="http://schemas.openxmlformats.org/officeDocument/2006/relationships/oleObject" Target="../embeddings/oleObject7.bin"/><Relationship Id="rId7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oleObject" Target="../embeddings/oleObject8.bin"/><Relationship Id="rId5" Type="http://schemas.openxmlformats.org/officeDocument/2006/relationships/image" Target="../media/image16.png"/><Relationship Id="rId6" Type="http://schemas.openxmlformats.org/officeDocument/2006/relationships/oleObject" Target="../embeddings/oleObject9.bin"/><Relationship Id="rId7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oleObject" Target="../embeddings/oleObject10.bin"/><Relationship Id="rId5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oleObject" Target="../embeddings/oleObject11.bin"/><Relationship Id="rId5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oleObject" Target="../embeddings/oleObject13.bin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oleObject" Target="../embeddings/oleObject14.bin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33865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	</a:t>
            </a:r>
            <a:r>
              <a:rPr lang="fr-FR"/>
              <a:t>Projet 7</a:t>
            </a:r>
            <a:endParaRPr lang="en-US"/>
          </a:p>
        </p:txBody>
      </p:sp>
      <p:sp>
        <p:nvSpPr>
          <p:cNvPr id="78834597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Implémenter un modèle de scoring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51825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165055041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3" action="ppaction://hlinksldjump" tooltip="Diapositive 3"/>
              </a:rPr>
              <a:t>1. Introduction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sz="1700" b="1" u="sng">
                <a:solidFill>
                  <a:schemeClr val="tx1"/>
                </a:solidFill>
                <a:hlinkClick r:id="rId4" action="ppaction://hlinksldjump" tooltip="Diapositive 5"/>
              </a:rPr>
              <a:t>2. Présentation du jeu de données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5" action="ppaction://hlinksldjump" tooltip="Diapositive 7"/>
              </a:rPr>
              <a:t>3 Etude de faisabilité sur les description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6" action="ppaction://hlinksldjump" tooltip="Diapositive 14"/>
              </a:rPr>
              <a:t>4. Modèle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7" action="ppaction://hlinksldjump" tooltip="Diapositive 22"/>
              </a:rPr>
              <a:t>5 Classification supervisée des images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tx1"/>
                </a:solidFill>
                <a:hlinkClick r:id="rId8" action="ppaction://hlinksldjump" tooltip="Diapositive 28"/>
              </a:rPr>
              <a:t>6. Test d’une API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i="0" u="sng" strike="noStrike" cap="none" spc="0">
                <a:latin typeface="Source Sans Pro"/>
                <a:ea typeface="Source Sans Pro"/>
                <a:cs typeface="Source Sans Pro"/>
                <a:hlinkClick r:id="rId9" action="ppaction://hlinksldjump" tooltip="Diapositive 30"/>
              </a:rPr>
              <a:t>7 Conclusion</a:t>
            </a:r>
            <a:endParaRPr sz="1700" b="1" u="sng">
              <a:solidFill>
                <a:schemeClr val="tx1"/>
              </a:solidFill>
            </a:endParaRPr>
          </a:p>
        </p:txBody>
      </p:sp>
      <p:sp>
        <p:nvSpPr>
          <p:cNvPr id="149013362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E1C5022-64DE-6212-1F2B-DF3A7A0C0E87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65055041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4212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82887" y="1420677"/>
            <a:ext cx="9626225" cy="1059209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endParaRPr/>
          </a:p>
        </p:txBody>
      </p:sp>
      <p:sp>
        <p:nvSpPr>
          <p:cNvPr id="49074733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9804DC6-9870-9FB8-3039-899F63A512D1}" type="slidenum">
              <a:rPr lang="fr-FR"/>
              <a:t/>
            </a:fld>
            <a:endParaRPr/>
          </a:p>
        </p:txBody>
      </p:sp>
      <p:pic>
        <p:nvPicPr>
          <p:cNvPr id="18231806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60864" y="2415092"/>
            <a:ext cx="7870271" cy="3118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24767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41825927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L’entreprise place de marché propose des crédits à la consommation 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pour des personnes ayant peu ou pas du tout d'historique de prêt.</a:t>
            </a:r>
            <a:endParaRPr lang="fr-FR"/>
          </a:p>
          <a:p>
            <a:pPr marL="0" lvl="0" indent="0">
              <a:lnSpc>
                <a:spcPct val="100000"/>
              </a:lnSpc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 b="1"/>
          </a:p>
          <a:p>
            <a:pPr marL="0" lvl="0" indent="0">
              <a:lnSpc>
                <a:spcPct val="90000"/>
              </a:lnSpc>
              <a:spcBef>
                <a:spcPts val="566"/>
              </a:spcBef>
              <a:buNone/>
              <a:defRPr/>
            </a:pPr>
            <a:r>
              <a:rPr lang="fr-FR" b="0"/>
              <a:t>Formulation de la problématique :</a:t>
            </a:r>
            <a:endParaRPr b="0"/>
          </a:p>
          <a:p>
            <a:pPr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Calculer la probabilité qu’un client rembourse</a:t>
            </a:r>
            <a:endParaRPr lang="fr-FR" sz="16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Classifier la demande en crédit accordé ou refusé.</a:t>
            </a:r>
            <a:endParaRPr sz="1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endParaRPr>
              <a:latin typeface="Source Sans Pro"/>
              <a:cs typeface="Source Sans Pro"/>
            </a:endParaRPr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Jeu de données contenant des informations sur les clients ( 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données comportementales, données provenant d'autres institutions financières)</a:t>
            </a:r>
            <a:endParaRPr lang="fr-FR"/>
          </a:p>
        </p:txBody>
      </p:sp>
      <p:sp>
        <p:nvSpPr>
          <p:cNvPr id="128635158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AA2E8BE-E580-DDD9-503B-2C68CB1BFE61}" type="slidenum">
              <a:rPr lang="fr-FR"/>
              <a:t/>
            </a:fld>
            <a:endParaRPr/>
          </a:p>
        </p:txBody>
      </p:sp>
      <p:pic>
        <p:nvPicPr>
          <p:cNvPr id="727584912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5748940" y="266237"/>
            <a:ext cx="1953432" cy="1424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41825927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6220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lang="fr-FR"/>
          </a:p>
        </p:txBody>
      </p:sp>
      <p:sp>
        <p:nvSpPr>
          <p:cNvPr id="56059158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E3EC634-E74E-A503-A4D7-322A616FDBBD}" type="slidenum">
              <a:rPr lang="fr-FR"/>
              <a:t/>
            </a:fld>
            <a:endParaRPr/>
          </a:p>
        </p:txBody>
      </p:sp>
      <p:pic>
        <p:nvPicPr>
          <p:cNvPr id="133994647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8" y="5612294"/>
            <a:ext cx="1485253" cy="108304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7953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sz="3600"/>
          </a:p>
        </p:txBody>
      </p:sp>
      <p:sp>
        <p:nvSpPr>
          <p:cNvPr id="193224305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69B3EAA-B931-2F05-0E04-BBE1C4C2B1C5}" type="slidenum">
              <a:rPr lang="fr-FR"/>
              <a:t/>
            </a:fld>
            <a:endParaRPr/>
          </a:p>
        </p:txBody>
      </p:sp>
      <p:pic>
        <p:nvPicPr>
          <p:cNvPr id="186773029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graphicFrame>
        <p:nvGraphicFramePr>
          <p:cNvPr id="333431883" name=""/>
          <p:cNvGraphicFramePr>
            <a:graphicFrameLocks xmlns:a="http://schemas.openxmlformats.org/drawingml/2006/main"/>
          </p:cNvGraphicFramePr>
          <p:nvPr/>
        </p:nvGraphicFramePr>
        <p:xfrm>
          <a:off x="1176374" y="1764694"/>
          <a:ext cx="9080499" cy="420624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{91EBBBCC-DAD2-459C-BE2E-F6DE35CF9A28}</a:tableStyleId>
              </a:tblPr>
              <a:tblGrid>
                <a:gridCol w="2367705"/>
                <a:gridCol w="6712794"/>
              </a:tblGrid>
              <a:tr h="20193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Élément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Description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0193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SK_ID_CURR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Identifiant unique pour chaque demande de prêt.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0193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TARGET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Variable cible indiquant le résultat du prêt :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 : Prêt remboursé sans problème.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1 : Difficultés de remboursement.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38481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Nombre de clients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300 000 train / 40 000 test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Données démographiques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: Âge, sexe, situation familiale, etc.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Données financières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: Revenu, voiture de fonction, locataire, etc.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38481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Informations liées à la demande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: Documents fournis, première demande de prêt, etc.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1820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3 Modélisation </a:t>
            </a:r>
            <a:endParaRPr lang="fr-FR"/>
          </a:p>
        </p:txBody>
      </p:sp>
      <p:sp>
        <p:nvSpPr>
          <p:cNvPr id="9308672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1B1C71A3-5EF4-88CC-AA7C-D65195906E2A}" type="slidenum">
              <a:rPr lang="fr-FR"/>
              <a:t/>
            </a:fld>
            <a:endParaRPr/>
          </a:p>
        </p:txBody>
      </p:sp>
      <p:pic>
        <p:nvPicPr>
          <p:cNvPr id="116094610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323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203427808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1E73F91-21E4-EB6B-E9B4-5D00EBC5174A}" type="slidenum">
              <a:rPr lang="fr-FR"/>
              <a:t/>
            </a:fld>
            <a:endParaRPr/>
          </a:p>
        </p:txBody>
      </p:sp>
      <p:graphicFrame>
        <p:nvGraphicFramePr>
          <p:cNvPr id="1974932717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433874" y="1512126"/>
          <a:ext cx="9990457" cy="5098222"/>
        </p:xfrm>
        <a:graphic>
          <a:graphicData uri="http://schemas.openxmlformats.org/presentationml/2006/ole">
            <p:oleObj name="oleObj" r:id="rId4" imgW="13963650" imgH="7124700" progId="asc.{DB38923B-A8C0-4DE9-8AEE-A61BB5C901A5}">
              <p:embed/>
              <p:pic>
                <p:nvPicPr>
                  <p:cNvPr id="1974932717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433874" y="1512126"/>
                    <a:ext cx="9990457" cy="5098222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317928142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0240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99059180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8F4092B-DF75-8433-8DA9-0DAAE8BCB7D2}" type="slidenum">
              <a:rPr lang="fr-FR"/>
              <a:t/>
            </a:fld>
            <a:endParaRPr/>
          </a:p>
        </p:txBody>
      </p:sp>
      <p:pic>
        <p:nvPicPr>
          <p:cNvPr id="106148237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8584129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36480" y="2010447"/>
            <a:ext cx="9306967" cy="468489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16025479" name=""/>
          <p:cNvSpPr txBox="1"/>
          <p:nvPr/>
        </p:nvSpPr>
        <p:spPr bwMode="auto">
          <a:xfrm flipH="0" flipV="0">
            <a:off x="1065160" y="1530026"/>
            <a:ext cx="10049231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Traitement des valeurs manquantes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8839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23710253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C19EDC9-DC54-4379-DDCC-3342AE2BCBA7}" type="slidenum">
              <a:rPr lang="fr-FR"/>
              <a:t/>
            </a:fld>
            <a:endParaRPr/>
          </a:p>
        </p:txBody>
      </p:sp>
      <p:pic>
        <p:nvPicPr>
          <p:cNvPr id="35009026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29937125" name=""/>
          <p:cNvSpPr txBox="1"/>
          <p:nvPr/>
        </p:nvSpPr>
        <p:spPr bwMode="auto">
          <a:xfrm flipH="0" flipV="0">
            <a:off x="1065160" y="3587427"/>
            <a:ext cx="10089191" cy="777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30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Suppression des colonnes avec plus de</a:t>
            </a:r>
            <a:r>
              <a:rPr lang="fr-FR" sz="3000" b="1" i="0" u="none" strike="noStrike" cap="none" spc="0">
                <a:solidFill>
                  <a:schemeClr val="tx1"/>
                </a:solidFill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 30% </a:t>
            </a:r>
            <a:r>
              <a:rPr lang="fr-FR" sz="30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de manquants</a:t>
            </a:r>
            <a:endParaRPr sz="30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31010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56740086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FA6A93C-3DC5-2801-813D-DD6FD55872E6}" type="slidenum">
              <a:rPr lang="fr-FR"/>
              <a:t/>
            </a:fld>
            <a:endParaRPr/>
          </a:p>
        </p:txBody>
      </p:sp>
      <p:pic>
        <p:nvPicPr>
          <p:cNvPr id="162064813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2035155058" name=""/>
          <p:cNvPicPr/>
          <p:nvPr/>
        </p:nvPicPr>
        <p:blipFill>
          <a:blip r:embed="rId4"/>
          <a:stretch/>
        </p:blipFill>
        <p:spPr bwMode="auto">
          <a:xfrm rot="0" flipH="0" flipV="0">
            <a:off x="969910" y="2005499"/>
            <a:ext cx="9306000" cy="46836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5775989" name=""/>
          <p:cNvSpPr txBox="1"/>
          <p:nvPr/>
        </p:nvSpPr>
        <p:spPr bwMode="auto">
          <a:xfrm flipH="0" flipV="0">
            <a:off x="1065160" y="1530026"/>
            <a:ext cx="10049590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Traitement des valeurs manquantes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604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62025149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537DDF1-0536-5806-8EAB-EA482E7A8452}" type="slidenum">
              <a:rPr lang="fr-FR"/>
              <a:t/>
            </a:fld>
            <a:endParaRPr/>
          </a:p>
        </p:txBody>
      </p:sp>
      <p:pic>
        <p:nvPicPr>
          <p:cNvPr id="132565185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53233918" name=""/>
          <p:cNvSpPr txBox="1"/>
          <p:nvPr/>
        </p:nvSpPr>
        <p:spPr bwMode="auto">
          <a:xfrm flipH="0" flipV="0">
            <a:off x="4089800" y="2354400"/>
            <a:ext cx="4012398" cy="2149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150000"/>
              </a:lnSpc>
              <a:defRPr/>
            </a:pPr>
            <a:r>
              <a:rPr lang="fr-FR" sz="3000" b="1" i="0" u="none" strike="noStrike" cap="none" spc="0">
                <a:solidFill>
                  <a:schemeClr val="tx1"/>
                </a:solidFill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0</a:t>
            </a:r>
            <a:r>
              <a:rPr lang="fr-FR" sz="30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 lignes en doublons</a:t>
            </a:r>
            <a:endParaRPr sz="3000" b="1">
              <a:latin typeface="Source Sans Pro"/>
              <a:ea typeface="Source Sans Pro"/>
              <a:cs typeface="Source Sans Pro"/>
            </a:endParaRPr>
          </a:p>
          <a:p>
            <a:pPr algn="ctr">
              <a:lnSpc>
                <a:spcPct val="150000"/>
              </a:lnSpc>
              <a:defRPr/>
            </a:pP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99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colonnes</a:t>
            </a:r>
            <a:endParaRPr sz="3000" b="1">
              <a:latin typeface="Source Sans Pro"/>
              <a:ea typeface="Source Sans Pro"/>
              <a:cs typeface="Source Sans Pro"/>
            </a:endParaRPr>
          </a:p>
          <a:p>
            <a:pPr algn="ctr">
              <a:lnSpc>
                <a:spcPct val="150000"/>
              </a:lnSpc>
              <a:defRPr/>
            </a:pP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300 000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individus</a:t>
            </a:r>
            <a:endParaRPr sz="30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48725971" name=""/>
          <p:cNvSpPr txBox="1"/>
          <p:nvPr/>
        </p:nvSpPr>
        <p:spPr bwMode="auto">
          <a:xfrm flipH="0" flipV="0">
            <a:off x="1065159" y="1530025"/>
            <a:ext cx="1004994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Traitement des valeurs manquantes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84705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164015041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30900A1-36C3-F077-A3D6-97EB2EDF8B35}" type="slidenum">
              <a:rPr lang="fr-FR"/>
              <a:t/>
            </a:fld>
            <a:endParaRPr/>
          </a:p>
        </p:txBody>
      </p:sp>
      <p:pic>
        <p:nvPicPr>
          <p:cNvPr id="42117157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25350683" name=""/>
          <p:cNvSpPr txBox="1"/>
          <p:nvPr/>
        </p:nvSpPr>
        <p:spPr bwMode="auto">
          <a:xfrm flipH="0" flipV="0">
            <a:off x="3213640" y="2354400"/>
            <a:ext cx="5765438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150000"/>
              </a:lnSpc>
              <a:defRPr/>
            </a:pP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Supprimer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les colonnes fortement </a:t>
            </a: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liées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à la cible</a:t>
            </a:r>
            <a:endParaRPr sz="30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589721924" name=""/>
          <p:cNvSpPr txBox="1"/>
          <p:nvPr/>
        </p:nvSpPr>
        <p:spPr bwMode="auto">
          <a:xfrm flipH="0" flipV="0">
            <a:off x="1065159" y="1530025"/>
            <a:ext cx="1006434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Étude des corrélations avec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85523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6880319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8D29D7F-C048-BA04-7112-FB7DC259BD15}" type="slidenum">
              <a:rPr lang="fr-FR"/>
              <a:t/>
            </a:fld>
            <a:endParaRPr/>
          </a:p>
        </p:txBody>
      </p:sp>
      <p:pic>
        <p:nvPicPr>
          <p:cNvPr id="28944764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476627602" name=""/>
          <p:cNvSpPr txBox="1"/>
          <p:nvPr/>
        </p:nvSpPr>
        <p:spPr bwMode="auto">
          <a:xfrm flipH="0" flipV="0">
            <a:off x="1065160" y="1530026"/>
            <a:ext cx="10063990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Étude des corrélations avec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865874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356156" y="1936749"/>
            <a:ext cx="7467599" cy="4610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48807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Encodage des catégories</a:t>
            </a:r>
            <a:endParaRPr sz="3600"/>
          </a:p>
        </p:txBody>
      </p:sp>
      <p:sp>
        <p:nvSpPr>
          <p:cNvPr id="193403456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1EC2A2CC-DE8D-B746-65AC-BB0750956C8D}" type="slidenum">
              <a:rPr lang="fr-FR"/>
              <a:t/>
            </a:fld>
            <a:endParaRPr/>
          </a:p>
        </p:txBody>
      </p:sp>
      <p:pic>
        <p:nvPicPr>
          <p:cNvPr id="150957301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15819379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71847" y="2010446"/>
            <a:ext cx="5448299" cy="5172074"/>
          </a:xfrm>
          <a:prstGeom prst="rect">
            <a:avLst/>
          </a:prstGeom>
        </p:spPr>
      </p:pic>
      <p:sp>
        <p:nvSpPr>
          <p:cNvPr id="558234954" name=""/>
          <p:cNvSpPr txBox="1"/>
          <p:nvPr/>
        </p:nvSpPr>
        <p:spPr bwMode="auto">
          <a:xfrm flipH="0" flipV="0">
            <a:off x="1065159" y="1530025"/>
            <a:ext cx="1006974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Analyse métier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83055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98624958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0" y="980370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43F8023-C3EE-561B-5886-71677CC3EEF9}" type="slidenum">
              <a:rPr lang="fr-FR"/>
              <a:t/>
            </a:fld>
            <a:endParaRPr/>
          </a:p>
        </p:txBody>
      </p:sp>
      <p:pic>
        <p:nvPicPr>
          <p:cNvPr id="197443949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4910710" name=""/>
          <p:cNvSpPr txBox="1"/>
          <p:nvPr/>
        </p:nvSpPr>
        <p:spPr bwMode="auto">
          <a:xfrm flipH="0" flipV="0">
            <a:off x="1065159" y="1530025"/>
            <a:ext cx="1007262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Déséquilibre de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085662526" name=""/>
          <p:cNvPicPr>
            <a:picLocks noChangeAspect="1"/>
          </p:cNvPicPr>
          <p:nvPr/>
        </p:nvPicPr>
        <p:blipFill>
          <a:blip r:embed="rId4"/>
          <a:srcRect l="0" t="0" r="0" b="4222"/>
          <a:stretch/>
        </p:blipFill>
        <p:spPr bwMode="auto">
          <a:xfrm flipH="0" flipV="0">
            <a:off x="3725083" y="1985953"/>
            <a:ext cx="4741824" cy="4745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418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161327385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F94EF60F-0B2D-9E4F-7829-C9971C27F1D2}" type="slidenum">
              <a:rPr lang="fr-FR"/>
              <a:t/>
            </a:fld>
            <a:endParaRPr/>
          </a:p>
        </p:txBody>
      </p:sp>
      <p:pic>
        <p:nvPicPr>
          <p:cNvPr id="51868913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35295432" name=""/>
          <p:cNvSpPr txBox="1"/>
          <p:nvPr/>
        </p:nvSpPr>
        <p:spPr bwMode="auto">
          <a:xfrm flipH="0" flipV="0">
            <a:off x="1065159" y="1530025"/>
            <a:ext cx="1007262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Déséquilibre de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graphicFrame>
        <p:nvGraphicFramePr>
          <p:cNvPr id="2105951999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434283" y="1851694"/>
          <a:ext cx="5323423" cy="4736429"/>
        </p:xfrm>
        <a:graphic>
          <a:graphicData uri="http://schemas.openxmlformats.org/presentationml/2006/ole">
            <p:oleObj name="oleObj" r:id="rId5" imgW="9467850" imgH="8420100" progId="asc.{DB38923B-A8C0-4DE9-8AEE-A61BB5C901A5}">
              <p:embed/>
              <p:pic>
                <p:nvPicPr>
                  <p:cNvPr id="2105951999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3434283" y="1851694"/>
                    <a:ext cx="5323423" cy="4736429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2889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4 </a:t>
            </a:r>
            <a:r>
              <a:rPr lang="fr-FR"/>
              <a:t>Modèles</a:t>
            </a:r>
            <a:endParaRPr lang="fr-FR"/>
          </a:p>
        </p:txBody>
      </p:sp>
      <p:sp>
        <p:nvSpPr>
          <p:cNvPr id="146642101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169717E-2C97-08AF-2C64-231F2062CEC1}" type="slidenum">
              <a:rPr lang="fr-FR"/>
              <a:t/>
            </a:fld>
            <a:endParaRPr/>
          </a:p>
        </p:txBody>
      </p:sp>
      <p:pic>
        <p:nvPicPr>
          <p:cNvPr id="1594353402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5895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3077562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762353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4DD297D-428F-C251-9A9C-6C865188267A}" type="slidenum">
              <a:rPr lang="fr-FR"/>
              <a:t/>
            </a:fld>
            <a:endParaRPr/>
          </a:p>
        </p:txBody>
      </p:sp>
      <p:pic>
        <p:nvPicPr>
          <p:cNvPr id="55676005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0642301" name=""/>
          <p:cNvSpPr txBox="1"/>
          <p:nvPr/>
        </p:nvSpPr>
        <p:spPr bwMode="auto">
          <a:xfrm flipH="0" flipV="0">
            <a:off x="1065159" y="1530025"/>
            <a:ext cx="10080908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Métriques d’évaluation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graphicFrame>
        <p:nvGraphicFramePr>
          <p:cNvPr id="704669365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151933" y="2113135"/>
          <a:ext cx="7668000" cy="3960000"/>
        </p:xfrm>
        <a:graphic>
          <a:graphicData uri="http://schemas.openxmlformats.org/presentationml/2006/ole">
            <p:oleObj name="oleObj" r:id="rId5" imgW="7667625" imgH="3952875" progId="asc.{DB38923B-A8C0-4DE9-8AEE-A61BB5C901A5}">
              <p:embed/>
              <p:pic>
                <p:nvPicPr>
                  <p:cNvPr id="704669365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151933" y="2113135"/>
                    <a:ext cx="7668000" cy="396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9579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903844321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04351118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FBAEC8C-3D9B-435B-B296-A60ECF8434F5}" type="slidenum">
              <a:rPr lang="fr-FR"/>
              <a:t/>
            </a:fld>
            <a:endParaRPr/>
          </a:p>
        </p:txBody>
      </p:sp>
      <p:graphicFrame>
        <p:nvGraphicFramePr>
          <p:cNvPr id="1387811770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25701" y="3024598"/>
          <a:ext cx="2646456" cy="1916399"/>
        </p:xfrm>
        <a:graphic>
          <a:graphicData uri="http://schemas.openxmlformats.org/presentationml/2006/ole">
            <p:oleObj name="oleObj" r:id="rId4" imgW="2085975" imgH="1504950" progId="asc.{DB38923B-A8C0-4DE9-8AEE-A61BB5C901A5}">
              <p:embed/>
              <p:pic>
                <p:nvPicPr>
                  <p:cNvPr id="1387811770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325701" y="3024598"/>
                    <a:ext cx="2646456" cy="1916399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825885514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376549" y="1710493"/>
          <a:ext cx="8770019" cy="4728534"/>
        </p:xfrm>
        <a:graphic>
          <a:graphicData uri="http://schemas.openxmlformats.org/presentationml/2006/ole">
            <p:oleObj name="oleObj" r:id="rId6" imgW="7810500" imgH="4210050" progId="asc.{DB38923B-A8C0-4DE9-8AEE-A61BB5C901A5}">
              <p:embed/>
              <p:pic>
                <p:nvPicPr>
                  <p:cNvPr id="1825885514" name=""/>
                  <p:cNvPicPr/>
                  <p:nvPr/>
                </p:nvPicPr>
                <p:blipFill>
                  <a:blip r:embed="rId5"/>
                  <a:stretch/>
                </p:blipFill>
                <p:spPr bwMode="auto">
                  <a:xfrm flipH="0" flipV="0">
                    <a:off x="3376549" y="1710493"/>
                    <a:ext cx="8770019" cy="472853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16001361" name=""/>
          <p:cNvPicPr>
            <a:picLocks noChangeAspect="1"/>
          </p:cNvPicPr>
          <p:nvPr/>
        </p:nvPicPr>
        <p:blipFill>
          <a:blip r:embed="rId7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487681687" name=""/>
          <p:cNvSpPr txBox="1"/>
          <p:nvPr/>
        </p:nvSpPr>
        <p:spPr bwMode="auto">
          <a:xfrm flipH="0" flipV="0">
            <a:off x="1065159" y="1530025"/>
            <a:ext cx="10087027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métier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0166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652326139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3771013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E10D0CE-9485-74E6-961A-22E74D466F33}" type="slidenum">
              <a:rPr lang="fr-FR"/>
              <a:t/>
            </a:fld>
            <a:endParaRPr/>
          </a:p>
        </p:txBody>
      </p:sp>
      <p:sp>
        <p:nvSpPr>
          <p:cNvPr id="195343951" name=""/>
          <p:cNvSpPr txBox="1"/>
          <p:nvPr/>
        </p:nvSpPr>
        <p:spPr bwMode="auto">
          <a:xfrm flipH="0" flipV="0">
            <a:off x="4852052" y="5523900"/>
            <a:ext cx="1901058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= 0.083</a:t>
            </a:r>
            <a:endParaRPr sz="2200" b="1">
              <a:latin typeface="Source Sans Pro"/>
              <a:ea typeface="Source Sans Pro"/>
              <a:cs typeface="Source Sans Pro"/>
            </a:endParaRPr>
          </a:p>
        </p:txBody>
      </p:sp>
      <p:grpSp>
        <p:nvGrpSpPr>
          <p:cNvPr id="982705002" name=""/>
          <p:cNvGrpSpPr/>
          <p:nvPr/>
        </p:nvGrpSpPr>
        <p:grpSpPr bwMode="auto">
          <a:xfrm>
            <a:off x="332399" y="2555160"/>
            <a:ext cx="11527200" cy="2595599"/>
            <a:chOff x="0" y="0"/>
            <a:chExt cx="11527200" cy="2595599"/>
          </a:xfrm>
        </p:grpSpPr>
        <p:graphicFrame>
          <p:nvGraphicFramePr>
            <p:cNvPr id="838811309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0" y="0"/>
            <a:ext cx="5499065" cy="2594796"/>
          </p:xfrm>
          <a:graphic>
            <a:graphicData uri="http://schemas.openxmlformats.org/presentationml/2006/ole">
              <p:oleObj name="oleObj" r:id="rId4" imgW="4743450" imgH="2228850" progId="asc.{DB38923B-A8C0-4DE9-8AEE-A61BB5C901A5}">
                <p:embed/>
                <p:pic>
                  <p:nvPicPr>
                    <p:cNvPr id="838811309" name=""/>
                    <p:cNvPicPr/>
                    <p:nvPr/>
                  </p:nvPicPr>
                  <p:blipFill>
                    <a:blip r:embed="rId3"/>
                    <a:stretch/>
                  </p:blipFill>
                  <p:spPr bwMode="auto">
                    <a:xfrm rot="0" flipH="0" flipV="0">
                      <a:off x="0" y="0"/>
                      <a:ext cx="5499065" cy="2594796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  <p:graphicFrame>
          <p:nvGraphicFramePr>
            <p:cNvPr id="780429775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6001200" y="0"/>
            <a:ext cx="5526000" cy="2595599"/>
          </p:xfrm>
          <a:graphic>
            <a:graphicData uri="http://schemas.openxmlformats.org/presentationml/2006/ole">
              <p:oleObj name="oleObj" r:id="rId6" imgW="4743450" imgH="2228850" progId="asc.{DB38923B-A8C0-4DE9-8AEE-A61BB5C901A5}">
                <p:embed/>
                <p:pic>
                  <p:nvPicPr>
                    <p:cNvPr id="780429775" name=""/>
                    <p:cNvPicPr/>
                    <p:nvPr/>
                  </p:nvPicPr>
                  <p:blipFill>
                    <a:blip r:embed="rId5"/>
                    <a:stretch/>
                  </p:blipFill>
                  <p:spPr bwMode="auto">
                    <a:xfrm rot="0" flipH="0" flipV="0">
                      <a:off x="6001200" y="0"/>
                      <a:ext cx="5526000" cy="2595599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</p:grpSp>
      <p:pic>
        <p:nvPicPr>
          <p:cNvPr id="1173861787" name=""/>
          <p:cNvPicPr>
            <a:picLocks noChangeAspect="1"/>
          </p:cNvPicPr>
          <p:nvPr/>
        </p:nvPicPr>
        <p:blipFill>
          <a:blip r:embed="rId7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726978" name=""/>
          <p:cNvSpPr txBox="1"/>
          <p:nvPr/>
        </p:nvSpPr>
        <p:spPr bwMode="auto">
          <a:xfrm flipH="0" flipV="0">
            <a:off x="1065159" y="1530025"/>
            <a:ext cx="10093867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métier : Simulation 1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7526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465004578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29117049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D590D30-AB01-CF1C-242C-AB20F13A98EC}" type="slidenum">
              <a:rPr lang="fr-FR"/>
              <a:t/>
            </a:fld>
            <a:endParaRPr/>
          </a:p>
        </p:txBody>
      </p:sp>
      <p:sp>
        <p:nvSpPr>
          <p:cNvPr id="586402692" name=""/>
          <p:cNvSpPr txBox="1"/>
          <p:nvPr/>
        </p:nvSpPr>
        <p:spPr bwMode="auto">
          <a:xfrm flipH="0" flipV="0">
            <a:off x="4852053" y="5523901"/>
            <a:ext cx="1898538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= 0.352</a:t>
            </a:r>
            <a:endParaRPr sz="2200" b="1">
              <a:latin typeface="Source Sans Pro"/>
              <a:ea typeface="Source Sans Pro"/>
              <a:cs typeface="Source Sans Pro"/>
            </a:endParaRPr>
          </a:p>
        </p:txBody>
      </p:sp>
      <p:grpSp>
        <p:nvGrpSpPr>
          <p:cNvPr id="1253995397" name=""/>
          <p:cNvGrpSpPr/>
          <p:nvPr/>
        </p:nvGrpSpPr>
        <p:grpSpPr bwMode="auto">
          <a:xfrm>
            <a:off x="337799" y="2556000"/>
            <a:ext cx="11516399" cy="2595599"/>
            <a:chOff x="0" y="0"/>
            <a:chExt cx="11516399" cy="2595599"/>
          </a:xfrm>
        </p:grpSpPr>
        <p:graphicFrame>
          <p:nvGraphicFramePr>
            <p:cNvPr id="1235065150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0" y="0"/>
            <a:ext cx="5500798" cy="2595599"/>
          </p:xfrm>
          <a:graphic>
            <a:graphicData uri="http://schemas.openxmlformats.org/presentationml/2006/ole">
              <p:oleObj name="oleObj" r:id="rId4" imgW="4743450" imgH="2228850" progId="asc.{DB38923B-A8C0-4DE9-8AEE-A61BB5C901A5}">
                <p:embed/>
                <p:pic>
                  <p:nvPicPr>
                    <p:cNvPr id="1235065150" name=""/>
                    <p:cNvPicPr/>
                    <p:nvPr/>
                  </p:nvPicPr>
                  <p:blipFill>
                    <a:blip r:embed="rId3"/>
                    <a:stretch/>
                  </p:blipFill>
                  <p:spPr bwMode="auto">
                    <a:xfrm rot="0" flipH="0" flipV="0">
                      <a:off x="0" y="0"/>
                      <a:ext cx="5500798" cy="2595599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  <p:graphicFrame>
          <p:nvGraphicFramePr>
            <p:cNvPr id="1353210545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6015599" y="0"/>
            <a:ext cx="5500798" cy="2595599"/>
          </p:xfrm>
          <a:graphic>
            <a:graphicData uri="http://schemas.openxmlformats.org/presentationml/2006/ole">
              <p:oleObj name="oleObj" r:id="rId6" imgW="4743450" imgH="2228850" progId="asc.{DB38923B-A8C0-4DE9-8AEE-A61BB5C901A5}">
                <p:embed/>
                <p:pic>
                  <p:nvPicPr>
                    <p:cNvPr id="1353210545" name=""/>
                    <p:cNvPicPr/>
                    <p:nvPr/>
                  </p:nvPicPr>
                  <p:blipFill>
                    <a:blip r:embed="rId5"/>
                    <a:stretch/>
                  </p:blipFill>
                  <p:spPr bwMode="auto">
                    <a:xfrm rot="0" flipH="0" flipV="0">
                      <a:off x="6015599" y="0"/>
                      <a:ext cx="5500798" cy="2595599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</p:grpSp>
      <p:pic>
        <p:nvPicPr>
          <p:cNvPr id="1935162245" name=""/>
          <p:cNvPicPr>
            <a:picLocks noChangeAspect="1"/>
          </p:cNvPicPr>
          <p:nvPr/>
        </p:nvPicPr>
        <p:blipFill>
          <a:blip r:embed="rId7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6884612" name=""/>
          <p:cNvSpPr txBox="1"/>
          <p:nvPr/>
        </p:nvSpPr>
        <p:spPr bwMode="auto">
          <a:xfrm flipH="0" flipV="0">
            <a:off x="1065159" y="1530025"/>
            <a:ext cx="10094946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métier : Simulation 2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62335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211938168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CD04E47-B00C-9BE2-85E1-E2757CD493C3}" type="slidenum">
              <a:rPr lang="fr-FR"/>
              <a:t/>
            </a:fld>
            <a:endParaRPr/>
          </a:p>
        </p:txBody>
      </p:sp>
      <p:pic>
        <p:nvPicPr>
          <p:cNvPr id="151252032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78988035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graphicFrame>
        <p:nvGraphicFramePr>
          <p:cNvPr id="1116055661" name=""/>
          <p:cNvGraphicFramePr>
            <a:graphicFrameLocks xmlns:a="http://schemas.openxmlformats.org/drawingml/2006/main"/>
          </p:cNvGraphicFramePr>
          <p:nvPr/>
        </p:nvGraphicFramePr>
        <p:xfrm>
          <a:off x="636624" y="2111374"/>
          <a:ext cx="8899490" cy="42671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{91EBBBCC-DAD2-459C-BE2E-F6DE35CF9A28}</a:tableStyleId>
              </a:tblPr>
              <a:tblGrid>
                <a:gridCol w="1946274"/>
                <a:gridCol w="573724"/>
                <a:gridCol w="1294186"/>
                <a:gridCol w="78363"/>
                <a:gridCol w="1815613"/>
                <a:gridCol w="130661"/>
                <a:gridCol w="1921984"/>
                <a:gridCol w="24290"/>
                <a:gridCol w="1946274"/>
              </a:tblGrid>
              <a:tr h="405095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Étape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Dummy 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Régression Logistique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LightGBM (avec SMOTE)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LightGBM (sans SMOTE)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>
                          <a:latin typeface="Source Sans Pro"/>
                          <a:ea typeface="Source Sans Pro"/>
                          <a:cs typeface="Source Sans Pro"/>
                        </a:rPr>
                        <a:t>Encodage cols catégorielles</a:t>
                      </a:r>
                      <a:endParaRPr sz="1700">
                        <a:latin typeface="Source Sans Pro"/>
                        <a:ea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ea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Imputation (médiane)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SMOTE (oversampling)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RandomUnderSampler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34454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Standardisation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</a:t>
                      </a:r>
                      <a:r>
                        <a:rPr sz="1700" b="0" i="1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(StandardScaler)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</a:t>
                      </a:r>
                      <a:r>
                        <a:rPr sz="1700" b="0" i="1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(pas nécessaire)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</a:t>
                      </a:r>
                      <a:r>
                        <a:rPr sz="1700" b="0" i="1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(pas nécessaire)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Modèle utilisé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DummyClassifier (strat.)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LogisticRegression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42048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241499330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7417637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E43E308-74ED-1F6A-DF74-B838C0922100}" type="slidenum">
              <a:rPr lang="fr-FR"/>
              <a:t/>
            </a:fld>
            <a:endParaRPr/>
          </a:p>
        </p:txBody>
      </p:sp>
      <p:graphicFrame>
        <p:nvGraphicFramePr>
          <p:cNvPr id="700084417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573124" y="2010445"/>
          <a:ext cx="9731374" cy="4627950"/>
        </p:xfrm>
        <a:graphic>
          <a:graphicData uri="http://schemas.openxmlformats.org/presentationml/2006/ole">
            <p:oleObj name="oleObj" r:id="rId4" imgW="11049000" imgH="5248275" progId="asc.{DB38923B-A8C0-4DE9-8AEE-A61BB5C901A5}">
              <p:embed/>
              <p:pic>
                <p:nvPicPr>
                  <p:cNvPr id="700084417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573124" y="2010445"/>
                    <a:ext cx="9731374" cy="46279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995278868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29347438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1905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208960596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63085926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FCDFF31-2852-6FD3-D6E0-C13736E43FEE}" type="slidenum">
              <a:rPr lang="fr-FR"/>
              <a:t/>
            </a:fld>
            <a:endParaRPr/>
          </a:p>
        </p:txBody>
      </p:sp>
      <p:graphicFrame>
        <p:nvGraphicFramePr>
          <p:cNvPr id="1365284736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343821" y="1987566"/>
          <a:ext cx="7369906" cy="4707773"/>
        </p:xfrm>
        <a:graphic>
          <a:graphicData uri="http://schemas.openxmlformats.org/presentationml/2006/ole">
            <p:oleObj name="oleObj" r:id="rId4" imgW="9467850" imgH="6038850" progId="asc.{DB38923B-A8C0-4DE9-8AEE-A61BB5C901A5}">
              <p:embed/>
              <p:pic>
                <p:nvPicPr>
                  <p:cNvPr id="1365284736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2343821" y="1987566"/>
                    <a:ext cx="7369906" cy="4707773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043656566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41459842" name=""/>
          <p:cNvSpPr txBox="1"/>
          <p:nvPr/>
        </p:nvSpPr>
        <p:spPr bwMode="auto">
          <a:xfrm flipH="0" flipV="0">
            <a:off x="1065159" y="1530025"/>
            <a:ext cx="10105746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3181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962450666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9975176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ECB5D99-9134-2263-BFB0-218A877FB16A}" type="slidenum">
              <a:rPr lang="fr-FR"/>
              <a:t/>
            </a:fld>
            <a:endParaRPr/>
          </a:p>
        </p:txBody>
      </p:sp>
      <p:graphicFrame>
        <p:nvGraphicFramePr>
          <p:cNvPr id="666459614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538949" y="1915195"/>
          <a:ext cx="11158525" cy="4757054"/>
        </p:xfrm>
        <a:graphic>
          <a:graphicData uri="http://schemas.openxmlformats.org/presentationml/2006/ole">
            <p:oleObj name="oleObj" r:id="rId4" imgW="13677900" imgH="5829300" progId="asc.{DB38923B-A8C0-4DE9-8AEE-A61BB5C901A5}">
              <p:embed/>
              <p:pic>
                <p:nvPicPr>
                  <p:cNvPr id="666459614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538949" y="1915195"/>
                    <a:ext cx="11158525" cy="475705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990731920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24118501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4291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516020317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214493053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BB3A7EE-BDCF-2E73-4174-A11C7ECF030C}" type="slidenum">
              <a:rPr lang="fr-FR"/>
              <a:t/>
            </a:fld>
            <a:endParaRPr/>
          </a:p>
        </p:txBody>
      </p:sp>
      <p:pic>
        <p:nvPicPr>
          <p:cNvPr id="19381173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69505639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1907616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42412" y="1919816"/>
            <a:ext cx="8732809" cy="4775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70715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2099994272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4892546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EEEAFB9-EAED-8807-4AE2-C6FC33FAC4BC}" type="slidenum">
              <a:rPr lang="fr-FR"/>
              <a:t/>
            </a:fld>
            <a:endParaRPr/>
          </a:p>
        </p:txBody>
      </p:sp>
      <p:pic>
        <p:nvPicPr>
          <p:cNvPr id="32652771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180138099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7345212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3835" y="2010445"/>
            <a:ext cx="5989275" cy="446709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5387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984988644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03897850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7E0331DA-2D97-13EA-D74D-012BD82F917F}" type="slidenum">
              <a:rPr lang="fr-FR"/>
              <a:t/>
            </a:fld>
            <a:endParaRPr/>
          </a:p>
        </p:txBody>
      </p:sp>
      <p:pic>
        <p:nvPicPr>
          <p:cNvPr id="93563200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79766832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6844197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89605" y="2010445"/>
            <a:ext cx="8678340" cy="426861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0876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21375374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18859006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341FE40-511A-6DBB-50E5-8656DDE68504}" type="slidenum">
              <a:rPr lang="fr-FR"/>
              <a:t/>
            </a:fld>
            <a:endParaRPr/>
          </a:p>
        </p:txBody>
      </p:sp>
      <p:pic>
        <p:nvPicPr>
          <p:cNvPr id="141317731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22853839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3562273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65159" y="1960735"/>
            <a:ext cx="9315885" cy="458220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3186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438625388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2340504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FE4D4AF-0546-7298-C8D8-F482FE78F9CA}" type="slidenum">
              <a:rPr lang="fr-FR"/>
              <a:t/>
            </a:fld>
            <a:endParaRPr/>
          </a:p>
        </p:txBody>
      </p:sp>
      <p:pic>
        <p:nvPicPr>
          <p:cNvPr id="1226470572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0746160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37976209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5159" y="1872927"/>
            <a:ext cx="9372600" cy="46100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463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2132993730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49072241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3AE9924-90AD-10D9-532B-615421EC3C81}" type="slidenum">
              <a:rPr lang="fr-FR"/>
              <a:t/>
            </a:fld>
            <a:endParaRPr/>
          </a:p>
        </p:txBody>
      </p:sp>
      <p:pic>
        <p:nvPicPr>
          <p:cNvPr id="1530120373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420090067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83280440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527016976" name=""/>
          <p:cNvGraphicFramePr>
            <a:graphicFrameLocks xmlns:a="http://schemas.openxmlformats.org/drawingml/2006/main"/>
          </p:cNvGraphicFramePr>
          <p:nvPr/>
        </p:nvGraphicFramePr>
        <p:xfrm>
          <a:off x="630438" y="2203084"/>
          <a:ext cx="11065145" cy="361392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{91EBBBCC-DAD2-459C-BE2E-F6DE35CF9A28}</a:tableStyleId>
              </a:tblPr>
              <a:tblGrid>
                <a:gridCol w="2089188"/>
                <a:gridCol w="1119734"/>
                <a:gridCol w="1325394"/>
                <a:gridCol w="1110715"/>
                <a:gridCol w="903671"/>
                <a:gridCol w="669378"/>
                <a:gridCol w="3847062"/>
              </a:tblGrid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Modèle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Test Business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Train vs Test Gap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Test ROCAUC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Fit Time (s)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Test F1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Analyse synthétique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491779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 sans SMOTE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0.689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Faible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0.749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83.26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0.270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Meilleur score métier, meilleure ROC AUC, bon compromis général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31759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LogisticRegression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0.645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Faible-moyen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0.742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🔴 349.86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0.284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Bon F1, mais temps d'entraînement très élevé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1759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0.638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Moyen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0.713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 47.23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0.254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Score global plus faible, discrimination correcte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DummyClassifier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0.502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Faible (modèle naïf)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0.499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🟢 5.36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0.129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Modèle de base, performances très limitées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618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412059498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6086431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F3C4A0BC-D2FE-17DB-F24B-7E5945F2B3FB}" type="slidenum">
              <a:rPr lang="fr-FR"/>
              <a:t/>
            </a:fld>
            <a:endParaRPr/>
          </a:p>
        </p:txBody>
      </p:sp>
      <p:pic>
        <p:nvPicPr>
          <p:cNvPr id="135685200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49718084" name=""/>
          <p:cNvSpPr txBox="1"/>
          <p:nvPr/>
        </p:nvSpPr>
        <p:spPr bwMode="auto">
          <a:xfrm flipH="0" flipV="0">
            <a:off x="1065159" y="1530025"/>
            <a:ext cx="1014138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du seuil de classification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402694004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4341576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389093" y="1872927"/>
            <a:ext cx="7279362" cy="473371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9099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3"/>
            <a:ext cx="9626223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/>
              <a:t>5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Features importances</a:t>
            </a:r>
            <a:endParaRPr/>
          </a:p>
        </p:txBody>
      </p:sp>
      <p:sp>
        <p:nvSpPr>
          <p:cNvPr id="92544803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CF725F2-6DE5-80D2-AAE8-82DF204C7E45}" type="slidenum">
              <a:rPr lang="fr-FR"/>
              <a:t/>
            </a:fld>
            <a:endParaRPr/>
          </a:p>
        </p:txBody>
      </p:sp>
      <p:pic>
        <p:nvPicPr>
          <p:cNvPr id="73306203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4793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/>
              <a:t>Features importances</a:t>
            </a:r>
            <a:endParaRPr lang="fr-FR" sz="3600"/>
          </a:p>
        </p:txBody>
      </p:sp>
      <p:sp>
        <p:nvSpPr>
          <p:cNvPr id="823580579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37150184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AC804A9-D952-1148-9AE3-08E02D777DD8}" type="slidenum">
              <a:rPr lang="fr-FR"/>
              <a:t/>
            </a:fld>
            <a:endParaRPr/>
          </a:p>
        </p:txBody>
      </p:sp>
      <p:pic>
        <p:nvPicPr>
          <p:cNvPr id="1310826068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130518603" name=""/>
          <p:cNvSpPr txBox="1"/>
          <p:nvPr/>
        </p:nvSpPr>
        <p:spPr bwMode="auto">
          <a:xfrm flipH="0" flipV="0">
            <a:off x="1065159" y="1530025"/>
            <a:ext cx="1014858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globales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07602856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45332131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72" y="1872927"/>
            <a:ext cx="7083855" cy="501071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35946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/>
              <a:t>Features importances</a:t>
            </a:r>
            <a:endParaRPr lang="fr-FR" sz="3600"/>
          </a:p>
        </p:txBody>
      </p:sp>
      <p:sp>
        <p:nvSpPr>
          <p:cNvPr id="2020603129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54218120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1672D4E-A39E-32A1-C11A-90568FEAD25D}" type="slidenum">
              <a:rPr lang="fr-FR"/>
              <a:t/>
            </a:fld>
            <a:endParaRPr/>
          </a:p>
        </p:txBody>
      </p:sp>
      <p:pic>
        <p:nvPicPr>
          <p:cNvPr id="136631569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560919821" name=""/>
          <p:cNvSpPr txBox="1"/>
          <p:nvPr/>
        </p:nvSpPr>
        <p:spPr bwMode="auto">
          <a:xfrm flipH="0" flipV="0">
            <a:off x="1065159" y="1530025"/>
            <a:ext cx="10159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locales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 client refusé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56331521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21394378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42879" y="2010445"/>
            <a:ext cx="6361839" cy="468489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52380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/>
              <a:t>Features importances</a:t>
            </a:r>
            <a:endParaRPr lang="fr-FR" sz="3600"/>
          </a:p>
        </p:txBody>
      </p:sp>
      <p:sp>
        <p:nvSpPr>
          <p:cNvPr id="1743310351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15698478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601C19C-C516-0228-D409-F93F1FBBF249}" type="slidenum">
              <a:rPr lang="fr-FR"/>
              <a:t/>
            </a:fld>
            <a:endParaRPr/>
          </a:p>
        </p:txBody>
      </p:sp>
      <p:pic>
        <p:nvPicPr>
          <p:cNvPr id="190862110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3315490" name=""/>
          <p:cNvSpPr txBox="1"/>
          <p:nvPr/>
        </p:nvSpPr>
        <p:spPr bwMode="auto">
          <a:xfrm flipH="0" flipV="0">
            <a:off x="1065159" y="1530025"/>
            <a:ext cx="10159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locales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 client refusé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53425650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91489572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83384" y="1918916"/>
            <a:ext cx="6970349" cy="47764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059979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6 </a:t>
            </a:r>
            <a:r>
              <a:rPr/>
              <a:t>Déploiement</a:t>
            </a:r>
            <a:br>
              <a:rPr/>
            </a:br>
            <a:endParaRPr/>
          </a:p>
        </p:txBody>
      </p:sp>
      <p:sp>
        <p:nvSpPr>
          <p:cNvPr id="167989614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48C0874-4F27-983E-A328-BE0D5D7F3924}" type="slidenum">
              <a:rPr lang="fr-FR"/>
              <a:t/>
            </a:fld>
            <a:endParaRPr/>
          </a:p>
        </p:txBody>
      </p:sp>
      <p:pic>
        <p:nvPicPr>
          <p:cNvPr id="457928308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8889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 sz="3600"/>
              <a:t>Déploiement</a:t>
            </a:r>
            <a:endParaRPr lang="fr-FR" sz="3600"/>
          </a:p>
        </p:txBody>
      </p:sp>
      <p:sp>
        <p:nvSpPr>
          <p:cNvPr id="1888259431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89146130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A0229B3-54F5-8F9F-ED0E-67CE0E75DE60}" type="slidenum">
              <a:rPr lang="fr-FR"/>
              <a:t/>
            </a:fld>
            <a:endParaRPr/>
          </a:p>
        </p:txBody>
      </p:sp>
      <p:pic>
        <p:nvPicPr>
          <p:cNvPr id="168357610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88414998" name=""/>
          <p:cNvSpPr txBox="1"/>
          <p:nvPr/>
        </p:nvSpPr>
        <p:spPr bwMode="auto">
          <a:xfrm flipH="0" flipV="0">
            <a:off x="1065159" y="1530025"/>
            <a:ext cx="10159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locales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 client refusé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513950360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524424352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228547" y="2137499"/>
          <a:ext cx="7832250" cy="4127173"/>
        </p:xfrm>
        <a:graphic>
          <a:graphicData uri="http://schemas.openxmlformats.org/presentationml/2006/ole">
            <p:oleObj name="oleObj" r:id="rId5" imgW="6010275" imgH="3162300" progId="asc.{DB38923B-A8C0-4DE9-8AEE-A61BB5C901A5}">
              <p:embed/>
              <p:pic>
                <p:nvPicPr>
                  <p:cNvPr id="524424352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228547" y="2137499"/>
                    <a:ext cx="7832250" cy="4127173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6639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 sz="3600"/>
              <a:t>Déploiement</a:t>
            </a:r>
            <a:endParaRPr lang="fr-FR" sz="3600"/>
          </a:p>
        </p:txBody>
      </p:sp>
      <p:sp>
        <p:nvSpPr>
          <p:cNvPr id="1085371692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73084818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2AF4715-C659-8E81-737B-B1B082ADB169}" type="slidenum">
              <a:rPr lang="fr-FR"/>
              <a:t/>
            </a:fld>
            <a:endParaRPr/>
          </a:p>
        </p:txBody>
      </p:sp>
      <p:pic>
        <p:nvPicPr>
          <p:cNvPr id="114498279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06860455" name=""/>
          <p:cNvSpPr txBox="1"/>
          <p:nvPr/>
        </p:nvSpPr>
        <p:spPr bwMode="auto">
          <a:xfrm flipH="0" flipV="0">
            <a:off x="1065159" y="1530025"/>
            <a:ext cx="10168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Pipeline de déploiement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11711499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1605859232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228547" y="2137499"/>
          <a:ext cx="5508000" cy="648000"/>
        </p:xfrm>
        <a:graphic>
          <a:graphicData uri="http://schemas.openxmlformats.org/presentationml/2006/ole">
            <p:oleObj name="oleObj" r:id="rId5" imgW="5505450" imgH="647700" progId="asc.{DB38923B-A8C0-4DE9-8AEE-A61BB5C901A5}">
              <p:embed/>
              <p:pic>
                <p:nvPicPr>
                  <p:cNvPr id="1605859232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228547" y="2137499"/>
                    <a:ext cx="5508000" cy="648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09944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7 </a:t>
            </a:r>
            <a:r>
              <a:rPr lang="fr-FR"/>
              <a:t>Conclusion</a:t>
            </a:r>
            <a:br>
              <a:rPr/>
            </a:br>
            <a:endParaRPr/>
          </a:p>
        </p:txBody>
      </p:sp>
      <p:sp>
        <p:nvSpPr>
          <p:cNvPr id="24740086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B403465-545A-5CD0-2CCC-34A7C5425B23}" type="slidenum">
              <a:rPr lang="fr-FR"/>
              <a:t/>
            </a:fld>
            <a:endParaRPr/>
          </a:p>
        </p:txBody>
      </p:sp>
      <p:pic>
        <p:nvPicPr>
          <p:cNvPr id="21493331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608638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8 </a:t>
            </a:r>
            <a:r>
              <a:rPr/>
              <a:t>Data Drift</a:t>
            </a:r>
            <a:br>
              <a:rPr/>
            </a:br>
            <a:endParaRPr/>
          </a:p>
        </p:txBody>
      </p:sp>
      <p:sp>
        <p:nvSpPr>
          <p:cNvPr id="118623349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356FF7D-1D70-9D69-7D6A-54D78DADFF71}" type="slidenum">
              <a:rPr lang="fr-FR"/>
              <a:t/>
            </a:fld>
            <a:endParaRPr/>
          </a:p>
        </p:txBody>
      </p:sp>
      <p:pic>
        <p:nvPicPr>
          <p:cNvPr id="174136252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5817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8 </a:t>
            </a:r>
            <a:r>
              <a:rPr lang="fr-FR" sz="3600"/>
              <a:t>Data Drift</a:t>
            </a:r>
            <a:endParaRPr lang="fr-FR" sz="3600"/>
          </a:p>
        </p:txBody>
      </p:sp>
      <p:sp>
        <p:nvSpPr>
          <p:cNvPr id="479041665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159842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88F09EA-2A44-076F-34B6-065C7DA4ABE3}" type="slidenum">
              <a:rPr lang="fr-FR"/>
              <a:t/>
            </a:fld>
            <a:endParaRPr/>
          </a:p>
        </p:txBody>
      </p:sp>
      <p:pic>
        <p:nvPicPr>
          <p:cNvPr id="174135771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87603432" name=""/>
          <p:cNvSpPr txBox="1"/>
          <p:nvPr/>
        </p:nvSpPr>
        <p:spPr bwMode="auto">
          <a:xfrm flipH="0" flipV="0">
            <a:off x="1065159" y="1530025"/>
            <a:ext cx="10168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Pipeline de déploiement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216290177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5982729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63455" y="1898741"/>
            <a:ext cx="8982069" cy="4597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2402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sz="3600"/>
              <a:t>7 Conclusion</a:t>
            </a:r>
            <a:endParaRPr sz="3600"/>
          </a:p>
        </p:txBody>
      </p:sp>
      <p:sp>
        <p:nvSpPr>
          <p:cNvPr id="1418098983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Classification automatique d’articles en utilisant les descriptions ou les images est réalisable.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Classification plus avancée avec un modèle préentrainé (VGG16 avec data augmentation)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Collecte des 10 premiers produits à base de champagne via requête API.</a:t>
            </a:r>
            <a:endParaRPr lang="fr-FR"/>
          </a:p>
        </p:txBody>
      </p:sp>
      <p:sp>
        <p:nvSpPr>
          <p:cNvPr id="8995797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5158736-CA3C-0088-AC11-BF6F32ED8E46}" type="slidenum">
              <a:rPr lang="fr-FR"/>
              <a:t/>
            </a:fld>
            <a:endParaRPr/>
          </a:p>
        </p:txBody>
      </p:sp>
      <p:pic>
        <p:nvPicPr>
          <p:cNvPr id="149073131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44</Slides>
  <Notes>44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Guillaume Lafon</dc:creator>
  <cp:lastModifiedBy/>
  <cp:revision>43</cp:revision>
  <dcterms:created xsi:type="dcterms:W3CDTF">2018-07-30T23:03:22Z</dcterms:created>
  <dcterms:modified xsi:type="dcterms:W3CDTF">2025-09-11T07:41:04Z</dcterms:modified>
</cp:coreProperties>
</file>