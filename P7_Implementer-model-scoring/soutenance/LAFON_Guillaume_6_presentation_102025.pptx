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15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s/slide30.xml" ContentType="application/vnd.openxmlformats-officedocument.presentationml.slide+xml"/>
  <Override PartName="/ppt/theme/theme2.xml" ContentType="application/vnd.openxmlformats-officedocument.theme+xml"/>
  <Override PartName="/ppt/slides/slide20.xml" ContentType="application/vnd.openxmlformats-officedocument.presentationml.slide+xml"/>
  <Override PartName="/ppt/slides/slide47.xml" ContentType="application/vnd.openxmlformats-officedocument.presentationml.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notesSlides/notesSlide46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29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5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91EBBBCC-DAD2-459C-BE2E-F6DE35CF9A28}">
  <a:tblStyle styleId="{91EBBBCC-DAD2-459C-BE2E-F6DE35CF9A28}" styleName="Dark Style 2 - Accent 3/Accent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  <a:fill>
          <a:solidFill>
            <a:schemeClr val="accent3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12700">
              <a:noFill/>
            </a:ln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08" d="100"/>
          <a:sy n="108" d="100"/>
        </p:scale>
        <p:origin x="544" y="20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 /><Relationship Id="rId53" Type="http://schemas.openxmlformats.org/officeDocument/2006/relationships/tableStyles" Target="tableStyles.xml" /><Relationship Id="rId5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64274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803407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3696079-EBA5-8C41-96F3-032D52D44482}" type="datetimeFigureOut">
              <a:rPr lang="en-US"/>
              <a:t>3/20/19</a:t>
            </a:fld>
            <a:endParaRPr lang="en-US"/>
          </a:p>
        </p:txBody>
      </p:sp>
      <p:sp>
        <p:nvSpPr>
          <p:cNvPr id="112424547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9788295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3018917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601257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6C5E9DD-A3A8-294A-AA05-12D080B6188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834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204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120557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6C5E9DD-A3A8-294A-AA05-12D080B6188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1480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352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11833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2A01D2-5ECB-7539-D460-03EF5ADBC1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95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5416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0623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20D49C-A572-668E-4C69-F44C60C72A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3910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223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731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6A0A60-C46F-9E13-8572-E908049B11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736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36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433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0ECEA-A2F1-9B08-C4EE-659D2711B2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91489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7691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7685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8E0991-7DD3-26F0-3306-3577FABA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1025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89061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00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D8F18-2DE6-9565-B7CD-881AFBA27E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3989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4391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2237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5324E3-66BB-8244-86FA-08FA3F748E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383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6159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2940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08B4F-C2FC-0D75-7FDF-B953051910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7861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87409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892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D57B11-5076-9C58-0BFC-7AF7BD91BB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372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0622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9677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99AB5D-C749-FA8F-6C94-D4904908E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9910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4455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358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D7FA2B-3D9E-82B5-8C37-3662F0D833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474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9186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5248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670777-EC5F-A6D3-9914-D4FE6ACACA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77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4568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2745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19F1E3-A45E-764B-D855-DBB05A773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8061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79806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9227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AF64F0-BA21-09CC-AFEF-D08E39F404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58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6043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1200" b="0" i="0" u="none" strike="noStrike" cap="none" spc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Le graphique  ci-dessus révèle que la majorité des clients remboursent effectivement leurs prêts. On observe un déséquilibre important dans la distribution de la variable cible.</a:t>
            </a: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 sz="1200"/>
          </a:p>
          <a:p>
            <a:pPr>
              <a:defRPr/>
            </a:pPr>
            <a:r>
              <a:rPr lang="fr-FR" sz="1200" b="0" i="0" u="none" strike="noStrike" cap="none" spc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Cette disparité est un facteur crucial à considérer lors du choix d'une méthode d'évaluation pour le modèle.</a:t>
            </a: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r>
              <a:rPr lang="fr-FR" sz="1200" b="0" i="0" u="none" strike="noStrike" cap="none" spc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En effet, il est possible d'obtenir de bonnes performances prédictives simplement parce que le modèle néglige les prédictions pour les clients à risque.</a:t>
            </a: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r>
              <a:rPr lang="fr-FR" sz="1200" b="0" i="0" u="none" strike="noStrike" cap="none" spc="0">
                <a:solidFill>
                  <a:srgbClr val="000000"/>
                </a:solidFill>
                <a:latin typeface="PT Sans"/>
                <a:ea typeface="PT Sans"/>
                <a:cs typeface="PT Sans"/>
              </a:rPr>
              <a:t>Dans un tel cas, le modèle perdrait son utilité, car il ne remplirait pas son objectif principal d'identifier correctement les clients à risque.</a:t>
            </a:r>
            <a:endParaRPr sz="1200" b="0" i="0" u="none">
              <a:solidFill>
                <a:srgbClr val="000000"/>
              </a:solidFill>
              <a:latin typeface="PT Sans"/>
              <a:ea typeface="PT Sans"/>
              <a:cs typeface="PT Sans"/>
            </a:endParaRPr>
          </a:p>
          <a:p>
            <a:pPr>
              <a:defRPr/>
            </a:pPr>
            <a:endParaRPr/>
          </a:p>
        </p:txBody>
      </p:sp>
      <p:sp>
        <p:nvSpPr>
          <p:cNvPr id="1605126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96C8A2-2CAE-D497-DDDD-EC9A267939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93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0019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609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C8CC6-AB83-0E8A-3399-BCB70C344D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907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3417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1994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E70C1D-35EA-037A-59AE-1BCB6E497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714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1849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518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EBD545-0F94-920A-FC42-05B142DEC7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4999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954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600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6038BB-817B-B514-DD4F-E633FE37A3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402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522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86502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977575-D733-3926-944D-2F5EEDB8D4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052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26437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9075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BF4891-0A06-A48E-0128-B3203F564E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8795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572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608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91DAE-3710-303A-4C50-0D1245FA45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99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9892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791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76EB8A-D889-5694-63AE-23E216ECFF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103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9458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2157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9BFD1E-8DC5-7EF5-5BF1-5CE0B21407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532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28484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536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B631AD-CB21-DDA3-6324-35749C0F9C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577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0620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1110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345143-63D8-99B1-B1A1-59EAA52445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4191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981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5471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6D2E18-D15E-5DAC-60FB-BC90501EA5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344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039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244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C049E-BDC5-16F4-9E78-E3A6607C2B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617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667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943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35065-E6C9-F4A0-E5CE-7A76743B5C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3864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99373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8490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DC785D-2D50-6E0B-64A8-EAC70CEBF0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8123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6675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760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E7A4EA-B4F8-1E17-DB82-FCE72F742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558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16282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7669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1B908-C3AD-3253-F682-81F72CAE39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265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6052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910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0110A6-C52B-D28F-E056-5B47B4AD2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834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5888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9843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0BC9A-62A3-DBDD-A68A-F6D81CA1D5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838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352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619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80F42D-50A6-87B8-45DA-BF89023E25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512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554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697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DD46DD-122C-4BA2-AE74-182D1B47F0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641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3340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055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263732-9F33-D409-1D2B-16DC81AF24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743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5861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9536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C83EF-C971-52A4-4937-D7B2FD358E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3588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5165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153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1DFB39-B507-A26B-280F-602A8C00ED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1165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4745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394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DC0D00-E6F6-092B-9731-B7B8A2A0E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6414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230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3674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4E21F0-617C-8184-B4B3-8CB24BC621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87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2620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7065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63EF15-CE2B-3195-4925-FE1A1B24E4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10764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6652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15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E6F08D-2F56-9029-F70D-2A25C17D24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712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64233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103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337C0D-8A0C-678A-FC23-79DCD80CB9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59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25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55889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2CF20C-FB87-D9D1-76CB-B37E7F57C9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3313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241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7250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F2AF3-555E-BC7C-C06B-686981419C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054363" name="Title 1"/>
          <p:cNvSpPr>
            <a:spLocks noGrp="1"/>
          </p:cNvSpPr>
          <p:nvPr>
            <p:ph type="ctrTitle"/>
          </p:nvPr>
        </p:nvSpPr>
        <p:spPr bwMode="auto">
          <a:xfrm>
            <a:off x="1523999" y="1661205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8730770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3999" y="414088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3991839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1F99BE7-0409-93F8-0309-044EF2021A17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92176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1768317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4"/>
            <a:ext cx="9668435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984858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ADD994A6-F5A7-682C-C17A-F6B833735B4C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955462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7"/>
            <a:ext cx="9626226" cy="2852737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70558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82886" y="4589462"/>
            <a:ext cx="96262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33584591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15D0009-1646-FD38-7AD6-6666D101796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131964" name="Title 1"/>
          <p:cNvSpPr>
            <a:spLocks noGrp="1"/>
          </p:cNvSpPr>
          <p:nvPr>
            <p:ph type="title"/>
          </p:nvPr>
        </p:nvSpPr>
        <p:spPr bwMode="auto">
          <a:xfrm>
            <a:off x="1114344" y="365124"/>
            <a:ext cx="9963311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9647926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114344" y="1864658"/>
            <a:ext cx="7108051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847791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222396" y="1864658"/>
            <a:ext cx="2855258" cy="4688822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547457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C62F0AC-2641-79B7-04F7-E1AC3EF851CD}" type="slidenum">
              <a:rPr lang="fr-FR"/>
              <a:t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3244356" name="Picture 4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20591611" name="Title Placeholder 1"/>
          <p:cNvSpPr>
            <a:spLocks noGrp="1"/>
          </p:cNvSpPr>
          <p:nvPr>
            <p:ph type="title"/>
          </p:nvPr>
        </p:nvSpPr>
        <p:spPr bwMode="auto">
          <a:xfrm>
            <a:off x="1261782" y="365124"/>
            <a:ext cx="96684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Orkney Medium"/>
                <a:ea typeface="Orkney Medium"/>
                <a:cs typeface="Orkney Medium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39033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61782" y="1825624"/>
            <a:ext cx="96684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latin typeface="Source Sans Pro"/>
                <a:ea typeface="Source Sans Pro"/>
                <a:cs typeface="Source Sans Pro"/>
              </a:defRPr>
            </a:lvl1pPr>
            <a:lvl2pPr>
              <a:defRPr sz="1400">
                <a:latin typeface="Source Sans Pro"/>
                <a:ea typeface="Source Sans Pro"/>
                <a:cs typeface="Source Sans Pro"/>
              </a:defRPr>
            </a:lvl2pPr>
            <a:lvl3pPr>
              <a:defRPr sz="1100">
                <a:latin typeface="Source Sans Pro"/>
                <a:ea typeface="Source Sans Pro"/>
                <a:cs typeface="Source Sans Pro"/>
              </a:defRPr>
            </a:lvl3pPr>
            <a:lvl4pPr>
              <a:defRPr sz="1000">
                <a:latin typeface="Source Sans Pro"/>
                <a:ea typeface="Source Sans Pro"/>
                <a:cs typeface="Source Sans Pro"/>
              </a:defRPr>
            </a:lvl4pPr>
            <a:lvl5pPr>
              <a:defRPr sz="1000">
                <a:latin typeface="Source Sans Pro"/>
                <a:ea typeface="Source Sans Pro"/>
                <a:cs typeface="Source Sans Pro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7581460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5" y="980375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7AB8A59-D064-84AA-BAFA-3F67DA652490}" type="slidenum">
              <a:rPr lang="fr-FR"/>
              <a:t/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 b="0" i="0">
          <a:solidFill>
            <a:srgbClr val="404040"/>
          </a:solidFill>
          <a:latin typeface="Source Sans Pro Ligh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>
          <a:solidFill>
            <a:srgbClr val="404040"/>
          </a:solidFill>
          <a:latin typeface="Source Sans Pro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>
          <a:solidFill>
            <a:srgbClr val="404040"/>
          </a:solidFill>
          <a:latin typeface="Source Sans Pro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>
          <a:solidFill>
            <a:srgbClr val="404040"/>
          </a:solidFill>
          <a:latin typeface="Source Sans Pro Ligh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>
          <a:solidFill>
            <a:srgbClr val="404040"/>
          </a:solidFill>
          <a:latin typeface="Source Sans Pro Ligh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18.xml"/><Relationship Id="rId7" Type="http://schemas.openxmlformats.org/officeDocument/2006/relationships/slide" Target="slide34.xml"/><Relationship Id="rId8" Type="http://schemas.openxmlformats.org/officeDocument/2006/relationships/slide" Target="slide38.xml"/><Relationship Id="rId9" Type="http://schemas.openxmlformats.org/officeDocument/2006/relationships/slide" Target="slide43.xml"/><Relationship Id="rId10" Type="http://schemas.openxmlformats.org/officeDocument/2006/relationships/slide" Target="slide45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oleObject" Target="../embeddings/oleObject2.bin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oleObject" Target="../embeddings/oleObject3.bin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oleObject" Target="../embeddings/oleObject4.bin"/><Relationship Id="rId5" Type="http://schemas.openxmlformats.org/officeDocument/2006/relationships/image" Target="../media/image12.png"/><Relationship Id="rId6" Type="http://schemas.openxmlformats.org/officeDocument/2006/relationships/oleObject" Target="../embeddings/oleObject5.bin"/><Relationship Id="rId7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oleObject" Target="../embeddings/oleObject6.bin"/><Relationship Id="rId5" Type="http://schemas.openxmlformats.org/officeDocument/2006/relationships/image" Target="../media/image14.png"/><Relationship Id="rId6" Type="http://schemas.openxmlformats.org/officeDocument/2006/relationships/oleObject" Target="../embeddings/oleObject7.bin"/><Relationship Id="rId7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oleObject" Target="../embeddings/oleObject8.bin"/><Relationship Id="rId5" Type="http://schemas.openxmlformats.org/officeDocument/2006/relationships/image" Target="../media/image16.png"/><Relationship Id="rId6" Type="http://schemas.openxmlformats.org/officeDocument/2006/relationships/oleObject" Target="../embeddings/oleObject9.bin"/><Relationship Id="rId7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oleObject" Target="../embeddings/oleObject10.bin"/><Relationship Id="rId5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oleObject" Target="../embeddings/oleObject11.bin"/><Relationship Id="rId5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Relationship Id="rId4" Type="http://schemas.openxmlformats.org/officeDocument/2006/relationships/oleObject" Target="../embeddings/oleObject12.bin"/><Relationship Id="rId5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.png"/><Relationship Id="rId4" Type="http://schemas.openxmlformats.org/officeDocument/2006/relationships/image" Target="../media/image29.png"/><Relationship Id="rId5" Type="http://schemas.openxmlformats.org/officeDocument/2006/relationships/oleObject" Target="../embeddings/oleObject13.bin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.png"/><Relationship Id="rId4" Type="http://schemas.openxmlformats.org/officeDocument/2006/relationships/image" Target="../media/image30.png"/><Relationship Id="rId5" Type="http://schemas.openxmlformats.org/officeDocument/2006/relationships/oleObject" Target="../embeddings/oleObject14.bin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oleObject" Target="../embeddings/oleObject15.bin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Relationship Id="rId4" Type="http://schemas.openxmlformats.org/officeDocument/2006/relationships/hyperlink" Target="https://laguill-implementer-model-scoring.hf.space/pages/dashboard/" TargetMode="Externa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39347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Projet 7</a:t>
            </a:r>
            <a:endParaRPr lang="en-US"/>
          </a:p>
        </p:txBody>
      </p:sp>
      <p:sp>
        <p:nvSpPr>
          <p:cNvPr id="112401919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Implémenter un modèle de scoring</a:t>
            </a:r>
            <a:b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</a:br>
            <a:r>
              <a:rPr lang="en-US" sz="24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Guillaume LAFON</a:t>
            </a:r>
            <a:endParaRPr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974490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/>
              <a:t>Sommaire</a:t>
            </a:r>
            <a:endParaRPr lang="fr-FR"/>
          </a:p>
        </p:txBody>
      </p:sp>
      <p:sp>
        <p:nvSpPr>
          <p:cNvPr id="202525818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164734" y="1825623"/>
            <a:ext cx="9862530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lvl="0">
              <a:lnSpc>
                <a:spcPct val="200000"/>
              </a:lnSpc>
              <a:defRPr/>
            </a:pPr>
            <a:r>
              <a:rPr lang="fr-FR" sz="1700" b="1" u="sng">
                <a:hlinkClick r:id="rId3" action="ppaction://hlinksldjump" tooltip="Diapositive 3"/>
              </a:rPr>
              <a:t>1. Introduction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sz="1700" b="1" u="sng">
                <a:solidFill>
                  <a:schemeClr val="tx1"/>
                </a:solidFill>
                <a:hlinkClick r:id="rId4" action="ppaction://hlinksldjump" tooltip="Diapositive 5"/>
              </a:rPr>
              <a:t>2. Présentation du jeu de données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5" action="ppaction://hlinksldjump" tooltip="Diapositive 7"/>
              </a:rPr>
              <a:t>3 Modelisation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6" action="ppaction://hlinksldjump" tooltip="Diapositive 14"/>
              </a:rPr>
              <a:t>4. Modèles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7" action="ppaction://hlinksldjump" tooltip="Diapositive 22"/>
              </a:rPr>
              <a:t>5 Features importances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u="sng">
                <a:solidFill>
                  <a:schemeClr val="hlink"/>
                </a:solidFill>
                <a:hlinkClick r:id="rId8" action="ppaction://hlinksldjump" tooltip="Diapositive 28"/>
              </a:rPr>
              <a:t>6. Déploiement</a:t>
            </a:r>
            <a:endParaRPr/>
          </a:p>
          <a:p>
            <a:pPr lvl="0">
              <a:lnSpc>
                <a:spcPct val="200000"/>
              </a:lnSpc>
              <a:defRPr/>
            </a:pPr>
            <a:r>
              <a:rPr lang="fr-FR" sz="1800" b="1" i="0" u="sng" strike="noStrike" cap="none" spc="0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9" action="ppaction://hlinksldjump" tooltip="Diapositive 43"/>
              </a:rPr>
              <a:t>7 Datadrift</a:t>
            </a:r>
            <a:endParaRPr sz="1700" b="1" u="sng">
              <a:solidFill>
                <a:schemeClr val="tx1"/>
              </a:solidFill>
            </a:endParaRPr>
          </a:p>
          <a:p>
            <a:pPr lvl="0">
              <a:lnSpc>
                <a:spcPct val="200000"/>
              </a:lnSpc>
              <a:defRPr/>
            </a:pPr>
            <a:r>
              <a:rPr lang="fr-FR" sz="1700" b="1" i="0" u="sng" strike="noStrike" cap="none" spc="0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10" action="ppaction://hlinksldjump" tooltip="Diapositive 45"/>
              </a:rPr>
              <a:t>8 Conclusion</a:t>
            </a:r>
            <a:endParaRPr sz="1700" b="1" u="sng">
              <a:solidFill>
                <a:schemeClr val="tx1"/>
              </a:solidFill>
            </a:endParaRPr>
          </a:p>
        </p:txBody>
      </p:sp>
      <p:sp>
        <p:nvSpPr>
          <p:cNvPr id="202104037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1C5022-64DE-6212-1F2B-DF3A7A0C0E87}" type="slidenum">
              <a:rPr lang="fr-FR"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202525818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47623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282887" y="1420677"/>
            <a:ext cx="9626225" cy="1059209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Introduction</a:t>
            </a:r>
            <a:endParaRPr/>
          </a:p>
        </p:txBody>
      </p:sp>
      <p:sp>
        <p:nvSpPr>
          <p:cNvPr id="167349068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9804DC6-9870-9FB8-3039-899F63A512D1}" type="slidenum">
              <a:rPr lang="fr-FR"/>
              <a:t/>
            </a:fld>
            <a:endParaRPr/>
          </a:p>
        </p:txBody>
      </p:sp>
      <p:pic>
        <p:nvPicPr>
          <p:cNvPr id="477851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60864" y="2415092"/>
            <a:ext cx="7870271" cy="31180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0074954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2"/>
            <a:ext cx="9668435" cy="1325561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1 Introduction</a:t>
            </a:r>
            <a:endParaRPr/>
          </a:p>
        </p:txBody>
      </p:sp>
      <p:sp>
        <p:nvSpPr>
          <p:cNvPr id="1491467775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lvl="0" indent="0">
              <a:spcBef>
                <a:spcPts val="2998"/>
              </a:spcBef>
              <a:buNone/>
              <a:defRPr/>
            </a:pPr>
            <a:r>
              <a:rPr lang="fr-FR" b="1"/>
              <a:t>1.1 Contexte</a:t>
            </a:r>
            <a:endParaRPr lang="fr-FR"/>
          </a:p>
          <a:p>
            <a:pPr marL="0" lvl="0" indent="0">
              <a:buNone/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L’entreprise prêt à dépenser propose des crédits à la consommation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pour des personnes ayant peu ou pas du tout d'historique de prêt.</a:t>
            </a:r>
            <a:endParaRPr lang="fr-FR"/>
          </a:p>
          <a:p>
            <a:pPr marL="0" lvl="0" indent="0">
              <a:lnSpc>
                <a:spcPct val="100000"/>
              </a:lnSpc>
              <a:spcBef>
                <a:spcPts val="2998"/>
              </a:spcBef>
              <a:buNone/>
              <a:defRPr/>
            </a:pPr>
            <a:r>
              <a:rPr lang="fr-FR" b="1"/>
              <a:t>1.2 Mission</a:t>
            </a:r>
            <a:endParaRPr lang="fr-FR" b="1"/>
          </a:p>
          <a:p>
            <a:pPr marL="0" lvl="0" indent="0">
              <a:lnSpc>
                <a:spcPct val="90000"/>
              </a:lnSpc>
              <a:spcBef>
                <a:spcPts val="566"/>
              </a:spcBef>
              <a:buNone/>
              <a:defRPr/>
            </a:pPr>
            <a:r>
              <a:rPr lang="fr-FR" b="0"/>
              <a:t>Formulation de la problématique :</a:t>
            </a:r>
            <a:endParaRPr b="0"/>
          </a:p>
          <a:p>
            <a:pPr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Calculer la probabilité qu’un client rembourse</a:t>
            </a: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.</a:t>
            </a:r>
            <a:endParaRPr lang="fr-FR" sz="1600" b="0" i="0" u="none" strike="noStrike" cap="none" spc="0">
              <a:solidFill>
                <a:srgbClr val="404040"/>
              </a:solidFill>
              <a:latin typeface="Source Sans Pro"/>
              <a:ea typeface="Source Sans Pro"/>
              <a:cs typeface="Source Sans Pro"/>
            </a:endParaRPr>
          </a:p>
          <a:p>
            <a:pPr marL="228600" marR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fr-FR" sz="16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Classifier la demande en crédit accordé ou refusé.</a:t>
            </a:r>
            <a:endParaRPr sz="16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 lvl="0">
              <a:defRPr/>
            </a:pPr>
            <a:endParaRPr>
              <a:latin typeface="Source Sans Pro"/>
              <a:cs typeface="Source Sans Pro"/>
            </a:endParaRPr>
          </a:p>
          <a:p>
            <a:pPr marL="0" lvl="0" indent="0">
              <a:spcBef>
                <a:spcPts val="2997"/>
              </a:spcBef>
              <a:buNone/>
              <a:defRPr/>
            </a:pPr>
            <a:r>
              <a:rPr lang="fr-FR" sz="1700" b="1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1.3 Données</a:t>
            </a:r>
            <a:endParaRPr sz="1700"/>
          </a:p>
          <a:p>
            <a:pPr lvl="0">
              <a:defRPr/>
            </a:pP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Jeu de données contenant des informations sur les clients ( </a:t>
            </a:r>
            <a:r>
              <a:rPr lang="fr-FR" sz="17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données comportementales, données provenant d'autres institutions financières)</a:t>
            </a:r>
            <a:endParaRPr lang="fr-FR"/>
          </a:p>
        </p:txBody>
      </p:sp>
      <p:sp>
        <p:nvSpPr>
          <p:cNvPr id="26489523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AA2E8BE-E580-DDD9-503B-2C68CB1BFE61}" type="slidenum">
              <a:rPr lang="fr-FR"/>
              <a:t/>
            </a:fld>
            <a:endParaRPr/>
          </a:p>
        </p:txBody>
      </p:sp>
      <p:pic>
        <p:nvPicPr>
          <p:cNvPr id="1212031120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5748940" y="266237"/>
            <a:ext cx="1953432" cy="1424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bldLst>
      <p:bldP spid="149146777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952740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70" y="1709734"/>
            <a:ext cx="10745656" cy="285273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2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lang="fr-FR"/>
          </a:p>
        </p:txBody>
      </p:sp>
      <p:sp>
        <p:nvSpPr>
          <p:cNvPr id="155927322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E3EC634-E74E-A503-A4D7-322A616FDBBD}" type="slidenum">
              <a:rPr lang="fr-FR"/>
              <a:t/>
            </a:fld>
            <a:endParaRPr/>
          </a:p>
        </p:txBody>
      </p:sp>
      <p:pic>
        <p:nvPicPr>
          <p:cNvPr id="5030283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8" y="5612294"/>
            <a:ext cx="1485253" cy="108304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21360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2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Présentation du jeu de données</a:t>
            </a:r>
            <a:endParaRPr sz="3600"/>
          </a:p>
        </p:txBody>
      </p:sp>
      <p:sp>
        <p:nvSpPr>
          <p:cNvPr id="25981419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69B3EAA-B931-2F05-0E04-BBE1C4C2B1C5}" type="slidenum">
              <a:rPr lang="fr-FR"/>
              <a:t/>
            </a:fld>
            <a:endParaRPr/>
          </a:p>
        </p:txBody>
      </p:sp>
      <p:pic>
        <p:nvPicPr>
          <p:cNvPr id="57439753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graphicFrame>
        <p:nvGraphicFramePr>
          <p:cNvPr id="1044703270" name=""/>
          <p:cNvGraphicFramePr>
            <a:graphicFrameLocks xmlns:a="http://schemas.openxmlformats.org/drawingml/2006/main"/>
          </p:cNvGraphicFramePr>
          <p:nvPr/>
        </p:nvGraphicFramePr>
        <p:xfrm>
          <a:off x="1176374" y="1764694"/>
          <a:ext cx="9080499" cy="420624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2367705"/>
                <a:gridCol w="6712794"/>
              </a:tblGrid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Élément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Description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SK_ID_CURR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Identifiant unique pour chaque demande de prêt.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0193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TARGET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Variable cible indiquant le résultat du prêt :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 : Prêt remboursé sans problème.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1 : Difficultés de remboursement.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384810"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Nombre de clients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300 000 train / 40 000 test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Données démographiques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Âge, sexe, situation familiale,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29337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Données financières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Revenu, voiture de fonction, locataire,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  <a:tr h="384810">
                <a:tc>
                  <a:txBody>
                    <a:bodyPr/>
                    <a:p>
                      <a:pPr>
                        <a:defRPr/>
                      </a:pP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p>
                      <a:pPr marL="283879" indent="-283879">
                        <a:buFont typeface="Arial"/>
                        <a:buChar char="•"/>
                        <a:defRPr/>
                      </a:pPr>
                      <a:r>
                        <a:rPr sz="18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Informations liées à la demande</a:t>
                      </a:r>
                      <a:r>
                        <a:rPr sz="18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: Documents fournis, première demande de prêt, etc.</a:t>
                      </a:r>
                      <a:endParaRPr sz="24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0666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3 Modélisation </a:t>
            </a:r>
            <a:endParaRPr lang="fr-FR"/>
          </a:p>
        </p:txBody>
      </p:sp>
      <p:sp>
        <p:nvSpPr>
          <p:cNvPr id="68268130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B1C71A3-5EF4-88CC-AA7C-D65195906E2A}" type="slidenum">
              <a:rPr lang="fr-FR"/>
              <a:t/>
            </a:fld>
            <a:endParaRPr/>
          </a:p>
        </p:txBody>
      </p:sp>
      <p:pic>
        <p:nvPicPr>
          <p:cNvPr id="205664116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77476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39040249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1E73F91-21E4-EB6B-E9B4-5D00EBC5174A}" type="slidenum">
              <a:rPr lang="fr-FR"/>
              <a:t/>
            </a:fld>
            <a:endParaRPr/>
          </a:p>
        </p:txBody>
      </p:sp>
      <p:graphicFrame>
        <p:nvGraphicFramePr>
          <p:cNvPr id="1448877201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433874" y="1512126"/>
          <a:ext cx="9990457" cy="5098222"/>
        </p:xfrm>
        <a:graphic>
          <a:graphicData uri="http://schemas.openxmlformats.org/presentationml/2006/ole">
            <p:oleObj name="oleObj" r:id="rId4" imgW="13963650" imgH="7124700" progId="asc.{DB38923B-A8C0-4DE9-8AEE-A61BB5C901A5}">
              <p:embed/>
              <p:pic>
                <p:nvPicPr>
                  <p:cNvPr id="1448877201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433874" y="1512126"/>
                    <a:ext cx="9990457" cy="5098222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096838173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5378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75042421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8F4092B-DF75-8433-8DA9-0DAAE8BCB7D2}" type="slidenum">
              <a:rPr lang="fr-FR"/>
              <a:t/>
            </a:fld>
            <a:endParaRPr/>
          </a:p>
        </p:txBody>
      </p:sp>
      <p:pic>
        <p:nvPicPr>
          <p:cNvPr id="136532698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92388926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936480" y="2010447"/>
            <a:ext cx="9306967" cy="468489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25797040" name=""/>
          <p:cNvSpPr txBox="1"/>
          <p:nvPr/>
        </p:nvSpPr>
        <p:spPr bwMode="auto">
          <a:xfrm flipH="0" flipV="0">
            <a:off x="1065160" y="1530026"/>
            <a:ext cx="10049231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26420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55472080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C19EDC9-DC54-4379-DDCC-3342AE2BCBA7}" type="slidenum">
              <a:rPr lang="fr-FR"/>
              <a:t/>
            </a:fld>
            <a:endParaRPr/>
          </a:p>
        </p:txBody>
      </p:sp>
      <p:pic>
        <p:nvPicPr>
          <p:cNvPr id="134985038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88665077" name=""/>
          <p:cNvSpPr txBox="1"/>
          <p:nvPr/>
        </p:nvSpPr>
        <p:spPr bwMode="auto">
          <a:xfrm flipH="0" flipV="0">
            <a:off x="1065160" y="3587427"/>
            <a:ext cx="10089191" cy="7776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Suppression des colonnes avec plus de</a:t>
            </a:r>
            <a:r>
              <a:rPr lang="fr-FR" sz="3000" b="1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 30% </a:t>
            </a: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de manquants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61895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200464500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FA6A93C-3DC5-2801-813D-DD6FD55872E6}" type="slidenum">
              <a:rPr lang="fr-FR"/>
              <a:t/>
            </a:fld>
            <a:endParaRPr/>
          </a:p>
        </p:txBody>
      </p:sp>
      <p:pic>
        <p:nvPicPr>
          <p:cNvPr id="142484617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37280082" name=""/>
          <p:cNvPicPr/>
          <p:nvPr/>
        </p:nvPicPr>
        <p:blipFill>
          <a:blip r:embed="rId4"/>
          <a:stretch/>
        </p:blipFill>
        <p:spPr bwMode="auto">
          <a:xfrm rot="0" flipH="0" flipV="0">
            <a:off x="969910" y="2005499"/>
            <a:ext cx="9306000" cy="468360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73976530" name=""/>
          <p:cNvSpPr txBox="1"/>
          <p:nvPr/>
        </p:nvSpPr>
        <p:spPr bwMode="auto">
          <a:xfrm flipH="0" flipV="0">
            <a:off x="1065160" y="1530026"/>
            <a:ext cx="10049590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54803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Modélisation</a:t>
            </a:r>
            <a:endParaRPr sz="3600"/>
          </a:p>
        </p:txBody>
      </p:sp>
      <p:sp>
        <p:nvSpPr>
          <p:cNvPr id="196196254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537DDF1-0536-5806-8EAB-EA482E7A8452}" type="slidenum">
              <a:rPr lang="fr-FR"/>
              <a:t/>
            </a:fld>
            <a:endParaRPr/>
          </a:p>
        </p:txBody>
      </p:sp>
      <p:pic>
        <p:nvPicPr>
          <p:cNvPr id="185616974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61840535" name=""/>
          <p:cNvSpPr txBox="1"/>
          <p:nvPr/>
        </p:nvSpPr>
        <p:spPr bwMode="auto">
          <a:xfrm flipH="0" flipV="0">
            <a:off x="4089800" y="2354400"/>
            <a:ext cx="4012398" cy="2149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150000"/>
              </a:lnSpc>
              <a:defRPr/>
            </a:pPr>
            <a:r>
              <a:rPr lang="fr-FR" sz="3000" b="1" i="0" u="none" strike="noStrike" cap="none" spc="0">
                <a:solidFill>
                  <a:schemeClr val="tx1"/>
                </a:solidFill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0</a:t>
            </a:r>
            <a:r>
              <a:rPr lang="fr-FR" sz="30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 lignes en doublons</a:t>
            </a:r>
            <a:endParaRPr sz="3000" b="1">
              <a:latin typeface="Source Sans Pro"/>
              <a:ea typeface="Source Sans Pro"/>
              <a:cs typeface="Source Sans Pro"/>
            </a:endParaRPr>
          </a:p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99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colonnes</a:t>
            </a:r>
            <a:endParaRPr sz="3000" b="1">
              <a:latin typeface="Source Sans Pro"/>
              <a:ea typeface="Source Sans Pro"/>
              <a:cs typeface="Source Sans Pro"/>
            </a:endParaRPr>
          </a:p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300 000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individus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72324824" name=""/>
          <p:cNvSpPr txBox="1"/>
          <p:nvPr/>
        </p:nvSpPr>
        <p:spPr bwMode="auto">
          <a:xfrm flipH="0" flipV="0">
            <a:off x="1065159" y="1530025"/>
            <a:ext cx="100499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Traitement des valeurs manquantes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839546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95177907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430900A1-36C3-F077-A3D6-97EB2EDF8B35}" type="slidenum">
              <a:rPr lang="fr-FR"/>
              <a:t/>
            </a:fld>
            <a:endParaRPr/>
          </a:p>
        </p:txBody>
      </p:sp>
      <p:pic>
        <p:nvPicPr>
          <p:cNvPr id="209484901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11413864" name=""/>
          <p:cNvSpPr txBox="1"/>
          <p:nvPr/>
        </p:nvSpPr>
        <p:spPr bwMode="auto">
          <a:xfrm flipH="0" flipV="0">
            <a:off x="3213640" y="2354400"/>
            <a:ext cx="5765438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150000"/>
              </a:lnSpc>
              <a:defRPr/>
            </a:pP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Supprimer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les colonnes fortement </a:t>
            </a:r>
            <a:r>
              <a:rPr sz="3000" b="1">
                <a:highlight>
                  <a:srgbClr val="FFFF00"/>
                </a:highlight>
                <a:latin typeface="Source Sans Pro"/>
                <a:ea typeface="Source Sans Pro"/>
                <a:cs typeface="Source Sans Pro"/>
              </a:rPr>
              <a:t>liées</a:t>
            </a:r>
            <a:r>
              <a:rPr sz="3000" b="1">
                <a:latin typeface="Source Sans Pro"/>
                <a:ea typeface="Source Sans Pro"/>
                <a:cs typeface="Source Sans Pro"/>
              </a:rPr>
              <a:t> à la cible</a:t>
            </a:r>
            <a:endParaRPr sz="30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334510043" name=""/>
          <p:cNvSpPr txBox="1"/>
          <p:nvPr/>
        </p:nvSpPr>
        <p:spPr bwMode="auto">
          <a:xfrm flipH="0" flipV="0">
            <a:off x="1065159" y="1530025"/>
            <a:ext cx="100643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Étude des corrélations avec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6496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47297395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8D29D7F-C048-BA04-7112-FB7DC259BD15}" type="slidenum">
              <a:rPr lang="fr-FR"/>
              <a:t/>
            </a:fld>
            <a:endParaRPr/>
          </a:p>
        </p:txBody>
      </p:sp>
      <p:pic>
        <p:nvPicPr>
          <p:cNvPr id="84219030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243970859" name=""/>
          <p:cNvSpPr txBox="1"/>
          <p:nvPr/>
        </p:nvSpPr>
        <p:spPr bwMode="auto">
          <a:xfrm flipH="0" flipV="0">
            <a:off x="1065160" y="1530026"/>
            <a:ext cx="10063990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Étude des corrélations avec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0573804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356156" y="1936749"/>
            <a:ext cx="7467599" cy="4610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9453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141845125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1EC2A2CC-DE8D-B746-65AC-BB0750956C8D}" type="slidenum">
              <a:rPr lang="fr-FR"/>
              <a:t/>
            </a:fld>
            <a:endParaRPr/>
          </a:p>
        </p:txBody>
      </p:sp>
      <p:pic>
        <p:nvPicPr>
          <p:cNvPr id="69627749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3067297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71847" y="2010446"/>
            <a:ext cx="5448299" cy="5172074"/>
          </a:xfrm>
          <a:prstGeom prst="rect">
            <a:avLst/>
          </a:prstGeom>
        </p:spPr>
      </p:pic>
      <p:sp>
        <p:nvSpPr>
          <p:cNvPr id="838368613" name=""/>
          <p:cNvSpPr txBox="1"/>
          <p:nvPr/>
        </p:nvSpPr>
        <p:spPr bwMode="auto">
          <a:xfrm flipH="0" flipV="0">
            <a:off x="1065159" y="1530025"/>
            <a:ext cx="1006974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Analyse métier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26382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173986517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0" y="980370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43F8023-C3EE-561B-5886-71677CC3EEF9}" type="slidenum">
              <a:rPr lang="fr-FR"/>
              <a:t/>
            </a:fld>
            <a:endParaRPr/>
          </a:p>
        </p:txBody>
      </p:sp>
      <p:pic>
        <p:nvPicPr>
          <p:cNvPr id="180687993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72151880" name=""/>
          <p:cNvSpPr txBox="1"/>
          <p:nvPr/>
        </p:nvSpPr>
        <p:spPr bwMode="auto">
          <a:xfrm flipH="0" flipV="0">
            <a:off x="1065159" y="1530025"/>
            <a:ext cx="1007262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Déséquilibre de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285284774" name=""/>
          <p:cNvPicPr>
            <a:picLocks noChangeAspect="1"/>
          </p:cNvPicPr>
          <p:nvPr/>
        </p:nvPicPr>
        <p:blipFill>
          <a:blip r:embed="rId4"/>
          <a:srcRect l="0" t="0" r="0" b="4221"/>
          <a:stretch/>
        </p:blipFill>
        <p:spPr bwMode="auto">
          <a:xfrm flipH="0" flipV="0">
            <a:off x="3725083" y="1985953"/>
            <a:ext cx="4741824" cy="4745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8000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3 Modélisation</a:t>
            </a:r>
            <a:endParaRPr sz="3600"/>
          </a:p>
        </p:txBody>
      </p:sp>
      <p:sp>
        <p:nvSpPr>
          <p:cNvPr id="13112457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94EF60F-0B2D-9E4F-7829-C9971C27F1D2}" type="slidenum">
              <a:rPr lang="fr-FR"/>
              <a:t/>
            </a:fld>
            <a:endParaRPr/>
          </a:p>
        </p:txBody>
      </p:sp>
      <p:pic>
        <p:nvPicPr>
          <p:cNvPr id="1907502530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23193825" name=""/>
          <p:cNvSpPr txBox="1"/>
          <p:nvPr/>
        </p:nvSpPr>
        <p:spPr bwMode="auto">
          <a:xfrm flipH="0" flipV="0">
            <a:off x="1065159" y="1530025"/>
            <a:ext cx="10072629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Déséquilibre de la cible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104612320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434283" y="1851694"/>
          <a:ext cx="5323423" cy="4736429"/>
        </p:xfrm>
        <a:graphic>
          <a:graphicData uri="http://schemas.openxmlformats.org/presentationml/2006/ole">
            <p:oleObj name="oleObj" r:id="rId5" imgW="9467850" imgH="8420100" progId="asc.{DB38923B-A8C0-4DE9-8AEE-A61BB5C901A5}">
              <p:embed/>
              <p:pic>
                <p:nvPicPr>
                  <p:cNvPr id="1046123204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3434283" y="1851694"/>
                    <a:ext cx="5323423" cy="4736429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9617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723169" y="1709733"/>
            <a:ext cx="10745655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 lang="fr-FR"/>
              <a:t>4 </a:t>
            </a:r>
            <a:r>
              <a:rPr lang="fr-FR"/>
              <a:t>Modèles</a:t>
            </a:r>
            <a:endParaRPr lang="fr-FR"/>
          </a:p>
        </p:txBody>
      </p:sp>
      <p:sp>
        <p:nvSpPr>
          <p:cNvPr id="49243363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169717E-2C97-08AF-2C64-231F2062CEC1}" type="slidenum">
              <a:rPr lang="fr-FR"/>
              <a:t/>
            </a:fld>
            <a:endParaRPr/>
          </a:p>
        </p:txBody>
      </p:sp>
      <p:pic>
        <p:nvPicPr>
          <p:cNvPr id="15543160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81224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2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128303199" name=""/>
          <p:cNvSpPr txBox="1"/>
          <p:nvPr/>
        </p:nvSpPr>
        <p:spPr bwMode="auto">
          <a:xfrm flipH="0" flipV="0">
            <a:off x="1077600" y="1872927"/>
            <a:ext cx="990235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931030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4DD297D-428F-C251-9A9C-6C865188267A}" type="slidenum">
              <a:rPr lang="fr-FR"/>
              <a:t/>
            </a:fld>
            <a:endParaRPr/>
          </a:p>
        </p:txBody>
      </p:sp>
      <p:pic>
        <p:nvPicPr>
          <p:cNvPr id="1318484193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9684200" name=""/>
          <p:cNvSpPr txBox="1"/>
          <p:nvPr/>
        </p:nvSpPr>
        <p:spPr bwMode="auto">
          <a:xfrm flipH="0" flipV="0">
            <a:off x="1065159" y="1530025"/>
            <a:ext cx="10080908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Métriques d’évaluation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436796991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151933" y="2113135"/>
          <a:ext cx="7668000" cy="3960000"/>
        </p:xfrm>
        <a:graphic>
          <a:graphicData uri="http://schemas.openxmlformats.org/presentationml/2006/ole">
            <p:oleObj name="oleObj" r:id="rId5" imgW="7667625" imgH="3952875" progId="asc.{DB38923B-A8C0-4DE9-8AEE-A61BB5C901A5}">
              <p:embed/>
              <p:pic>
                <p:nvPicPr>
                  <p:cNvPr id="436796991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151933" y="2113135"/>
                    <a:ext cx="7668000" cy="3960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37779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663484108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84491017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FBAEC8C-3D9B-435B-B296-A60ECF8434F5}" type="slidenum">
              <a:rPr lang="fr-FR"/>
              <a:t/>
            </a:fld>
            <a:endParaRPr/>
          </a:p>
        </p:txBody>
      </p:sp>
      <p:graphicFrame>
        <p:nvGraphicFramePr>
          <p:cNvPr id="1227046655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25701" y="3024598"/>
          <a:ext cx="2646456" cy="1916399"/>
        </p:xfrm>
        <a:graphic>
          <a:graphicData uri="http://schemas.openxmlformats.org/presentationml/2006/ole">
            <p:oleObj name="oleObj" r:id="rId4" imgW="2085975" imgH="1504950" progId="asc.{DB38923B-A8C0-4DE9-8AEE-A61BB5C901A5}">
              <p:embed/>
              <p:pic>
                <p:nvPicPr>
                  <p:cNvPr id="1227046655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325701" y="3024598"/>
                    <a:ext cx="2646456" cy="1916399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graphicFrame>
        <p:nvGraphicFramePr>
          <p:cNvPr id="1519711500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3376549" y="1710493"/>
          <a:ext cx="8770019" cy="4728534"/>
        </p:xfrm>
        <a:graphic>
          <a:graphicData uri="http://schemas.openxmlformats.org/presentationml/2006/ole">
            <p:oleObj name="oleObj" r:id="rId6" imgW="7810500" imgH="4210050" progId="asc.{DB38923B-A8C0-4DE9-8AEE-A61BB5C901A5}">
              <p:embed/>
              <p:pic>
                <p:nvPicPr>
                  <p:cNvPr id="1519711500" name=""/>
                  <p:cNvPicPr/>
                  <p:nvPr/>
                </p:nvPicPr>
                <p:blipFill>
                  <a:blip r:embed="rId5"/>
                  <a:stretch/>
                </p:blipFill>
                <p:spPr bwMode="auto">
                  <a:xfrm flipH="0" flipV="0">
                    <a:off x="3376549" y="1710493"/>
                    <a:ext cx="8770019" cy="472853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2051878425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44610464" name=""/>
          <p:cNvSpPr txBox="1"/>
          <p:nvPr/>
        </p:nvSpPr>
        <p:spPr bwMode="auto">
          <a:xfrm flipH="0" flipV="0">
            <a:off x="1065159" y="1530025"/>
            <a:ext cx="10087027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148869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10768030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03663469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E10D0CE-9485-74E6-961A-22E74D466F33}" type="slidenum">
              <a:rPr lang="fr-FR"/>
              <a:t/>
            </a:fld>
            <a:endParaRPr/>
          </a:p>
        </p:txBody>
      </p:sp>
      <p:sp>
        <p:nvSpPr>
          <p:cNvPr id="975338045" name=""/>
          <p:cNvSpPr txBox="1"/>
          <p:nvPr/>
        </p:nvSpPr>
        <p:spPr bwMode="auto">
          <a:xfrm flipH="0" flipV="0">
            <a:off x="4852052" y="5523900"/>
            <a:ext cx="1901058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= 0.083</a:t>
            </a:r>
            <a:endParaRPr sz="2200" b="1">
              <a:latin typeface="Source Sans Pro"/>
              <a:ea typeface="Source Sans Pro"/>
              <a:cs typeface="Source Sans Pro"/>
            </a:endParaRPr>
          </a:p>
        </p:txBody>
      </p:sp>
      <p:grpSp>
        <p:nvGrpSpPr>
          <p:cNvPr id="669821324" name=""/>
          <p:cNvGrpSpPr/>
          <p:nvPr/>
        </p:nvGrpSpPr>
        <p:grpSpPr bwMode="auto">
          <a:xfrm>
            <a:off x="332399" y="2555160"/>
            <a:ext cx="11527200" cy="2595599"/>
            <a:chOff x="0" y="0"/>
            <a:chExt cx="11527200" cy="2595599"/>
          </a:xfrm>
        </p:grpSpPr>
        <p:graphicFrame>
          <p:nvGraphicFramePr>
            <p:cNvPr id="838811309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0" y="0"/>
            <a:ext cx="5499065" cy="2594796"/>
          </p:xfrm>
          <a:graphic>
            <a:graphicData uri="http://schemas.openxmlformats.org/presentationml/2006/ole">
              <p:oleObj name="oleObj" r:id="rId4" imgW="4743450" imgH="2228850" progId="asc.{DB38923B-A8C0-4DE9-8AEE-A61BB5C901A5}">
                <p:embed/>
                <p:pic>
                  <p:nvPicPr>
                    <p:cNvPr id="838811309" name=""/>
                    <p:cNvPicPr/>
                    <p:nvPr/>
                  </p:nvPicPr>
                  <p:blipFill>
                    <a:blip r:embed="rId3"/>
                    <a:stretch/>
                  </p:blipFill>
                  <p:spPr bwMode="auto">
                    <a:xfrm rot="0" flipH="0" flipV="0">
                      <a:off x="0" y="0"/>
                      <a:ext cx="5499065" cy="2594796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  <p:graphicFrame>
          <p:nvGraphicFramePr>
            <p:cNvPr id="780429775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6001200" y="0"/>
            <a:ext cx="5526000" cy="2595599"/>
          </p:xfrm>
          <a:graphic>
            <a:graphicData uri="http://schemas.openxmlformats.org/presentationml/2006/ole">
              <p:oleObj name="oleObj" r:id="rId6" imgW="4743450" imgH="2228850" progId="asc.{DB38923B-A8C0-4DE9-8AEE-A61BB5C901A5}">
                <p:embed/>
                <p:pic>
                  <p:nvPicPr>
                    <p:cNvPr id="780429775" name=""/>
                    <p:cNvPicPr/>
                    <p:nvPr/>
                  </p:nvPicPr>
                  <p:blipFill>
                    <a:blip r:embed="rId5"/>
                    <a:stretch/>
                  </p:blipFill>
                  <p:spPr bwMode="auto">
                    <a:xfrm rot="0" flipH="0" flipV="0">
                      <a:off x="6001200" y="0"/>
                      <a:ext cx="5526000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</p:grpSp>
      <p:pic>
        <p:nvPicPr>
          <p:cNvPr id="434727917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59243937" name=""/>
          <p:cNvSpPr txBox="1"/>
          <p:nvPr/>
        </p:nvSpPr>
        <p:spPr bwMode="auto">
          <a:xfrm flipH="0" flipV="0">
            <a:off x="1065159" y="1530025"/>
            <a:ext cx="10093867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 : Simulation 1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04321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964351602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9455125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0D590D30-AB01-CF1C-242C-AB20F13A98EC}" type="slidenum">
              <a:rPr lang="fr-FR"/>
              <a:t/>
            </a:fld>
            <a:endParaRPr/>
          </a:p>
        </p:txBody>
      </p:sp>
      <p:sp>
        <p:nvSpPr>
          <p:cNvPr id="1879693028" name=""/>
          <p:cNvSpPr txBox="1"/>
          <p:nvPr/>
        </p:nvSpPr>
        <p:spPr bwMode="auto">
          <a:xfrm flipH="0" flipV="0">
            <a:off x="4852053" y="5523901"/>
            <a:ext cx="1898538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 lang="fr-FR" sz="22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= 0.352</a:t>
            </a:r>
            <a:endParaRPr sz="2200" b="1">
              <a:latin typeface="Source Sans Pro"/>
              <a:ea typeface="Source Sans Pro"/>
              <a:cs typeface="Source Sans Pro"/>
            </a:endParaRPr>
          </a:p>
        </p:txBody>
      </p:sp>
      <p:grpSp>
        <p:nvGrpSpPr>
          <p:cNvPr id="1444736933" name=""/>
          <p:cNvGrpSpPr/>
          <p:nvPr/>
        </p:nvGrpSpPr>
        <p:grpSpPr bwMode="auto">
          <a:xfrm>
            <a:off x="337799" y="2556000"/>
            <a:ext cx="11516399" cy="2595599"/>
            <a:chOff x="0" y="0"/>
            <a:chExt cx="11516399" cy="2595599"/>
          </a:xfrm>
        </p:grpSpPr>
        <p:graphicFrame>
          <p:nvGraphicFramePr>
            <p:cNvPr id="1235065150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0" y="0"/>
            <a:ext cx="5500798" cy="2595599"/>
          </p:xfrm>
          <a:graphic>
            <a:graphicData uri="http://schemas.openxmlformats.org/presentationml/2006/ole">
              <p:oleObj name="oleObj" r:id="rId4" imgW="4743450" imgH="2228850" progId="asc.{DB38923B-A8C0-4DE9-8AEE-A61BB5C901A5}">
                <p:embed/>
                <p:pic>
                  <p:nvPicPr>
                    <p:cNvPr id="1235065150" name=""/>
                    <p:cNvPicPr/>
                    <p:nvPr/>
                  </p:nvPicPr>
                  <p:blipFill>
                    <a:blip r:embed="rId3"/>
                    <a:stretch/>
                  </p:blipFill>
                  <p:spPr bwMode="auto">
                    <a:xfrm rot="0" flipH="0" flipV="0">
                      <a:off x="0" y="0"/>
                      <a:ext cx="5500798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  <p:graphicFrame>
          <p:nvGraphicFramePr>
            <p:cNvPr id="1353210545" name=""/>
            <p:cNvGraphicFramePr>
              <a:graphicFrameLocks xmlns:a="http://schemas.openxmlformats.org/drawingml/2006/main" noChangeAspect="1"/>
            </p:cNvGraphicFramePr>
            <p:nvPr/>
          </p:nvGraphicFramePr>
          <p:xfrm rot="0" flipH="0" flipV="0">
            <a:off x="6015599" y="0"/>
            <a:ext cx="5500798" cy="2595599"/>
          </p:xfrm>
          <a:graphic>
            <a:graphicData uri="http://schemas.openxmlformats.org/presentationml/2006/ole">
              <p:oleObj name="oleObj" r:id="rId6" imgW="4743450" imgH="2228850" progId="asc.{DB38923B-A8C0-4DE9-8AEE-A61BB5C901A5}">
                <p:embed/>
                <p:pic>
                  <p:nvPicPr>
                    <p:cNvPr id="1353210545" name=""/>
                    <p:cNvPicPr/>
                    <p:nvPr/>
                  </p:nvPicPr>
                  <p:blipFill>
                    <a:blip r:embed="rId5"/>
                    <a:stretch/>
                  </p:blipFill>
                  <p:spPr bwMode="auto">
                    <a:xfrm rot="0" flipH="0" flipV="0">
                      <a:off x="6015599" y="0"/>
                      <a:ext cx="5500798" cy="2595599"/>
                    </a:xfrm>
                    <a:prstGeom prst="rect">
                      <a:avLst/>
                    </a:prstGeom>
                  </p:spPr>
                </p:pic>
              </p:oleObj>
            </a:graphicData>
          </a:graphic>
        </p:graphicFrame>
      </p:grpSp>
      <p:pic>
        <p:nvPicPr>
          <p:cNvPr id="1994053096" name=""/>
          <p:cNvPicPr>
            <a:picLocks noChangeAspect="1"/>
          </p:cNvPicPr>
          <p:nvPr/>
        </p:nvPicPr>
        <p:blipFill>
          <a:blip r:embed="rId7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02342984" name=""/>
          <p:cNvSpPr txBox="1"/>
          <p:nvPr/>
        </p:nvSpPr>
        <p:spPr bwMode="auto">
          <a:xfrm flipH="0" flipV="0">
            <a:off x="1065159" y="1530025"/>
            <a:ext cx="10094946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Score métier : Simulation 2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31758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08238884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CD04E47-B00C-9BE2-85E1-E2757CD493C3}" type="slidenum">
              <a:rPr lang="fr-FR"/>
              <a:t/>
            </a:fld>
            <a:endParaRPr/>
          </a:p>
        </p:txBody>
      </p:sp>
      <p:pic>
        <p:nvPicPr>
          <p:cNvPr id="1588462025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59502942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graphicFrame>
        <p:nvGraphicFramePr>
          <p:cNvPr id="1380404785" name=""/>
          <p:cNvGraphicFramePr>
            <a:graphicFrameLocks xmlns:a="http://schemas.openxmlformats.org/drawingml/2006/main"/>
          </p:cNvGraphicFramePr>
          <p:nvPr/>
        </p:nvGraphicFramePr>
        <p:xfrm>
          <a:off x="636624" y="2111374"/>
          <a:ext cx="8899490" cy="426719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1946274"/>
                <a:gridCol w="573724"/>
                <a:gridCol w="1294186"/>
                <a:gridCol w="78363"/>
                <a:gridCol w="1815613"/>
                <a:gridCol w="130661"/>
                <a:gridCol w="1921984"/>
                <a:gridCol w="24290"/>
                <a:gridCol w="1946274"/>
              </a:tblGrid>
              <a:tr h="405095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Étape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3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 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Régression Logistique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LightGBM (avec SMOTE)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LightGBM (sans SMOTE)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>
                          <a:latin typeface="Source Sans Pro"/>
                          <a:ea typeface="Source Sans Pro"/>
                          <a:cs typeface="Source Sans Pro"/>
                        </a:rPr>
                        <a:t>Encodage cols catégorielles</a:t>
                      </a:r>
                      <a:endParaRPr sz="1700">
                        <a:latin typeface="Source Sans Pro"/>
                        <a:ea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ea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Imputation (médiane)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SMOTE (oversampling)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RandomUnderSampler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34454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Standardisation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(StandardScaler)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(pas nécessaire)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❌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</a:t>
                      </a:r>
                      <a:r>
                        <a:rPr sz="1700" b="0" i="1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(pas nécessaire)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  <a:tr h="503300"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 utilisé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DummyClassifier (strat.)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LogisticRegression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8056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08492468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3698219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E43E308-74ED-1F6A-DF74-B838C0922100}" type="slidenum">
              <a:rPr lang="fr-FR"/>
              <a:t/>
            </a:fld>
            <a:endParaRPr/>
          </a:p>
        </p:txBody>
      </p:sp>
      <p:graphicFrame>
        <p:nvGraphicFramePr>
          <p:cNvPr id="34978519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573124" y="2010445"/>
          <a:ext cx="9731374" cy="4627950"/>
        </p:xfrm>
        <a:graphic>
          <a:graphicData uri="http://schemas.openxmlformats.org/presentationml/2006/ole">
            <p:oleObj name="oleObj" r:id="rId4" imgW="11049000" imgH="5248275" progId="asc.{DB38923B-A8C0-4DE9-8AEE-A61BB5C901A5}">
              <p:embed/>
              <p:pic>
                <p:nvPicPr>
                  <p:cNvPr id="349785194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573124" y="2010445"/>
                    <a:ext cx="9731374" cy="462795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466270572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5370737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66532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884354892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2842228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FCDFF31-2852-6FD3-D6E0-C13736E43FEE}" type="slidenum">
              <a:rPr lang="fr-FR"/>
              <a:t/>
            </a:fld>
            <a:endParaRPr/>
          </a:p>
        </p:txBody>
      </p:sp>
      <p:graphicFrame>
        <p:nvGraphicFramePr>
          <p:cNvPr id="2137625864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343821" y="1987566"/>
          <a:ext cx="7369906" cy="4707773"/>
        </p:xfrm>
        <a:graphic>
          <a:graphicData uri="http://schemas.openxmlformats.org/presentationml/2006/ole">
            <p:oleObj name="oleObj" r:id="rId4" imgW="9467850" imgH="6038850" progId="asc.{DB38923B-A8C0-4DE9-8AEE-A61BB5C901A5}">
              <p:embed/>
              <p:pic>
                <p:nvPicPr>
                  <p:cNvPr id="2137625864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2343821" y="1987566"/>
                    <a:ext cx="7369906" cy="470777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594234543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704811571" name=""/>
          <p:cNvSpPr txBox="1"/>
          <p:nvPr/>
        </p:nvSpPr>
        <p:spPr bwMode="auto">
          <a:xfrm flipH="0" flipV="0">
            <a:off x="1065159" y="1530025"/>
            <a:ext cx="10105746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33912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1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898241341" name=""/>
          <p:cNvSpPr txBox="1"/>
          <p:nvPr/>
        </p:nvSpPr>
        <p:spPr bwMode="auto">
          <a:xfrm flipH="0" flipV="0">
            <a:off x="1077599" y="1872927"/>
            <a:ext cx="9902353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33264529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9ECB5D99-9134-2263-BFB0-218A877FB16A}" type="slidenum">
              <a:rPr lang="fr-FR"/>
              <a:t/>
            </a:fld>
            <a:endParaRPr/>
          </a:p>
        </p:txBody>
      </p:sp>
      <p:graphicFrame>
        <p:nvGraphicFramePr>
          <p:cNvPr id="376971437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928586" y="2010442"/>
          <a:ext cx="10658878" cy="4544048"/>
        </p:xfrm>
        <a:graphic>
          <a:graphicData uri="http://schemas.openxmlformats.org/presentationml/2006/ole">
            <p:oleObj name="oleObj" r:id="rId4" imgW="13677900" imgH="5829300" progId="asc.{DB38923B-A8C0-4DE9-8AEE-A61BB5C901A5}">
              <p:embed/>
              <p:pic>
                <p:nvPicPr>
                  <p:cNvPr id="376971437" name=""/>
                  <p:cNvPicPr/>
                  <p:nvPr/>
                </p:nvPicPr>
                <p:blipFill>
                  <a:blip r:embed="rId3"/>
                  <a:stretch/>
                </p:blipFill>
                <p:spPr bwMode="auto">
                  <a:xfrm flipH="0" flipV="0">
                    <a:off x="928586" y="2010442"/>
                    <a:ext cx="10658878" cy="4544048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pic>
        <p:nvPicPr>
          <p:cNvPr id="1952843969" name=""/>
          <p:cNvPicPr>
            <a:picLocks noChangeAspect="1"/>
          </p:cNvPicPr>
          <p:nvPr/>
        </p:nvPicPr>
        <p:blipFill>
          <a:blip r:embed="rId5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8605972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34056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61588755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6307558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3BB3A7EE-BDCF-2E73-4174-A11C7ECF030C}" type="slidenum">
              <a:rPr lang="fr-FR"/>
              <a:t/>
            </a:fld>
            <a:endParaRPr/>
          </a:p>
        </p:txBody>
      </p:sp>
      <p:pic>
        <p:nvPicPr>
          <p:cNvPr id="1006626973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75617203" name=""/>
          <p:cNvSpPr txBox="1"/>
          <p:nvPr/>
        </p:nvSpPr>
        <p:spPr bwMode="auto">
          <a:xfrm flipH="0" flipV="0">
            <a:off x="1065159" y="1530025"/>
            <a:ext cx="1010610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des hyperparamètres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20328443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42412" y="1919816"/>
            <a:ext cx="8732809" cy="47755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93957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208450036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38948352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EEEAFB9-EAED-8807-4AE2-C6FC33FAC4BC}" type="slidenum">
              <a:rPr lang="fr-FR"/>
              <a:t/>
            </a:fld>
            <a:endParaRPr/>
          </a:p>
        </p:txBody>
      </p:sp>
      <p:pic>
        <p:nvPicPr>
          <p:cNvPr id="158834118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96603441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6572760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3835" y="2010445"/>
            <a:ext cx="5989275" cy="446709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424661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443777905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201411044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7E0331DA-2D97-13EA-D74D-012BD82F917F}" type="slidenum">
              <a:rPr lang="fr-FR"/>
              <a:t/>
            </a:fld>
            <a:endParaRPr/>
          </a:p>
        </p:txBody>
      </p:sp>
      <p:pic>
        <p:nvPicPr>
          <p:cNvPr id="1847299593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766526794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41349732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89605" y="2010445"/>
            <a:ext cx="8678340" cy="426861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736593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81269090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80158566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341FE40-511A-6DBB-50E5-8656DDE68504}" type="slidenum">
              <a:rPr lang="fr-FR"/>
              <a:t/>
            </a:fld>
            <a:endParaRPr/>
          </a:p>
        </p:txBody>
      </p:sp>
      <p:pic>
        <p:nvPicPr>
          <p:cNvPr id="176702106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42817651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6267105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065159" y="1960735"/>
            <a:ext cx="9315885" cy="458220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35421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37962863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5578130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FE4D4AF-0546-7298-C8D8-F482FE78F9CA}" type="slidenum">
              <a:rPr lang="fr-FR"/>
              <a:t/>
            </a:fld>
            <a:endParaRPr/>
          </a:p>
        </p:txBody>
      </p:sp>
      <p:pic>
        <p:nvPicPr>
          <p:cNvPr id="55694336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72983522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pic>
        <p:nvPicPr>
          <p:cNvPr id="14168412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65159" y="1872927"/>
            <a:ext cx="9372600" cy="4610099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09405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363474121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0258717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3AE9924-90AD-10D9-532B-615421EC3C81}" type="slidenum">
              <a:rPr lang="fr-FR"/>
              <a:t/>
            </a:fld>
            <a:endParaRPr/>
          </a:p>
        </p:txBody>
      </p:sp>
      <p:pic>
        <p:nvPicPr>
          <p:cNvPr id="172965555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933701035" name=""/>
          <p:cNvSpPr txBox="1"/>
          <p:nvPr/>
        </p:nvSpPr>
        <p:spPr bwMode="auto">
          <a:xfrm flipH="0" flipV="0">
            <a:off x="1065159" y="1530025"/>
            <a:ext cx="101266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Synthèse des résultats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21293544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1452549775" name=""/>
          <p:cNvGraphicFramePr>
            <a:graphicFrameLocks xmlns:a="http://schemas.openxmlformats.org/drawingml/2006/main"/>
          </p:cNvGraphicFramePr>
          <p:nvPr/>
        </p:nvGraphicFramePr>
        <p:xfrm>
          <a:off x="630438" y="2203084"/>
          <a:ext cx="11065145" cy="3613925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{91EBBBCC-DAD2-459C-BE2E-F6DE35CF9A28}</a:tableStyleId>
              </a:tblPr>
              <a:tblGrid>
                <a:gridCol w="2089188"/>
                <a:gridCol w="1119734"/>
                <a:gridCol w="1325394"/>
                <a:gridCol w="1110715"/>
                <a:gridCol w="903671"/>
                <a:gridCol w="669378"/>
                <a:gridCol w="3847062"/>
              </a:tblGrid>
              <a:tr h="396240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Business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Train vs Test Gap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ROCAUC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Fit Time (s)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Test F1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Analyse synthétique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/>
                </a:tc>
              </a:tr>
              <a:tr h="49177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 sans SMOTE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0.689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0.749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83.26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0.270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700" b="0" i="0" u="none" strike="noStrike" cap="none" spc="0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</a:t>
                      </a: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 Meilleur score métier, meilleure ROC AUC, bon compromis général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3175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LogisticRegression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0.645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Faible-moyen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0.742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🔴 349.86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1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0.284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Bon F1, mais temps d'entraînement très élevé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1759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LGBMClassifier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0.638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Moyen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0.713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✅ 47.23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0.254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Score global plus faible, discrimination correcte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DummyClassifier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0.502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Faible (modèle naïf)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0.499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🟢 5.36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0.129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700" b="0" i="0" u="none">
                          <a:solidFill>
                            <a:srgbClr val="000000"/>
                          </a:solidFill>
                          <a:latin typeface="Source Sans Pro"/>
                          <a:ea typeface="Source Sans Pro"/>
                          <a:cs typeface="Source Sans Pro"/>
                        </a:rPr>
                        <a:t>Modèle de base, performances très limitées</a:t>
                      </a:r>
                      <a:endParaRPr sz="1700">
                        <a:latin typeface="Source Sans Pro"/>
                        <a:cs typeface="Source Sans Pro"/>
                      </a:endParaRPr>
                    </a:p>
                  </a:txBody>
                  <a:tcPr anchor="ctr">
                    <a:lnT w="12699" algn="ctr">
                      <a:solidFill>
                        <a:srgbClr val="000000"/>
                      </a:solidFill>
                    </a:lnT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35037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4 </a:t>
            </a: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Modèles</a:t>
            </a:r>
            <a:endParaRPr lang="fr-FR" sz="3600"/>
          </a:p>
        </p:txBody>
      </p:sp>
      <p:sp>
        <p:nvSpPr>
          <p:cNvPr id="1779569217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845189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F3C4A0BC-D2FE-17DB-F24B-7E5945F2B3FB}" type="slidenum">
              <a:rPr lang="fr-FR"/>
              <a:t/>
            </a:fld>
            <a:endParaRPr/>
          </a:p>
        </p:txBody>
      </p:sp>
      <p:pic>
        <p:nvPicPr>
          <p:cNvPr id="173752991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16708931" name=""/>
          <p:cNvSpPr txBox="1"/>
          <p:nvPr/>
        </p:nvSpPr>
        <p:spPr bwMode="auto">
          <a:xfrm flipH="0" flipV="0">
            <a:off x="1065159" y="1530025"/>
            <a:ext cx="1014138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Optimisation du seuil de classification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42295224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60979616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389093" y="1872927"/>
            <a:ext cx="7279362" cy="473371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641267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3"/>
            <a:ext cx="9626223" cy="285273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/>
          <a:p>
            <a:pPr marL="0" lvl="0" indent="0">
              <a:buNone/>
              <a:defRPr/>
            </a:pPr>
            <a:r>
              <a:rPr/>
              <a:t>5 </a:t>
            </a:r>
            <a:r>
              <a:rPr lang="fr-FR" sz="60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Features importances</a:t>
            </a:r>
            <a:endParaRPr/>
          </a:p>
        </p:txBody>
      </p:sp>
      <p:sp>
        <p:nvSpPr>
          <p:cNvPr id="32828829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CF725F2-6DE5-80D2-AAE8-82DF204C7E45}" type="slidenum">
              <a:rPr lang="fr-FR"/>
              <a:t/>
            </a:fld>
            <a:endParaRPr/>
          </a:p>
        </p:txBody>
      </p:sp>
      <p:pic>
        <p:nvPicPr>
          <p:cNvPr id="153835628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0340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186176915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3478816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6AC804A9-D952-1148-9AE3-08E02D777DD8}" type="slidenum">
              <a:rPr lang="fr-FR"/>
              <a:t/>
            </a:fld>
            <a:endParaRPr/>
          </a:p>
        </p:txBody>
      </p:sp>
      <p:pic>
        <p:nvPicPr>
          <p:cNvPr id="152439754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69001153" name=""/>
          <p:cNvSpPr txBox="1"/>
          <p:nvPr/>
        </p:nvSpPr>
        <p:spPr bwMode="auto">
          <a:xfrm flipH="0" flipV="0">
            <a:off x="1065159" y="1530025"/>
            <a:ext cx="1014858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globales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525520077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210337725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72" y="1872927"/>
            <a:ext cx="7083855" cy="501071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4384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1537401495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424048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1672D4E-A39E-32A1-C11A-90568FEAD25D}" type="slidenum">
              <a:rPr lang="fr-FR"/>
              <a:t/>
            </a:fld>
            <a:endParaRPr/>
          </a:p>
        </p:txBody>
      </p:sp>
      <p:pic>
        <p:nvPicPr>
          <p:cNvPr id="191115731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29215865" name=""/>
          <p:cNvSpPr txBox="1"/>
          <p:nvPr/>
        </p:nvSpPr>
        <p:spPr bwMode="auto">
          <a:xfrm flipH="0" flipV="0">
            <a:off x="1065159" y="1530025"/>
            <a:ext cx="10159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refusé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721762853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7884881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042879" y="2010445"/>
            <a:ext cx="6361839" cy="468489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57806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5 </a:t>
            </a:r>
            <a:r>
              <a:rPr lang="fr-FR" sz="3600"/>
              <a:t>Features importances</a:t>
            </a:r>
            <a:endParaRPr lang="fr-FR" sz="3600"/>
          </a:p>
        </p:txBody>
      </p:sp>
      <p:sp>
        <p:nvSpPr>
          <p:cNvPr id="701457202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3825206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601C19C-C516-0228-D409-F93F1FBBF249}" type="slidenum">
              <a:rPr lang="fr-FR"/>
              <a:t/>
            </a:fld>
            <a:endParaRPr/>
          </a:p>
        </p:txBody>
      </p:sp>
      <p:pic>
        <p:nvPicPr>
          <p:cNvPr id="94079957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236302" name=""/>
          <p:cNvSpPr txBox="1"/>
          <p:nvPr/>
        </p:nvSpPr>
        <p:spPr bwMode="auto">
          <a:xfrm flipH="0" flipV="0">
            <a:off x="1065159" y="1530024"/>
            <a:ext cx="10165864" cy="4804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accepté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665574020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143994867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483384" y="1918916"/>
            <a:ext cx="6970349" cy="47764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920875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6 </a:t>
            </a:r>
            <a:r>
              <a:rPr/>
              <a:t>Déploiement</a:t>
            </a:r>
            <a:br>
              <a:rPr/>
            </a:br>
            <a:endParaRPr/>
          </a:p>
        </p:txBody>
      </p:sp>
      <p:sp>
        <p:nvSpPr>
          <p:cNvPr id="31128864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B48C0874-4F27-983E-A328-BE0D5D7F3924}" type="slidenum">
              <a:rPr lang="fr-FR"/>
              <a:t/>
            </a:fld>
            <a:endParaRPr/>
          </a:p>
        </p:txBody>
      </p:sp>
      <p:pic>
        <p:nvPicPr>
          <p:cNvPr id="187978753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97447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197139767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86219651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A0229B3-54F5-8F9F-ED0E-67CE0E75DE60}" type="slidenum">
              <a:rPr lang="fr-FR"/>
              <a:t/>
            </a:fld>
            <a:endParaRPr/>
          </a:p>
        </p:txBody>
      </p:sp>
      <p:pic>
        <p:nvPicPr>
          <p:cNvPr id="392995162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650417429" name=""/>
          <p:cNvSpPr txBox="1"/>
          <p:nvPr/>
        </p:nvSpPr>
        <p:spPr bwMode="auto">
          <a:xfrm flipH="0" flipV="0">
            <a:off x="1065159" y="1530025"/>
            <a:ext cx="10159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Importances locales</a:t>
            </a:r>
            <a:r>
              <a:rPr sz="1700" b="1">
                <a:latin typeface="Source Sans Pro"/>
                <a:ea typeface="Source Sans Pro"/>
                <a:cs typeface="Source Sans Pro"/>
              </a:rPr>
              <a:t> client refusé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375925316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2098087521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228547" y="2137499"/>
          <a:ext cx="7832250" cy="4127173"/>
        </p:xfrm>
        <a:graphic>
          <a:graphicData uri="http://schemas.openxmlformats.org/presentationml/2006/ole">
            <p:oleObj name="oleObj" r:id="rId5" imgW="6010275" imgH="3162300" progId="asc.{DB38923B-A8C0-4DE9-8AEE-A61BB5C901A5}">
              <p:embed/>
              <p:pic>
                <p:nvPicPr>
                  <p:cNvPr id="2098087521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228547" y="2137499"/>
                    <a:ext cx="7832250" cy="4127173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4763649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1280999281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08016275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2AF4715-C659-8E81-737B-B1B082ADB169}" type="slidenum">
              <a:rPr lang="fr-FR"/>
              <a:t/>
            </a:fld>
            <a:endParaRPr/>
          </a:p>
        </p:txBody>
      </p:sp>
      <p:pic>
        <p:nvPicPr>
          <p:cNvPr id="1772937887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8712141" name=""/>
          <p:cNvSpPr txBox="1"/>
          <p:nvPr/>
        </p:nvSpPr>
        <p:spPr bwMode="auto">
          <a:xfrm flipH="0" flipV="0">
            <a:off x="1065159" y="1530025"/>
            <a:ext cx="10168025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Pipeline de déploiement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27087904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1436393118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095560" y="1969499"/>
          <a:ext cx="7866426" cy="4725837"/>
        </p:xfrm>
        <a:graphic>
          <a:graphicData uri="http://schemas.openxmlformats.org/presentationml/2006/ole">
            <p:oleObj name="oleObj" r:id="rId5" imgW="9467850" imgH="5686425" progId="asc.{DB38923B-A8C0-4DE9-8AEE-A61BB5C901A5}">
              <p:embed/>
              <p:pic>
                <p:nvPicPr>
                  <p:cNvPr id="1436393118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095560" y="1969499"/>
                    <a:ext cx="7866426" cy="472583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23021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599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249465740" name=""/>
          <p:cNvSpPr txBox="1"/>
          <p:nvPr/>
        </p:nvSpPr>
        <p:spPr bwMode="auto">
          <a:xfrm flipH="0" flipV="0">
            <a:off x="1077597" y="1872927"/>
            <a:ext cx="9902351" cy="480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10376767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DF5D690F-CCF7-A156-8D96-2795374844D5}" type="slidenum">
              <a:rPr lang="fr-FR"/>
              <a:t/>
            </a:fld>
            <a:endParaRPr/>
          </a:p>
        </p:txBody>
      </p:sp>
      <p:pic>
        <p:nvPicPr>
          <p:cNvPr id="203181934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482123437" name=""/>
          <p:cNvSpPr txBox="1"/>
          <p:nvPr/>
        </p:nvSpPr>
        <p:spPr bwMode="auto">
          <a:xfrm flipH="0" flipV="0">
            <a:off x="1065159" y="1530024"/>
            <a:ext cx="10168024" cy="48041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Pipeline de déploiement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185088485" name=""/>
          <p:cNvSpPr/>
          <p:nvPr/>
        </p:nvSpPr>
        <p:spPr bwMode="auto">
          <a:xfrm>
            <a:off x="5968558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graphicFrame>
        <p:nvGraphicFramePr>
          <p:cNvPr id="24373112" name=""/>
          <p:cNvGraphicFramePr>
            <a:graphicFrameLocks xmlns:a="http://schemas.openxmlformats.org/drawingml/2006/main" noChangeAspect="1"/>
          </p:cNvGraphicFramePr>
          <p:nvPr/>
        </p:nvGraphicFramePr>
        <p:xfrm flipH="0" flipV="0">
          <a:off x="2535894" y="1872927"/>
          <a:ext cx="10332000" cy="6768000"/>
        </p:xfrm>
        <a:graphic>
          <a:graphicData uri="http://schemas.openxmlformats.org/presentationml/2006/ole">
            <p:oleObj name="oleObj" r:id="rId5" imgW="10325100" imgH="6762750" progId="asc.{DB38923B-A8C0-4DE9-8AEE-A61BB5C901A5}">
              <p:embed/>
              <p:pic>
                <p:nvPicPr>
                  <p:cNvPr id="24373112" name=""/>
                  <p:cNvPicPr/>
                  <p:nvPr/>
                </p:nvPicPr>
                <p:blipFill>
                  <a:blip r:embed="rId4"/>
                  <a:stretch/>
                </p:blipFill>
                <p:spPr bwMode="auto">
                  <a:xfrm flipH="0" flipV="0">
                    <a:off x="2535894" y="1872927"/>
                    <a:ext cx="10332000" cy="67680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9028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599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6 </a:t>
            </a:r>
            <a:r>
              <a:rPr lang="fr-FR" sz="3600"/>
              <a:t>Déploiement</a:t>
            </a:r>
            <a:endParaRPr lang="fr-FR" sz="3600"/>
          </a:p>
        </p:txBody>
      </p:sp>
      <p:sp>
        <p:nvSpPr>
          <p:cNvPr id="1432975749" name=""/>
          <p:cNvSpPr txBox="1"/>
          <p:nvPr/>
        </p:nvSpPr>
        <p:spPr bwMode="auto">
          <a:xfrm flipH="0" flipV="0">
            <a:off x="1077597" y="1872927"/>
            <a:ext cx="9902351" cy="480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89706964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C826C970-7915-E004-A18A-0DDACF246F80}" type="slidenum">
              <a:rPr lang="fr-FR"/>
              <a:t/>
            </a:fld>
            <a:endParaRPr/>
          </a:p>
        </p:txBody>
      </p:sp>
      <p:pic>
        <p:nvPicPr>
          <p:cNvPr id="77507555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819251852" name=""/>
          <p:cNvSpPr txBox="1"/>
          <p:nvPr/>
        </p:nvSpPr>
        <p:spPr bwMode="auto">
          <a:xfrm flipH="0" flipV="0">
            <a:off x="1065159" y="1530024"/>
            <a:ext cx="1017018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Démo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497078134" name=""/>
          <p:cNvSpPr/>
          <p:nvPr/>
        </p:nvSpPr>
        <p:spPr bwMode="auto">
          <a:xfrm>
            <a:off x="5968558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sp>
        <p:nvSpPr>
          <p:cNvPr id="1925800025" name=""/>
          <p:cNvSpPr txBox="1"/>
          <p:nvPr/>
        </p:nvSpPr>
        <p:spPr bwMode="auto">
          <a:xfrm rot="0" flipH="0" flipV="0">
            <a:off x="1077599" y="2035312"/>
            <a:ext cx="745063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u="sng">
                <a:solidFill>
                  <a:schemeClr val="hlink"/>
                </a:solidFill>
                <a:latin typeface="Source Sans Pro"/>
                <a:ea typeface="Source Sans Pro"/>
                <a:cs typeface="Source Sans Pro"/>
                <a:hlinkClick r:id="rId4" tooltip=""/>
              </a:rPr>
              <a:t>https://laguill-implementer-model-scoring.hf.space/pages/dashboard/</a:t>
            </a:r>
            <a:endParaRPr>
              <a:latin typeface="Source Sans Pro"/>
              <a:cs typeface="Source Sans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908956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7 </a:t>
            </a:r>
            <a:r>
              <a:rPr/>
              <a:t>Data Drift</a:t>
            </a:r>
            <a:br>
              <a:rPr/>
            </a:br>
            <a:endParaRPr/>
          </a:p>
        </p:txBody>
      </p:sp>
      <p:sp>
        <p:nvSpPr>
          <p:cNvPr id="49955741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356FF7D-1D70-9D69-7D6A-54D78DADFF71}" type="slidenum">
              <a:rPr lang="fr-FR"/>
              <a:t/>
            </a:fld>
            <a:endParaRPr/>
          </a:p>
        </p:txBody>
      </p:sp>
      <p:pic>
        <p:nvPicPr>
          <p:cNvPr id="1053874888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95164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600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7 </a:t>
            </a:r>
            <a:r>
              <a:rPr lang="fr-FR" sz="3600"/>
              <a:t>Data Drift</a:t>
            </a:r>
            <a:endParaRPr lang="fr-FR" sz="3600"/>
          </a:p>
        </p:txBody>
      </p:sp>
      <p:sp>
        <p:nvSpPr>
          <p:cNvPr id="1696932364" name=""/>
          <p:cNvSpPr txBox="1"/>
          <p:nvPr/>
        </p:nvSpPr>
        <p:spPr bwMode="auto">
          <a:xfrm flipH="0" flipV="0">
            <a:off x="1077598" y="1872927"/>
            <a:ext cx="9902352" cy="48041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3026837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2" y="980372"/>
            <a:ext cx="2743200" cy="3651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E88F09EA-2A44-076F-34B6-065C7DA4ABE3}" type="slidenum">
              <a:rPr lang="fr-FR"/>
              <a:t/>
            </a:fld>
            <a:endParaRPr/>
          </a:p>
        </p:txBody>
      </p:sp>
      <p:pic>
        <p:nvPicPr>
          <p:cNvPr id="1044869956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072161374" name=""/>
          <p:cNvSpPr txBox="1"/>
          <p:nvPr/>
        </p:nvSpPr>
        <p:spPr bwMode="auto">
          <a:xfrm flipH="0" flipV="0">
            <a:off x="1065159" y="1530024"/>
            <a:ext cx="1018890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Maintenance du modèle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21683408" name=""/>
          <p:cNvSpPr/>
          <p:nvPr/>
        </p:nvSpPr>
        <p:spPr bwMode="auto">
          <a:xfrm>
            <a:off x="5968559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16941440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463455" y="1898741"/>
            <a:ext cx="8982069" cy="45973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99707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77599" y="365121"/>
            <a:ext cx="10036791" cy="1325556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fr-FR" sz="3600" b="0" i="0" u="none" strike="noStrike" cap="none" spc="0">
                <a:solidFill>
                  <a:srgbClr val="404040"/>
                </a:solidFill>
                <a:latin typeface="Orkney Medium"/>
                <a:ea typeface="Orkney Medium"/>
                <a:cs typeface="Orkney Medium"/>
              </a:rPr>
              <a:t>7 </a:t>
            </a:r>
            <a:r>
              <a:rPr lang="fr-FR" sz="3600"/>
              <a:t>Data Drift</a:t>
            </a:r>
            <a:endParaRPr lang="fr-FR" sz="3600"/>
          </a:p>
        </p:txBody>
      </p:sp>
      <p:sp>
        <p:nvSpPr>
          <p:cNvPr id="2133958288" name=""/>
          <p:cNvSpPr txBox="1"/>
          <p:nvPr/>
        </p:nvSpPr>
        <p:spPr bwMode="auto">
          <a:xfrm flipH="0" flipV="0">
            <a:off x="1077597" y="1872927"/>
            <a:ext cx="9902351" cy="48041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lvl="1" algn="l">
              <a:lnSpc>
                <a:spcPct val="150000"/>
              </a:lnSpc>
              <a:defRPr/>
            </a:pPr>
            <a:endParaRPr lang="fr-FR"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56444650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1" y="980371"/>
            <a:ext cx="2743200" cy="365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84414E6F-ACCA-7976-1E63-3AA6CB5A8129}" type="slidenum">
              <a:rPr lang="fr-FR"/>
              <a:t/>
            </a:fld>
            <a:endParaRPr/>
          </a:p>
        </p:txBody>
      </p:sp>
      <p:pic>
        <p:nvPicPr>
          <p:cNvPr id="1726548293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5" y="5612292"/>
            <a:ext cx="1485252" cy="108304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3878417" name=""/>
          <p:cNvSpPr txBox="1"/>
          <p:nvPr/>
        </p:nvSpPr>
        <p:spPr bwMode="auto">
          <a:xfrm flipH="0" flipV="0">
            <a:off x="1065159" y="1530024"/>
            <a:ext cx="10188904" cy="4804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8" indent="-283878" algn="l">
              <a:lnSpc>
                <a:spcPct val="150000"/>
              </a:lnSpc>
              <a:buFont typeface="Arial"/>
              <a:buChar char="•"/>
              <a:defRPr/>
            </a:pPr>
            <a:r>
              <a:rPr lang="fr-FR" sz="1700" b="1" i="0" u="none" strike="noStrike" cap="none" spc="0">
                <a:solidFill>
                  <a:schemeClr val="tx1"/>
                </a:solidFill>
                <a:latin typeface="Source Sans Pro"/>
                <a:ea typeface="Source Sans Pro"/>
                <a:cs typeface="Source Sans Pro"/>
              </a:rPr>
              <a:t>Maintenance du modèle</a:t>
            </a:r>
            <a:endParaRPr sz="1700" b="1"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970271988" name=""/>
          <p:cNvSpPr/>
          <p:nvPr/>
        </p:nvSpPr>
        <p:spPr bwMode="auto">
          <a:xfrm>
            <a:off x="5968558" y="3154680"/>
            <a:ext cx="255240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br>
              <a:rPr/>
            </a:br>
            <a:endParaRPr/>
          </a:p>
        </p:txBody>
      </p:sp>
      <p:pic>
        <p:nvPicPr>
          <p:cNvPr id="189265392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181909" y="2421608"/>
            <a:ext cx="9281095" cy="36324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66230" name="Title 1"/>
          <p:cNvSpPr>
            <a:spLocks noGrp="1"/>
          </p:cNvSpPr>
          <p:nvPr>
            <p:ph type="title"/>
          </p:nvPr>
        </p:nvSpPr>
        <p:spPr bwMode="auto">
          <a:xfrm>
            <a:off x="1282887" y="1709732"/>
            <a:ext cx="9626222" cy="285273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/>
              <a:t>8 </a:t>
            </a:r>
            <a:r>
              <a:rPr lang="fr-FR"/>
              <a:t>Conclusion</a:t>
            </a:r>
            <a:br>
              <a:rPr/>
            </a:br>
            <a:endParaRPr/>
          </a:p>
        </p:txBody>
      </p:sp>
      <p:sp>
        <p:nvSpPr>
          <p:cNvPr id="980419484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3" y="980373"/>
            <a:ext cx="2743200" cy="3651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2B403465-545A-5CD0-2CCC-34A7C5425B23}" type="slidenum">
              <a:rPr lang="fr-FR"/>
              <a:t/>
            </a:fld>
            <a:endParaRPr/>
          </a:p>
        </p:txBody>
      </p:sp>
      <p:pic>
        <p:nvPicPr>
          <p:cNvPr id="1645419139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6" y="5612292"/>
            <a:ext cx="1485252" cy="10830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297501" name="Title 1"/>
          <p:cNvSpPr>
            <a:spLocks noGrp="1"/>
          </p:cNvSpPr>
          <p:nvPr>
            <p:ph type="title"/>
          </p:nvPr>
        </p:nvSpPr>
        <p:spPr bwMode="auto">
          <a:xfrm>
            <a:off x="1261782" y="365123"/>
            <a:ext cx="9668435" cy="1325562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sz="3600"/>
              <a:t>8 Conclusion</a:t>
            </a:r>
            <a:endParaRPr sz="3600"/>
          </a:p>
        </p:txBody>
      </p:sp>
      <p:sp>
        <p:nvSpPr>
          <p:cNvPr id="293717966" name="Content Placeholder 2"/>
          <p:cNvSpPr>
            <a:spLocks noGrp="1"/>
          </p:cNvSpPr>
          <p:nvPr>
            <p:ph idx="1"/>
          </p:nvPr>
        </p:nvSpPr>
        <p:spPr bwMode="auto">
          <a:xfrm>
            <a:off x="1261782" y="1825623"/>
            <a:ext cx="9668433" cy="435133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Définir et mettre en œuvre un pipeline d’entraînement des modèles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Définir la stratégie d’élaboration d’un modèle d’apprentissage supervisé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Évaluer les performances des modèles d’apprentissage supervisé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Mettre en œuvre un logiciel de version de code</a:t>
            </a: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 avec git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Suivre la performance d’un modèle en production et en assurer la maintenance</a:t>
            </a:r>
            <a:endParaRPr lang="fr-FR" sz="1800" b="0" i="0" u="none" strike="noStrike" cap="none" spc="0">
              <a:solidFill>
                <a:srgbClr val="404040"/>
              </a:solidFill>
              <a:latin typeface="Source Sans Pro"/>
              <a:cs typeface="Source Sans Pro"/>
            </a:endParaRPr>
          </a:p>
          <a:p>
            <a:pPr>
              <a:lnSpc>
                <a:spcPct val="150000"/>
              </a:lnSpc>
              <a:defRPr/>
            </a:pPr>
            <a:r>
              <a:rPr lang="fr-FR" sz="1800" b="0" i="0" u="none" strike="noStrike" cap="none" spc="0">
                <a:solidFill>
                  <a:srgbClr val="404040"/>
                </a:solidFill>
                <a:latin typeface="Source Sans Pro"/>
                <a:ea typeface="Source Sans Pro"/>
                <a:cs typeface="Source Sans Pro"/>
              </a:rPr>
              <a:t>Concevoir un déploiement continu d'un moteur d’inférence sur une plateforme Cloud</a:t>
            </a:r>
            <a:endParaRPr lang="fr-FR"/>
          </a:p>
        </p:txBody>
      </p:sp>
      <p:sp>
        <p:nvSpPr>
          <p:cNvPr id="182264292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9351934" y="980374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bg1"/>
                </a:solidFill>
              </a:defRPr>
            </a:lvl1pPr>
            <a:lvl2pPr>
              <a:defRPr sz="2200" b="1">
                <a:solidFill>
                  <a:schemeClr val="bg1"/>
                </a:solidFill>
              </a:defRPr>
            </a:lvl2pPr>
            <a:lvl3pPr>
              <a:defRPr sz="2200" b="1">
                <a:solidFill>
                  <a:schemeClr val="bg1"/>
                </a:solidFill>
              </a:defRPr>
            </a:lvl3pPr>
            <a:lvl4pPr>
              <a:defRPr sz="2200" b="1">
                <a:solidFill>
                  <a:schemeClr val="bg1"/>
                </a:solidFill>
              </a:defRPr>
            </a:lvl4pPr>
            <a:lvl5pPr>
              <a:defRPr sz="2200" b="1">
                <a:solidFill>
                  <a:schemeClr val="bg1"/>
                </a:solidFill>
              </a:defRPr>
            </a:lvl5pPr>
            <a:lvl6pPr>
              <a:defRPr sz="2200" b="1">
                <a:solidFill>
                  <a:schemeClr val="bg1"/>
                </a:solidFill>
              </a:defRPr>
            </a:lvl6pPr>
            <a:lvl7pPr>
              <a:defRPr sz="2200" b="1">
                <a:solidFill>
                  <a:schemeClr val="bg1"/>
                </a:solidFill>
              </a:defRPr>
            </a:lvl7pPr>
            <a:lvl8pPr>
              <a:defRPr sz="2200" b="1">
                <a:solidFill>
                  <a:schemeClr val="bg1"/>
                </a:solidFill>
              </a:defRPr>
            </a:lvl8pPr>
            <a:lvl9pPr>
              <a:defRPr sz="2200"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fld id="{55158736-CA3C-0088-AC11-BF6F32ED8E46}" type="slidenum">
              <a:rPr lang="fr-FR"/>
              <a:t/>
            </a:fld>
            <a:endParaRPr/>
          </a:p>
        </p:txBody>
      </p:sp>
      <p:pic>
        <p:nvPicPr>
          <p:cNvPr id="248431231" name=""/>
          <p:cNvPicPr>
            <a:picLocks noChangeAspect="1"/>
          </p:cNvPicPr>
          <p:nvPr/>
        </p:nvPicPr>
        <p:blipFill>
          <a:blip r:embed="rId3"/>
          <a:srcRect l="45669" t="0" r="0" b="0"/>
          <a:stretch/>
        </p:blipFill>
        <p:spPr bwMode="auto">
          <a:xfrm flipH="0" flipV="0">
            <a:off x="10543727" y="5612293"/>
            <a:ext cx="1485252" cy="10830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40 1">
      <a:dk1>
        <a:srgbClr val="000000"/>
      </a:dk1>
      <a:lt1>
        <a:srgbClr val="404040"/>
      </a:lt1>
      <a:dk2>
        <a:srgbClr val="44546A"/>
      </a:dk2>
      <a:lt2>
        <a:srgbClr val="404040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09090"/>
      </a:hlink>
      <a:folHlink>
        <a:srgbClr val="656565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47</Slides>
  <Notes>47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Guillaume Lafon</dc:creator>
  <cp:lastModifiedBy/>
  <cp:revision>47</cp:revision>
  <dcterms:created xsi:type="dcterms:W3CDTF">2018-07-30T23:03:22Z</dcterms:created>
  <dcterms:modified xsi:type="dcterms:W3CDTF">2025-10-04T08:51:48Z</dcterms:modified>
</cp:coreProperties>
</file>