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7569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91424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19734004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970184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476945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15408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997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2096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909040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587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113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1391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A01D2-5ECB-7539-D460-03EF5ADBC1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71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3423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41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D49C-A572-668E-4C69-F44C60C72A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434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9852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635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A0A60-C46F-9E13-8572-E908049B11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990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2342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641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0ECEA-A2F1-9B08-C4EE-659D2711B2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677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406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Description des emprunteurs et des demandes de prêt :</a:t>
            </a:r>
            <a:endParaRPr sz="1600">
              <a:latin typeface="Source Sans Pro"/>
              <a:cs typeface="Source Sans Pro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1100" b="1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Données démographiques</a:t>
            </a: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 : Âge, sexe, situation familiale, etc.</a:t>
            </a:r>
            <a:endParaRPr sz="1600">
              <a:latin typeface="Source Sans Pro"/>
              <a:cs typeface="Source Sans Pro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1100" b="1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Données financières</a:t>
            </a: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 : Revenu, voiture de fonction, locataire, etc.</a:t>
            </a:r>
            <a:endParaRPr sz="1600">
              <a:latin typeface="Source Sans Pro"/>
              <a:cs typeface="Source Sans Pro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1100" b="1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Informations liées à la demande</a:t>
            </a:r>
            <a:r>
              <a:rPr sz="1100" b="0" i="0" u="none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 : Documents fournis, première demande de prêt, etc.</a:t>
            </a:r>
            <a:endParaRPr sz="1600">
              <a:latin typeface="Source Sans Pro"/>
              <a:cs typeface="Source Sans Pro"/>
            </a:endParaRPr>
          </a:p>
          <a:p>
            <a:pPr>
              <a:defRPr/>
            </a:pPr>
            <a:endParaRPr sz="800"/>
          </a:p>
        </p:txBody>
      </p:sp>
      <p:sp>
        <p:nvSpPr>
          <p:cNvPr id="613893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8E0991-7DD3-26F0-3306-3577FABA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393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46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08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D8F18-2DE6-9565-B7CD-881AFBA27E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48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4764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9164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E0617-7557-6A31-7571-51AED8D299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290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8764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36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9EF073-8290-C1F7-E232-AE226F85B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481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537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73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05813C-F807-FACE-64B2-5868FAC96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262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128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428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DA7FE-16A8-799B-A01B-9DF00E9045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279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278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41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FB30FA-B6CC-9DAA-74AA-6AFD76179A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887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596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513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8BB88B-780C-18A7-E14D-02B2F029A4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683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909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38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14008-11F5-7F11-63E4-AF69A0C55E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450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5506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360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512B68-FA90-CEA5-AF7D-CCDFF8CB4D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74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459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474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A291F8-39C8-E47F-FEB4-D33A8ADD32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400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604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7631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A1C6-9050-9457-33C6-AF2C3674E2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431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2052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492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F4C63-B7EE-C4E1-0D68-3CDEDF8B47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069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8386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03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6E3986-6DF1-12DF-ADDD-E8BFA8E4EF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945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4493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00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FBBB01-7E4C-7355-094B-10B9579BA4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721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354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355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E2E6D0-8CBC-C039-4057-68DBCA719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673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454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1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2CF20C-FB87-D9D1-76CB-B37E7F57C9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799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100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223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F2AF3-555E-BC7C-C06B-686981419C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6818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02140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8429646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1F99BE7-0409-93F8-0309-044EF2021A17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33383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942479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035983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ADD994A6-F5A7-682C-C17A-F6B833735B4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872001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95303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6634932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15D0009-1646-FD38-7AD6-6666D101796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14395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133093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4744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1963746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C62F0AC-2641-79B7-04F7-E1AC3EF851C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43388" name="Picture 4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4890581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217228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0103521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5" y="980375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7AB8A59-D064-84AA-BAFA-3F67DA652490}" type="slidenum">
              <a:rPr lang="fr-FR"/>
              <a:t/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1.xml"/><Relationship Id="rId8" Type="http://schemas.openxmlformats.org/officeDocument/2006/relationships/slide" Target="slide19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oleObject" Target="../embeddings/oleObject1.bin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laguill-implementer-model-scoring.hf.space/pages/dashboard_v2/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oleObject" Target="../embeddings/oleObject3.bin"/><Relationship Id="rId5" Type="http://schemas.openxmlformats.org/officeDocument/2006/relationships/image" Target="../media/image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oleObject" Target="../embeddings/oleObject4.bin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oleObject" Target="../embeddings/oleObject5.bin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oleObject" Target="../embeddings/oleObject6.bin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72241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Projet 8</a:t>
            </a:r>
            <a:endParaRPr lang="en-US"/>
          </a:p>
        </p:txBody>
      </p:sp>
      <p:sp>
        <p:nvSpPr>
          <p:cNvPr id="121753710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Réaliser un dashboard et assurer une veille technique</a:t>
            </a:r>
            <a:b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Guillaume LAFON</a:t>
            </a: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83610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Sommaire</a:t>
            </a:r>
            <a:endParaRPr lang="fr-FR"/>
          </a:p>
        </p:txBody>
      </p:sp>
      <p:sp>
        <p:nvSpPr>
          <p:cNvPr id="81562886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64734" y="1825623"/>
            <a:ext cx="98625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3" action="ppaction://hlinksldjump" tooltip="Diapositive 3"/>
              </a:rPr>
              <a:t>1. Introduction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sz="1700" b="1" u="sng">
                <a:solidFill>
                  <a:schemeClr val="hlink"/>
                </a:solidFill>
                <a:hlinkClick r:id="rId4" action="ppaction://hlinksldjump" tooltip="Diapositive 5"/>
              </a:rPr>
              <a:t>2. Présentation technique de l’application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5" action="ppaction://hlinksldjump" tooltip="Diapositive 7"/>
              </a:rPr>
              <a:t>3 Démonstration de l’application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6" action="ppaction://hlinksldjump" tooltip="Diapositive 9"/>
              </a:rPr>
              <a:t>4. Seconde problématique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7" action="ppaction://hlinksldjump" tooltip="Diapositive 11"/>
              </a:rPr>
              <a:t>5 Comparaison de modèles d'embeddings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i="0" u="sng" strike="noStrike" cap="none" spc="0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hlinkClick r:id="rId8" action="ppaction://hlinksldjump" tooltip="Diapositive 19"/>
              </a:rPr>
              <a:t>6 Conclusion</a:t>
            </a:r>
            <a:endParaRPr sz="1700" b="1" u="sng">
              <a:solidFill>
                <a:schemeClr val="tx1"/>
              </a:solidFill>
            </a:endParaRPr>
          </a:p>
        </p:txBody>
      </p:sp>
      <p:sp>
        <p:nvSpPr>
          <p:cNvPr id="102126311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E1C5022-64DE-6212-1F2B-DF3A7A0C0E87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81562886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40496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82887" y="1420677"/>
            <a:ext cx="9626225" cy="1059209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endParaRPr/>
          </a:p>
        </p:txBody>
      </p:sp>
      <p:sp>
        <p:nvSpPr>
          <p:cNvPr id="170158340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9804DC6-9870-9FB8-3039-899F63A512D1}" type="slidenum">
              <a:rPr lang="fr-FR"/>
              <a:t/>
            </a:fld>
            <a:endParaRPr/>
          </a:p>
        </p:txBody>
      </p:sp>
      <p:pic>
        <p:nvPicPr>
          <p:cNvPr id="202314763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60864" y="2415092"/>
            <a:ext cx="7870271" cy="3118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83624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5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15036140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L’entreprise prêt à dépenser propose des crédits à la consommation 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pour des personnes ayant peu ou pas du tout d'historique de prêt.</a:t>
            </a:r>
            <a:endParaRPr lang="fr-FR"/>
          </a:p>
          <a:p>
            <a:pPr marL="0" lvl="0" indent="0">
              <a:lnSpc>
                <a:spcPct val="100000"/>
              </a:lnSpc>
              <a:spcBef>
                <a:spcPts val="2998"/>
              </a:spcBef>
              <a:buNone/>
              <a:defRPr/>
            </a:pPr>
            <a:r>
              <a:rPr lang="fr-FR" b="1"/>
              <a:t>1.2 Mission</a:t>
            </a:r>
            <a:endParaRPr lang="fr-FR" b="1"/>
          </a:p>
          <a:p>
            <a:pPr marL="0" lvl="0" indent="0">
              <a:lnSpc>
                <a:spcPct val="90000"/>
              </a:lnSpc>
              <a:spcBef>
                <a:spcPts val="566"/>
              </a:spcBef>
              <a:buNone/>
              <a:defRPr/>
            </a:pPr>
            <a:r>
              <a:rPr lang="fr-FR" b="0"/>
              <a:t>Formulation de la problématique :</a:t>
            </a:r>
            <a:endParaRPr b="0"/>
          </a:p>
          <a:p>
            <a:pPr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Calculer la probabilité qu’un client rembourse</a:t>
            </a:r>
            <a:endParaRPr lang="fr-FR" sz="16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Classifier la demande en crédit accordé ou refusé.</a:t>
            </a:r>
            <a:endParaRPr sz="1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endParaRPr>
              <a:latin typeface="Source Sans Pro"/>
              <a:cs typeface="Source Sans Pro"/>
            </a:endParaRPr>
          </a:p>
          <a:p>
            <a:pPr marL="0" lvl="0" indent="0">
              <a:spcBef>
                <a:spcPts val="2997"/>
              </a:spcBef>
              <a:buNone/>
              <a:defRPr/>
            </a:pP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1.3 Données</a:t>
            </a:r>
            <a:endParaRPr sz="1700"/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Jeu de données contenant des informations sur les clients ( 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données comportementales, données provenant d'autres institutions financières)</a:t>
            </a:r>
            <a:endParaRPr lang="fr-FR"/>
          </a:p>
        </p:txBody>
      </p:sp>
      <p:sp>
        <p:nvSpPr>
          <p:cNvPr id="40609693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AA2E8BE-E580-DDD9-503B-2C68CB1BFE61}" type="slidenum">
              <a:rPr lang="fr-FR"/>
              <a:t/>
            </a:fld>
            <a:endParaRPr/>
          </a:p>
        </p:txBody>
      </p:sp>
      <p:pic>
        <p:nvPicPr>
          <p:cNvPr id="1566371854" name=""/>
          <p:cNvPicPr>
            <a:picLocks noChangeAspect="1"/>
          </p:cNvPicPr>
          <p:nvPr/>
        </p:nvPicPr>
        <p:blipFill rotWithShape="1">
          <a:blip r:embed="rId3"/>
          <a:srcRect l="45669" t="0" r="0" b="0"/>
          <a:stretch/>
        </p:blipFill>
        <p:spPr bwMode="auto">
          <a:xfrm flipH="0" flipV="0">
            <a:off x="5748940" y="266237"/>
            <a:ext cx="1953432" cy="1424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5036140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4703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70" y="1709734"/>
            <a:ext cx="10745656" cy="28527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2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technique de l’application</a:t>
            </a:r>
            <a:endParaRPr lang="fr-FR"/>
          </a:p>
        </p:txBody>
      </p:sp>
      <p:sp>
        <p:nvSpPr>
          <p:cNvPr id="73118166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E3EC634-E74E-A503-A4D7-322A616FDBBD}" type="slidenum">
              <a:rPr lang="fr-FR"/>
              <a:t/>
            </a:fld>
            <a:endParaRPr/>
          </a:p>
        </p:txBody>
      </p:sp>
      <p:pic>
        <p:nvPicPr>
          <p:cNvPr id="428782488" name=""/>
          <p:cNvPicPr>
            <a:picLocks noChangeAspect="1"/>
          </p:cNvPicPr>
          <p:nvPr/>
        </p:nvPicPr>
        <p:blipFill rotWithShape="1">
          <a:blip r:embed="rId3"/>
          <a:srcRect l="45669" t="0" r="0" b="0"/>
          <a:stretch/>
        </p:blipFill>
        <p:spPr bwMode="auto">
          <a:xfrm flipH="0" flipV="0">
            <a:off x="10543728" y="5612294"/>
            <a:ext cx="1485253" cy="108304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2359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technique de l’application</a:t>
            </a:r>
            <a:endParaRPr sz="3600"/>
          </a:p>
        </p:txBody>
      </p:sp>
      <p:sp>
        <p:nvSpPr>
          <p:cNvPr id="80361537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69B3EAA-B931-2F05-0E04-BBE1C4C2B1C5}" type="slidenum">
              <a:rPr lang="fr-FR"/>
              <a:t/>
            </a:fld>
            <a:endParaRPr/>
          </a:p>
        </p:txBody>
      </p:sp>
      <p:pic>
        <p:nvPicPr>
          <p:cNvPr id="1159301405" name=""/>
          <p:cNvPicPr>
            <a:picLocks noChangeAspect="1"/>
          </p:cNvPicPr>
          <p:nvPr/>
        </p:nvPicPr>
        <p:blipFill rotWithShape="1"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graphicFrame>
        <p:nvGraphicFramePr>
          <p:cNvPr id="618579550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228546" y="2137498"/>
          <a:ext cx="7832250" cy="4127172"/>
        </p:xfrm>
        <a:graphic>
          <a:graphicData uri="http://schemas.openxmlformats.org/presentationml/2006/ole">
            <p:oleObj name="oleObj" r:id="rId5" imgW="6010275" imgH="3162300" progId="asc.{DB38923B-A8C0-4DE9-8AEE-A61BB5C901A5}">
              <p:embed/>
              <p:pic>
                <p:nvPicPr>
                  <p:cNvPr id="618579550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2228546" y="2137498"/>
                    <a:ext cx="7832250" cy="4127172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2698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3 Démonstration de l’application</a:t>
            </a:r>
            <a:endParaRPr lang="fr-FR"/>
          </a:p>
        </p:txBody>
      </p:sp>
      <p:sp>
        <p:nvSpPr>
          <p:cNvPr id="196054449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1B1C71A3-5EF4-88CC-AA7C-D65195906E2A}" type="slidenum">
              <a:rPr lang="fr-FR"/>
              <a:t/>
            </a:fld>
            <a:endParaRPr/>
          </a:p>
        </p:txBody>
      </p:sp>
      <p:pic>
        <p:nvPicPr>
          <p:cNvPr id="2048870549" name=""/>
          <p:cNvPicPr>
            <a:picLocks noChangeAspect="1"/>
          </p:cNvPicPr>
          <p:nvPr/>
        </p:nvPicPr>
        <p:blipFill rotWithShape="1"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506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AFB824EA-43EC-8A9E-BCD8-7265B30E0573}" type="slidenum">
              <a:rPr lang="fr-FR"/>
              <a:t/>
            </a:fld>
            <a:endParaRPr/>
          </a:p>
        </p:txBody>
      </p:sp>
      <p:pic>
        <p:nvPicPr>
          <p:cNvPr id="858431209" name=""/>
          <p:cNvPicPr>
            <a:picLocks noChangeAspect="1"/>
          </p:cNvPicPr>
          <p:nvPr/>
        </p:nvPicPr>
        <p:blipFill rotWithShape="1"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69445332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 algn="l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sz="3600"/>
              <a:t>Démonstration de l’application</a:t>
            </a:r>
            <a:endParaRPr sz="3600"/>
          </a:p>
        </p:txBody>
      </p:sp>
      <p:sp>
        <p:nvSpPr>
          <p:cNvPr id="1496168390" name=""/>
          <p:cNvSpPr txBox="1"/>
          <p:nvPr/>
        </p:nvSpPr>
        <p:spPr bwMode="auto">
          <a:xfrm rot="0" flipH="0" flipV="0">
            <a:off x="1077600" y="2035313"/>
            <a:ext cx="744883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hlinkClick r:id="rId4" tooltip=""/>
              </a:rPr>
              <a:t>https://laguill-implementer-model-scoring.hf.space/pages/dashboard_v2/</a:t>
            </a:r>
            <a:endParaRPr>
              <a:latin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83349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8" y="1709732"/>
            <a:ext cx="10745654" cy="285273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4 Seconde problématique</a:t>
            </a:r>
            <a:endParaRPr lang="fr-FR"/>
          </a:p>
        </p:txBody>
      </p:sp>
      <p:sp>
        <p:nvSpPr>
          <p:cNvPr id="138048433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03D5F57-8C27-5C7F-7D0A-64A5664A2757}" type="slidenum">
              <a:rPr lang="fr-FR"/>
              <a:t/>
            </a:fld>
            <a:endParaRPr/>
          </a:p>
        </p:txBody>
      </p:sp>
      <p:pic>
        <p:nvPicPr>
          <p:cNvPr id="1528509879" name=""/>
          <p:cNvPicPr>
            <a:picLocks noChangeAspect="1"/>
          </p:cNvPicPr>
          <p:nvPr/>
        </p:nvPicPr>
        <p:blipFill rotWithShape="1"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29928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sz="3600"/>
              <a:t>Seconde problématique</a:t>
            </a:r>
            <a:endParaRPr sz="3600"/>
          </a:p>
        </p:txBody>
      </p:sp>
      <p:sp>
        <p:nvSpPr>
          <p:cNvPr id="82626060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B61A3F7-F2FD-97E7-E0A7-8404BF7323BD}" type="slidenum">
              <a:rPr lang="fr-FR"/>
              <a:t/>
            </a:fld>
            <a:endParaRPr/>
          </a:p>
        </p:txBody>
      </p:sp>
      <p:sp>
        <p:nvSpPr>
          <p:cNvPr id="11104903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261781" y="1825622"/>
            <a:ext cx="9668432" cy="9834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lnSpc>
                <a:spcPct val="150000"/>
              </a:lnSpc>
              <a:defRPr/>
            </a:pPr>
            <a:r>
              <a:rPr lang="fr-FR"/>
              <a:t>Etat de l’art sur une technique récente de modélisation de texte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Analyser, tester et comparer à une approche plus classique réalisée précédemment</a:t>
            </a:r>
            <a:endParaRPr lang="fr-FR"/>
          </a:p>
        </p:txBody>
      </p:sp>
      <p:pic>
        <p:nvPicPr>
          <p:cNvPr id="6842015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87679" y="2879690"/>
            <a:ext cx="4240710" cy="2120355"/>
          </a:xfrm>
          <a:prstGeom prst="rect">
            <a:avLst/>
          </a:prstGeom>
        </p:spPr>
      </p:pic>
      <p:sp>
        <p:nvSpPr>
          <p:cNvPr id="117169042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441781" y="5153716"/>
            <a:ext cx="9668432" cy="9834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lnSpc>
                <a:spcPct val="150000"/>
              </a:lnSpc>
              <a:defRPr/>
            </a:pPr>
            <a:r>
              <a:rPr lang="fr-FR"/>
              <a:t>Librairie python qui simplifie  l’utilisation de modèles de NLP référencés sur huggingface.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Facilite la vectorisation de mots et phrases d’un corpus de texte.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6589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8" y="1709732"/>
            <a:ext cx="10745654" cy="285273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5 Comparaiso</a:t>
            </a:r>
            <a:r>
              <a:rPr lang="fr-FR"/>
              <a:t>n de modèles d’embeddings</a:t>
            </a:r>
            <a:endParaRPr lang="fr-FR"/>
          </a:p>
        </p:txBody>
      </p:sp>
      <p:sp>
        <p:nvSpPr>
          <p:cNvPr id="5783514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32335B8-8614-F69F-8208-B493A7AEE254}" type="slidenum">
              <a:rPr lang="fr-FR"/>
              <a:t/>
            </a:fld>
            <a:endParaRPr/>
          </a:p>
        </p:txBody>
      </p:sp>
      <p:pic>
        <p:nvPicPr>
          <p:cNvPr id="12783078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5" cy="7600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9759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Comparaison de modèles d’embeddings</a:t>
            </a:r>
            <a:endParaRPr sz="3600"/>
          </a:p>
        </p:txBody>
      </p:sp>
      <p:sp>
        <p:nvSpPr>
          <p:cNvPr id="82433829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8DDD337-1351-A34E-9469-94DE8F1EE7FA}" type="slidenum">
              <a:rPr lang="fr-FR"/>
              <a:t/>
            </a:fld>
            <a:endParaRPr/>
          </a:p>
        </p:txBody>
      </p:sp>
      <p:graphicFrame>
        <p:nvGraphicFramePr>
          <p:cNvPr id="579542819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197207" y="1479351"/>
          <a:ext cx="7797584" cy="5124126"/>
        </p:xfrm>
        <a:graphic>
          <a:graphicData uri="http://schemas.openxmlformats.org/presentationml/2006/ole">
            <p:oleObj name="oleObj" r:id="rId4" imgW="6296025" imgH="4133850" progId="asc.{DB38923B-A8C0-4DE9-8AEE-A61BB5C901A5}">
              <p:embed/>
              <p:pic>
                <p:nvPicPr>
                  <p:cNvPr id="579542819" name="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 flipH="0" flipV="0">
                    <a:off x="2197207" y="1479351"/>
                    <a:ext cx="7797584" cy="5124126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30700413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43596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62006259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0FDBC6F-811B-D499-4DD6-3DDB02FCF85C}" type="slidenum">
              <a:rPr lang="fr-FR"/>
              <a:t/>
            </a:fld>
            <a:endParaRPr/>
          </a:p>
        </p:txBody>
      </p:sp>
      <p:graphicFrame>
        <p:nvGraphicFramePr>
          <p:cNvPr id="1575510896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1949058" y="1582118"/>
          <a:ext cx="8293875" cy="4846342"/>
        </p:xfrm>
        <a:graphic>
          <a:graphicData uri="http://schemas.openxmlformats.org/presentationml/2006/ole">
            <p:oleObj name="oleObj" r:id="rId4" imgW="7191375" imgH="4029075" progId="asc.{DB38923B-A8C0-4DE9-8AEE-A61BB5C901A5}">
              <p:embed/>
              <p:pic>
                <p:nvPicPr>
                  <p:cNvPr id="1575510896" name="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 flipH="0" flipV="0">
                    <a:off x="1949058" y="1582118"/>
                    <a:ext cx="8293875" cy="4846342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93370839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8598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22298739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419CBDAF-339F-9DE6-2575-27B08AB0FE5C}" type="slidenum">
              <a:rPr lang="fr-FR"/>
              <a:t/>
            </a:fld>
            <a:endParaRPr/>
          </a:p>
        </p:txBody>
      </p:sp>
      <p:pic>
        <p:nvPicPr>
          <p:cNvPr id="10572956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  <p:graphicFrame>
        <p:nvGraphicFramePr>
          <p:cNvPr id="286662936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764477" y="1749094"/>
          <a:ext cx="10473084" cy="4552026"/>
        </p:xfrm>
        <a:graphic>
          <a:graphicData uri="http://schemas.openxmlformats.org/presentationml/2006/ole">
            <p:oleObj name="oleObj" r:id="rId5" imgW="11010900" imgH="4781550" progId="asc.{DB38923B-A8C0-4DE9-8AEE-A61BB5C901A5}">
              <p:embed/>
              <p:pic>
                <p:nvPicPr>
                  <p:cNvPr id="286662936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764477" y="1749094"/>
                    <a:ext cx="10473084" cy="4552026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2729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175247176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3A7F163-DFCC-B55A-210C-9284EA7BCA07}" type="slidenum">
              <a:rPr lang="fr-FR"/>
              <a:t/>
            </a:fld>
            <a:endParaRPr/>
          </a:p>
        </p:txBody>
      </p:sp>
      <p:pic>
        <p:nvPicPr>
          <p:cNvPr id="20700677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  <p:graphicFrame>
        <p:nvGraphicFramePr>
          <p:cNvPr id="1670898536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018533" y="1469109"/>
          <a:ext cx="5756291" cy="4709692"/>
        </p:xfrm>
        <a:graphic>
          <a:graphicData uri="http://schemas.openxmlformats.org/presentationml/2006/ole">
            <p:oleObj name="oleObj" r:id="rId5" imgW="7915275" imgH="6477000" progId="asc.{DB38923B-A8C0-4DE9-8AEE-A61BB5C901A5}">
              <p:embed/>
              <p:pic>
                <p:nvPicPr>
                  <p:cNvPr id="1670898536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3018533" y="1469109"/>
                    <a:ext cx="5756291" cy="4709692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9561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87129522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828EF4C-C203-B5CD-74A7-6F8A3D82C875}" type="slidenum">
              <a:rPr lang="fr-FR"/>
              <a:t/>
            </a:fld>
            <a:endParaRPr/>
          </a:p>
        </p:txBody>
      </p:sp>
      <p:pic>
        <p:nvPicPr>
          <p:cNvPr id="14446780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  <p:graphicFrame>
        <p:nvGraphicFramePr>
          <p:cNvPr id="2092136321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326262" y="1469109"/>
          <a:ext cx="5539474" cy="4923977"/>
        </p:xfrm>
        <a:graphic>
          <a:graphicData uri="http://schemas.openxmlformats.org/presentationml/2006/ole">
            <p:oleObj name="oleObj" r:id="rId5" imgW="4857750" imgH="4314825" progId="asc.{DB38923B-A8C0-4DE9-8AEE-A61BB5C901A5}">
              <p:embed/>
              <p:pic>
                <p:nvPicPr>
                  <p:cNvPr id="2092136321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3326262" y="1469109"/>
                    <a:ext cx="5539474" cy="492397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22397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109691733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66A2C81-7E90-3E18-D30F-DDDC5C4FC4BF}" type="slidenum">
              <a:rPr lang="fr-FR"/>
              <a:t/>
            </a:fld>
            <a:endParaRPr/>
          </a:p>
        </p:txBody>
      </p:sp>
      <p:pic>
        <p:nvPicPr>
          <p:cNvPr id="4668157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  <p:graphicFrame>
        <p:nvGraphicFramePr>
          <p:cNvPr id="1586223941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1255547" y="1345493"/>
          <a:ext cx="1512000" cy="540000"/>
        </p:xfrm>
        <a:graphic>
          <a:graphicData uri="http://schemas.openxmlformats.org/presentationml/2006/ole">
            <p:oleObj name="oleObj" r:id="rId5" imgW="1504950" imgH="533400" progId="asc.{DB38923B-A8C0-4DE9-8AEE-A61BB5C901A5}">
              <p:embed/>
              <p:pic>
                <p:nvPicPr>
                  <p:cNvPr id="1586223941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1255547" y="1345493"/>
                    <a:ext cx="1512000" cy="54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3899032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878159" y="1790376"/>
            <a:ext cx="6667499" cy="476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2963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195772154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7C1F6115-6A5C-1CC3-BEA8-360DF0F038A5}" type="slidenum">
              <a:rPr lang="fr-FR"/>
              <a:t/>
            </a:fld>
            <a:endParaRPr/>
          </a:p>
        </p:txBody>
      </p:sp>
      <p:pic>
        <p:nvPicPr>
          <p:cNvPr id="20352237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  <p:graphicFrame>
        <p:nvGraphicFramePr>
          <p:cNvPr id="1593897518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1255547" y="1345493"/>
          <a:ext cx="1512000" cy="540000"/>
        </p:xfrm>
        <a:graphic>
          <a:graphicData uri="http://schemas.openxmlformats.org/presentationml/2006/ole">
            <p:oleObj name="oleObj" r:id="rId5" imgW="1504950" imgH="533400" progId="asc.{DB38923B-A8C0-4DE9-8AEE-A61BB5C901A5}">
              <p:embed/>
              <p:pic>
                <p:nvPicPr>
                  <p:cNvPr id="1593897518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1255547" y="1345493"/>
                    <a:ext cx="1512000" cy="54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7492000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842970" y="1809424"/>
            <a:ext cx="6667499" cy="476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83404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99080486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0" y="980370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D784AE7-E891-3883-60C9-410A3E3DD19E}" type="slidenum">
              <a:rPr lang="fr-FR"/>
              <a:t/>
            </a:fld>
            <a:endParaRPr/>
          </a:p>
        </p:txBody>
      </p:sp>
      <p:pic>
        <p:nvPicPr>
          <p:cNvPr id="9583279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8" y="5989447"/>
            <a:ext cx="1520123" cy="760060"/>
          </a:xfrm>
          <a:prstGeom prst="rect">
            <a:avLst/>
          </a:prstGeom>
        </p:spPr>
      </p:pic>
      <p:graphicFrame>
        <p:nvGraphicFramePr>
          <p:cNvPr id="684219704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1255546" y="1345492"/>
          <a:ext cx="1800000" cy="648000"/>
        </p:xfrm>
        <a:graphic>
          <a:graphicData uri="http://schemas.openxmlformats.org/presentationml/2006/ole">
            <p:oleObj name="oleObj" r:id="rId5" imgW="1790700" imgH="647700" progId="asc.{DB38923B-A8C0-4DE9-8AEE-A61BB5C901A5}">
              <p:embed/>
              <p:pic>
                <p:nvPicPr>
                  <p:cNvPr id="684219704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1255546" y="1345492"/>
                    <a:ext cx="1800000" cy="648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29793307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408050" y="218203"/>
            <a:ext cx="5558569" cy="6639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11776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147138141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0" y="980370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C06556E-05FC-4556-382C-ED08BBDD5A6E}" type="slidenum">
              <a:rPr lang="fr-FR"/>
              <a:t/>
            </a:fld>
            <a:endParaRPr/>
          </a:p>
        </p:txBody>
      </p:sp>
      <p:pic>
        <p:nvPicPr>
          <p:cNvPr id="6775529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8" y="5989447"/>
            <a:ext cx="1520123" cy="760060"/>
          </a:xfrm>
          <a:prstGeom prst="rect">
            <a:avLst/>
          </a:prstGeom>
        </p:spPr>
      </p:pic>
      <p:graphicFrame>
        <p:nvGraphicFramePr>
          <p:cNvPr id="1614273013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1255546" y="1345492"/>
          <a:ext cx="1800000" cy="648000"/>
        </p:xfrm>
        <a:graphic>
          <a:graphicData uri="http://schemas.openxmlformats.org/presentationml/2006/ole">
            <p:oleObj name="oleObj" r:id="rId5" imgW="1790700" imgH="647700" progId="asc.{DB38923B-A8C0-4DE9-8AEE-A61BB5C901A5}">
              <p:embed/>
              <p:pic>
                <p:nvPicPr>
                  <p:cNvPr id="1614273013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1255546" y="1345492"/>
                    <a:ext cx="1800000" cy="648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38054637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118469" y="545585"/>
            <a:ext cx="7359028" cy="590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9829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sz="3600"/>
              <a:t>Comparaison de modèles d’embeddings</a:t>
            </a:r>
            <a:endParaRPr sz="3600"/>
          </a:p>
        </p:txBody>
      </p:sp>
      <p:sp>
        <p:nvSpPr>
          <p:cNvPr id="26162896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0" y="980370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90C5A4F-4E88-BF87-ADD8-9CB41341CAAE}" type="slidenum">
              <a:rPr lang="fr-FR"/>
              <a:t/>
            </a:fld>
            <a:endParaRPr/>
          </a:p>
        </p:txBody>
      </p:sp>
      <p:pic>
        <p:nvPicPr>
          <p:cNvPr id="8776086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8" y="5989447"/>
            <a:ext cx="1520123" cy="760060"/>
          </a:xfrm>
          <a:prstGeom prst="rect">
            <a:avLst/>
          </a:prstGeom>
        </p:spPr>
      </p:pic>
      <p:graphicFrame>
        <p:nvGraphicFramePr>
          <p:cNvPr id="1695732773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1255546" y="1345492"/>
          <a:ext cx="1512000" cy="540000"/>
        </p:xfrm>
        <a:graphic>
          <a:graphicData uri="http://schemas.openxmlformats.org/presentationml/2006/ole">
            <p:oleObj name="oleObj" r:id="rId5" imgW="1504950" imgH="533400" progId="asc.{DB38923B-A8C0-4DE9-8AEE-A61BB5C901A5}">
              <p:embed/>
              <p:pic>
                <p:nvPicPr>
                  <p:cNvPr id="1695732773" name="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 flipH="0" flipV="0">
                    <a:off x="1255546" y="1345492"/>
                    <a:ext cx="1512000" cy="54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96673047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600580" y="40700"/>
            <a:ext cx="8589508" cy="6776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710670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2"/>
            <a:ext cx="9626222" cy="285273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6 </a:t>
            </a:r>
            <a:r>
              <a:rPr lang="fr-FR"/>
              <a:t>Conclusion</a:t>
            </a:r>
            <a:br>
              <a:rPr/>
            </a:br>
            <a:endParaRPr/>
          </a:p>
        </p:txBody>
      </p:sp>
      <p:sp>
        <p:nvSpPr>
          <p:cNvPr id="150027112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B403465-545A-5CD0-2CCC-34A7C5425B23}" type="slidenum">
              <a:rPr lang="fr-FR"/>
              <a:t/>
            </a:fld>
            <a:endParaRPr/>
          </a:p>
        </p:txBody>
      </p:sp>
      <p:pic>
        <p:nvPicPr>
          <p:cNvPr id="2204413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36420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sz="3600"/>
              <a:t>6 Conclusion</a:t>
            </a:r>
            <a:endParaRPr sz="3600"/>
          </a:p>
        </p:txBody>
      </p:sp>
      <p:sp>
        <p:nvSpPr>
          <p:cNvPr id="127620424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5158736-CA3C-0088-AC11-BF6F32ED8E46}" type="slidenum">
              <a:rPr lang="fr-FR"/>
              <a:t/>
            </a:fld>
            <a:endParaRPr/>
          </a:p>
        </p:txBody>
      </p:sp>
      <p:pic>
        <p:nvPicPr>
          <p:cNvPr id="8873857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499" y="5989448"/>
            <a:ext cx="1520124" cy="760061"/>
          </a:xfrm>
          <a:prstGeom prst="rect">
            <a:avLst/>
          </a:prstGeom>
        </p:spPr>
      </p:pic>
      <p:sp>
        <p:nvSpPr>
          <p:cNvPr id="351566072" name=""/>
          <p:cNvSpPr/>
          <p:nvPr/>
        </p:nvSpPr>
        <p:spPr bwMode="auto">
          <a:xfrm flipH="0" flipV="0">
            <a:off x="760630" y="1436818"/>
            <a:ext cx="11267948" cy="4120493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49965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all-MiniLM-L6-v2</a:t>
            </a: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750015" lvl="1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Efficace : léger (20M paramètres), rapide, adapté aux ressources limitées</a:t>
            </a: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750015" lvl="1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Facile à déployer : embeddings de qualité sans surcoût majeur</a:t>
            </a: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>
              <a:lnSpc>
                <a:spcPct val="100000"/>
              </a:lnSpc>
              <a:defRPr/>
            </a:pP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349965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Limites :</a:t>
            </a: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750015" lvl="1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Corpus réduit → risque de faible généralisation</a:t>
            </a: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750015" lvl="1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Moins précis que des modèles plus lourds (ex. Bert)</a:t>
            </a: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>
              <a:lnSpc>
                <a:spcPct val="100000"/>
              </a:lnSpc>
              <a:defRPr/>
            </a:pPr>
            <a:endParaRPr sz="2400" b="0" i="0" u="none" strike="noStrike" cap="none" spc="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349965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➡️</a:t>
            </a: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 bon compromis efficacité/légèreté → à valider sur un corpus plus large</a:t>
            </a:r>
            <a:endParaRPr lang="fr-FR" sz="2400" b="0" i="0" u="none" strike="noStrike" cap="none" spc="0">
              <a:solidFill>
                <a:schemeClr val="tx1"/>
              </a:solidFill>
              <a:latin typeface="Source Sans Pro"/>
              <a:ea typeface="Source Sans Pro"/>
              <a:cs typeface="Source Sans Pro"/>
            </a:endParaRPr>
          </a:p>
          <a:p>
            <a:pPr marL="349965" indent="-349965">
              <a:lnSpc>
                <a:spcPct val="100000"/>
              </a:lnSpc>
              <a:buFont typeface="Arial"/>
              <a:buChar char="•"/>
              <a:defRPr/>
            </a:pPr>
            <a:endParaRPr sz="2400">
              <a:solidFill>
                <a:schemeClr val="tx1"/>
              </a:solidFill>
              <a:latin typeface="Source Sans Pro"/>
              <a:cs typeface="Source Sans Pro"/>
            </a:endParaRPr>
          </a:p>
          <a:p>
            <a:pPr marL="349965" indent="-349965">
              <a:lnSpc>
                <a:spcPct val="100000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Sentences transformers sont difficiles à expliquer</a:t>
            </a:r>
            <a:endParaRPr sz="2400">
              <a:solidFill>
                <a:schemeClr val="tx1"/>
              </a:solidFill>
              <a:latin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Guillaume Lafon</dc:creator>
  <cp:lastModifiedBy/>
  <cp:revision>47</cp:revision>
  <dcterms:created xsi:type="dcterms:W3CDTF">2018-07-30T23:03:22Z</dcterms:created>
  <dcterms:modified xsi:type="dcterms:W3CDTF">2025-10-23T19:43:02Z</dcterms:modified>
</cp:coreProperties>
</file>