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5.xml" ContentType="application/vnd.openxmlformats-officedocument.presentationml.slide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tableStyles.xml" ContentType="application/vnd.openxmlformats-officedocument.presentationml.tableStyles+xml"/>
  <Override PartName="/ppt/notesSlides/notesSlide4.xml" ContentType="application/vnd.openxmlformats-officedocument.presentationml.notesSlide+xml"/>
  <Override PartName="/ppt/presentation.xml" ContentType="application/vnd.openxmlformats-officedocument.presentationml.presentation.main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 showSpecialPlsOnTitleSld="0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fr-FR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08" d="100"/>
          <a:sy n="108" d="100"/>
        </p:scale>
        <p:origin x="544" y="200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 /><Relationship Id="rId27" Type="http://schemas.openxmlformats.org/officeDocument/2006/relationships/tableStyles" Target="tableStyles.xml" /><Relationship Id="rId2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2833377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90438914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F3696079-EBA5-8C41-96F3-032D52D44482}" type="datetimeFigureOut">
              <a:rPr lang="en-US"/>
              <a:t>3/20/19</a:t>
            </a:fld>
            <a:endParaRPr lang="en-US"/>
          </a:p>
        </p:txBody>
      </p:sp>
      <p:sp>
        <p:nvSpPr>
          <p:cNvPr id="707646307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856532042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47068378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229622160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6C5E9DD-A3A8-294A-AA05-12D080B6188C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 ftr="0" hdr="0" sldNum="1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99430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70464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30360765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6C5E9DD-A3A8-294A-AA05-12D080B6188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65740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229544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84236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2A01D2-5ECB-7539-D460-03EF5ADBC1D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11970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812422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36402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20D49C-A572-668E-4C69-F44C60C72A8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14955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8064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10087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6A0A60-C46F-9E13-8572-E908049B115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95487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585253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56511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0ECEA-A2F1-9B08-C4EE-659D2711B24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4500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340809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sz="1100" b="0" i="0" u="none">
                <a:solidFill>
                  <a:srgbClr val="000000"/>
                </a:solidFill>
                <a:latin typeface="Source Sans Pro"/>
                <a:ea typeface="Source Sans Pro"/>
                <a:cs typeface="Source Sans Pro"/>
              </a:rPr>
              <a:t>Description des emprunteurs et des demandes de prêt :</a:t>
            </a:r>
            <a:endParaRPr sz="1600">
              <a:latin typeface="Source Sans Pro"/>
              <a:cs typeface="Source Sans Pro"/>
            </a:endParaRPr>
          </a:p>
          <a:p>
            <a:pPr marL="283878" indent="-283878">
              <a:buFont typeface="Arial"/>
              <a:buChar char="•"/>
              <a:defRPr/>
            </a:pPr>
            <a:r>
              <a:rPr sz="1100" b="1" i="0" u="none">
                <a:solidFill>
                  <a:srgbClr val="000000"/>
                </a:solidFill>
                <a:latin typeface="Source Sans Pro"/>
                <a:ea typeface="Source Sans Pro"/>
                <a:cs typeface="Source Sans Pro"/>
              </a:rPr>
              <a:t>Données démographiques</a:t>
            </a:r>
            <a:r>
              <a:rPr sz="1100" b="0" i="0" u="none">
                <a:solidFill>
                  <a:srgbClr val="000000"/>
                </a:solidFill>
                <a:latin typeface="Source Sans Pro"/>
                <a:ea typeface="Source Sans Pro"/>
                <a:cs typeface="Source Sans Pro"/>
              </a:rPr>
              <a:t> : Âge, sexe, situation familiale, etc.</a:t>
            </a:r>
            <a:endParaRPr sz="1600">
              <a:latin typeface="Source Sans Pro"/>
              <a:cs typeface="Source Sans Pro"/>
            </a:endParaRPr>
          </a:p>
          <a:p>
            <a:pPr marL="283878" indent="-283878">
              <a:buFont typeface="Arial"/>
              <a:buChar char="•"/>
              <a:defRPr/>
            </a:pPr>
            <a:r>
              <a:rPr sz="1100" b="1" i="0" u="none">
                <a:solidFill>
                  <a:srgbClr val="000000"/>
                </a:solidFill>
                <a:latin typeface="Source Sans Pro"/>
                <a:ea typeface="Source Sans Pro"/>
                <a:cs typeface="Source Sans Pro"/>
              </a:rPr>
              <a:t>Données financières</a:t>
            </a:r>
            <a:r>
              <a:rPr sz="1100" b="0" i="0" u="none">
                <a:solidFill>
                  <a:srgbClr val="000000"/>
                </a:solidFill>
                <a:latin typeface="Source Sans Pro"/>
                <a:ea typeface="Source Sans Pro"/>
                <a:cs typeface="Source Sans Pro"/>
              </a:rPr>
              <a:t> : Revenu, voiture de fonction, locataire, etc.</a:t>
            </a:r>
            <a:endParaRPr sz="1600">
              <a:latin typeface="Source Sans Pro"/>
              <a:cs typeface="Source Sans Pro"/>
            </a:endParaRPr>
          </a:p>
          <a:p>
            <a:pPr marL="283878" indent="-283878">
              <a:buFont typeface="Arial"/>
              <a:buChar char="•"/>
              <a:defRPr/>
            </a:pPr>
            <a:r>
              <a:rPr sz="1100" b="1" i="0" u="none">
                <a:solidFill>
                  <a:srgbClr val="000000"/>
                </a:solidFill>
                <a:latin typeface="Source Sans Pro"/>
                <a:ea typeface="Source Sans Pro"/>
                <a:cs typeface="Source Sans Pro"/>
              </a:rPr>
              <a:t>Informations liées à la demande</a:t>
            </a:r>
            <a:r>
              <a:rPr sz="1100" b="0" i="0" u="none">
                <a:solidFill>
                  <a:srgbClr val="000000"/>
                </a:solidFill>
                <a:latin typeface="Source Sans Pro"/>
                <a:ea typeface="Source Sans Pro"/>
                <a:cs typeface="Source Sans Pro"/>
              </a:rPr>
              <a:t> : Documents fournis, première demande de prêt, etc.</a:t>
            </a:r>
            <a:endParaRPr sz="1600">
              <a:latin typeface="Source Sans Pro"/>
              <a:cs typeface="Source Sans Pro"/>
            </a:endParaRPr>
          </a:p>
          <a:p>
            <a:pPr>
              <a:defRPr/>
            </a:pPr>
            <a:endParaRPr sz="800"/>
          </a:p>
        </p:txBody>
      </p:sp>
      <p:sp>
        <p:nvSpPr>
          <p:cNvPr id="13199786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8E0991-7DD3-26F0-3306-3577FABA563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67094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705254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82044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CDD8F18-2DE6-9565-B7CD-881AFBA27E7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25064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897036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01505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EE0617-7557-6A31-7571-51AED8D2991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886532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712750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41894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59EF073-8290-C1F7-E232-AE226F85B51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61360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704159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3358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C05813C-F807-FACE-64B2-5868FAC9698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54068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373818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7191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FDDA7FE-16A8-799B-A01B-9DF00E9045F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47503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40652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0323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EFB30FA-B6CC-9DAA-74AA-6AFD76179AA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04007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470475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895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18BB88B-780C-18A7-E14D-02B2F029A47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299007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085091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65558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14008-11F5-7F11-63E4-AF69A0C55E9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28285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70334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80282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512B68-FA90-CEA5-AF7D-CCDFF8CB4D3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50063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081516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3536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A291F8-39C8-E47F-FEB4-D33A8ADD32B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2145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697606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5115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69CA1C6-9050-9457-33C6-AF2C3674E2C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708102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69068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92209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F4C63-B7EE-C4E1-0D68-3CDEDF8B47F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08007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684502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73895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6E2E6D0-8CBC-C039-4057-68DBCA719AA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9380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07689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6290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B2CF20C-FB87-D9D1-76CB-B37E7F57C9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1937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339895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6848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1F2AF3-555E-BC7C-C06B-686981419CB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92440" name="Title 1"/>
          <p:cNvSpPr>
            <a:spLocks noGrp="1"/>
          </p:cNvSpPr>
          <p:nvPr>
            <p:ph type="ctrTitle"/>
          </p:nvPr>
        </p:nvSpPr>
        <p:spPr bwMode="auto">
          <a:xfrm>
            <a:off x="1523999" y="1661205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978573307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3999" y="4140880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64561067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C1F99BE7-0409-93F8-0309-044EF2021A17}" type="slidenum">
              <a:rPr lang="fr-FR"/>
              <a:t/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2382899" name="Title 1"/>
          <p:cNvSpPr>
            <a:spLocks noGrp="1"/>
          </p:cNvSpPr>
          <p:nvPr>
            <p:ph type="title"/>
          </p:nvPr>
        </p:nvSpPr>
        <p:spPr bwMode="auto">
          <a:xfrm>
            <a:off x="1261782" y="365124"/>
            <a:ext cx="9668435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90516725" name="Content Placeholder 2"/>
          <p:cNvSpPr>
            <a:spLocks noGrp="1"/>
          </p:cNvSpPr>
          <p:nvPr>
            <p:ph idx="1"/>
          </p:nvPr>
        </p:nvSpPr>
        <p:spPr bwMode="auto">
          <a:xfrm>
            <a:off x="1261782" y="1825624"/>
            <a:ext cx="9668435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45738978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ADD994A6-F5A7-682C-C17A-F6B833735B4C}" type="slidenum">
              <a:rPr lang="fr-FR"/>
              <a:t/>
            </a:fld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7712113" name="Title 1"/>
          <p:cNvSpPr>
            <a:spLocks noGrp="1"/>
          </p:cNvSpPr>
          <p:nvPr>
            <p:ph type="title"/>
          </p:nvPr>
        </p:nvSpPr>
        <p:spPr bwMode="auto">
          <a:xfrm>
            <a:off x="1282887" y="1709737"/>
            <a:ext cx="9626226" cy="2852737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87121404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282886" y="4589462"/>
            <a:ext cx="962622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Edit Master text styles</a:t>
            </a:r>
            <a:endParaRPr/>
          </a:p>
        </p:txBody>
      </p:sp>
      <p:sp>
        <p:nvSpPr>
          <p:cNvPr id="100307055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915D0009-1646-FD38-7AD6-6666D101796D}" type="slidenum">
              <a:rPr lang="fr-FR"/>
              <a:t/>
            </a:fld>
            <a:endParaRPr lang="fr-F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6773428" name="Title 1"/>
          <p:cNvSpPr>
            <a:spLocks noGrp="1"/>
          </p:cNvSpPr>
          <p:nvPr>
            <p:ph type="title"/>
          </p:nvPr>
        </p:nvSpPr>
        <p:spPr bwMode="auto">
          <a:xfrm>
            <a:off x="1114344" y="365124"/>
            <a:ext cx="9963311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2090255136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1114344" y="1864658"/>
            <a:ext cx="7108051" cy="4688822"/>
          </a:xfrm>
        </p:spPr>
        <p:txBody>
          <a:bodyPr/>
          <a:lstStyle/>
          <a:p>
            <a:pPr lvl="0">
              <a:defRPr/>
            </a:pPr>
            <a:r>
              <a:rPr lang="en-US"/>
              <a:t>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3075821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222396" y="1864658"/>
            <a:ext cx="2855258" cy="4688822"/>
          </a:xfrm>
        </p:spPr>
        <p:txBody>
          <a:bodyPr/>
          <a:lstStyle/>
          <a:p>
            <a:pPr lvl="0">
              <a:defRPr/>
            </a:pPr>
            <a:r>
              <a:rPr lang="en-US"/>
              <a:t>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90592012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EC62F0AC-2641-79B7-04F7-E1AC3EF851CD}" type="slidenum">
              <a:rPr lang="fr-FR"/>
              <a:t/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tx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82014473" name="Picture 4"/>
          <p:cNvPicPr>
            <a:picLocks noChangeAspect="1"/>
          </p:cNvPicPr>
          <p:nvPr userDrawn="1"/>
        </p:nvPicPr>
        <p:blipFill>
          <a:blip r:embed="rId6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49205299" name="Title Placeholder 1"/>
          <p:cNvSpPr>
            <a:spLocks noGrp="1"/>
          </p:cNvSpPr>
          <p:nvPr>
            <p:ph type="title"/>
          </p:nvPr>
        </p:nvSpPr>
        <p:spPr bwMode="auto">
          <a:xfrm>
            <a:off x="1261782" y="365124"/>
            <a:ext cx="966843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latin typeface="Orkney Medium"/>
                <a:ea typeface="Orkney Medium"/>
                <a:cs typeface="Orkney Medium"/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26403186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261782" y="1825624"/>
            <a:ext cx="966843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sz="1800">
                <a:latin typeface="Source Sans Pro"/>
                <a:ea typeface="Source Sans Pro"/>
                <a:cs typeface="Source Sans Pro"/>
              </a:defRPr>
            </a:lvl1pPr>
            <a:lvl2pPr>
              <a:defRPr sz="1400">
                <a:latin typeface="Source Sans Pro"/>
                <a:ea typeface="Source Sans Pro"/>
                <a:cs typeface="Source Sans Pro"/>
              </a:defRPr>
            </a:lvl2pPr>
            <a:lvl3pPr>
              <a:defRPr sz="1100">
                <a:latin typeface="Source Sans Pro"/>
                <a:ea typeface="Source Sans Pro"/>
                <a:cs typeface="Source Sans Pro"/>
              </a:defRPr>
            </a:lvl3pPr>
            <a:lvl4pPr>
              <a:defRPr sz="1000">
                <a:latin typeface="Source Sans Pro"/>
                <a:ea typeface="Source Sans Pro"/>
                <a:cs typeface="Source Sans Pro"/>
              </a:defRPr>
            </a:lvl4pPr>
            <a:lvl5pPr>
              <a:defRPr sz="1000">
                <a:latin typeface="Source Sans Pro"/>
                <a:ea typeface="Source Sans Pro"/>
                <a:cs typeface="Source Sans Pro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252531086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5" y="980375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07AB8A59-D064-84AA-BAFA-3F67DA652490}" type="slidenum">
              <a:rPr lang="fr-FR"/>
              <a:t/>
            </a:fld>
            <a:endParaRPr lang="fr-FR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dt="0" ftr="0" hdr="0" sldNum="1"/>
  <p:txStyles>
    <p:titleStyle>
      <a:lvl1pPr algn="l" defTabSz="914400">
        <a:lnSpc>
          <a:spcPct val="90000"/>
        </a:lnSpc>
        <a:spcBef>
          <a:spcPts val="0"/>
        </a:spcBef>
        <a:buNone/>
        <a:defRPr sz="4400" b="0" i="0">
          <a:solidFill>
            <a:srgbClr val="404040"/>
          </a:solidFill>
          <a:latin typeface="Source Sans Pro Ligh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b="0" i="0">
          <a:solidFill>
            <a:srgbClr val="404040"/>
          </a:solidFill>
          <a:latin typeface="Source Sans Pro Ligh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b="0" i="0">
          <a:solidFill>
            <a:srgbClr val="404040"/>
          </a:solidFill>
          <a:latin typeface="Source Sans Pro Ligh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b="0" i="0">
          <a:solidFill>
            <a:srgbClr val="404040"/>
          </a:solidFill>
          <a:latin typeface="Source Sans Pro Ligh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b="0" i="0">
          <a:solidFill>
            <a:srgbClr val="404040"/>
          </a:solidFill>
          <a:latin typeface="Source Sans Pro Ligh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b="0" i="0">
          <a:solidFill>
            <a:srgbClr val="404040"/>
          </a:solidFill>
          <a:latin typeface="Source Sans Pro Ligh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1.xml"/><Relationship Id="rId8" Type="http://schemas.openxmlformats.org/officeDocument/2006/relationships/slide" Target="slide19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oleObject" Target="../embeddings/oleObject1.bin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hyperlink" Target="https://laguill-implementer-model-scoring.hf.space/pages/dashboard_v2/" TargetMode="Externa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oleObject" Target="../embeddings/oleObject2.bin"/><Relationship Id="rId5" Type="http://schemas.openxmlformats.org/officeDocument/2006/relationships/image" Target="../media/image4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Relationship Id="rId4" Type="http://schemas.openxmlformats.org/officeDocument/2006/relationships/oleObject" Target="../embeddings/oleObject3.bin"/><Relationship Id="rId5" Type="http://schemas.openxmlformats.org/officeDocument/2006/relationships/image" Target="../media/image4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oleObject" Target="../embeddings/oleObject4.bin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oleObject" Target="../embeddings/oleObject5.bin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oleObject" Target="../embeddings/oleObject6.bin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Relationship Id="rId4" Type="http://schemas.openxmlformats.org/officeDocument/2006/relationships/image" Target="../media/image10.png"/><Relationship Id="rId5" Type="http://schemas.openxmlformats.org/officeDocument/2006/relationships/oleObject" Target="../embeddings/oleObject7.bin"/><Relationship Id="rId6" Type="http://schemas.openxmlformats.org/officeDocument/2006/relationships/image" Target="../media/image11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Relationship Id="rId4" Type="http://schemas.openxmlformats.org/officeDocument/2006/relationships/image" Target="../media/image10.png"/><Relationship Id="rId5" Type="http://schemas.openxmlformats.org/officeDocument/2006/relationships/oleObject" Target="../embeddings/oleObject7.bin"/><Relationship Id="rId6" Type="http://schemas.openxmlformats.org/officeDocument/2006/relationships/image" Target="../media/image12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Relationship Id="rId4" Type="http://schemas.openxmlformats.org/officeDocument/2006/relationships/image" Target="../media/image10.png"/><Relationship Id="rId5" Type="http://schemas.openxmlformats.org/officeDocument/2006/relationships/oleObject" Target="../embeddings/oleObject7.bin"/><Relationship Id="rId6" Type="http://schemas.openxmlformats.org/officeDocument/2006/relationships/image" Target="../media/image13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4043869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Projet 8</a:t>
            </a:r>
            <a:endParaRPr lang="en-US"/>
          </a:p>
        </p:txBody>
      </p:sp>
      <p:sp>
        <p:nvSpPr>
          <p:cNvPr id="1666463267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r>
              <a:rPr lang="fr-FR" sz="2400" b="0" i="0" u="none" strike="noStrike" cap="none" spc="0">
                <a:solidFill>
                  <a:srgbClr val="404040"/>
                </a:solidFill>
                <a:latin typeface="Source Sans Pro"/>
                <a:ea typeface="Source Sans Pro"/>
                <a:cs typeface="Source Sans Pro"/>
              </a:rPr>
              <a:t>Réaliser un dashboard et assurer une veille technique</a:t>
            </a:r>
            <a:br>
              <a:rPr lang="en-US" sz="2400" b="0" i="0" u="none" strike="noStrike" cap="none" spc="0">
                <a:solidFill>
                  <a:srgbClr val="404040"/>
                </a:solidFill>
                <a:latin typeface="Source Sans Pro"/>
                <a:ea typeface="Source Sans Pro"/>
                <a:cs typeface="Source Sans Pro"/>
              </a:rPr>
            </a:br>
            <a:r>
              <a:rPr lang="en-US" sz="2400" b="0" i="0" u="none" strike="noStrike" cap="none" spc="0">
                <a:solidFill>
                  <a:srgbClr val="404040"/>
                </a:solidFill>
                <a:latin typeface="Source Sans Pro"/>
                <a:ea typeface="Source Sans Pro"/>
                <a:cs typeface="Source Sans Pro"/>
              </a:rPr>
              <a:t>Guillaume LAFON</a:t>
            </a:r>
            <a:endParaRPr>
              <a:solidFill>
                <a:schemeClr val="accent3">
                  <a:lumMod val="75000"/>
                </a:scheme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4037592" name="Title 1"/>
          <p:cNvSpPr>
            <a:spLocks noGrp="1"/>
          </p:cNvSpPr>
          <p:nvPr>
            <p:ph type="title"/>
          </p:nvPr>
        </p:nvSpPr>
        <p:spPr bwMode="auto">
          <a:xfrm>
            <a:off x="1261782" y="365123"/>
            <a:ext cx="9668435" cy="1325562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/>
              <a:t>Sommaire</a:t>
            </a:r>
            <a:endParaRPr lang="fr-FR"/>
          </a:p>
        </p:txBody>
      </p:sp>
      <p:sp>
        <p:nvSpPr>
          <p:cNvPr id="133784469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164734" y="1825623"/>
            <a:ext cx="9862530" cy="435133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lvl="0">
              <a:lnSpc>
                <a:spcPct val="200000"/>
              </a:lnSpc>
              <a:defRPr/>
            </a:pPr>
            <a:r>
              <a:rPr lang="fr-FR" sz="1700" b="1" u="sng">
                <a:hlinkClick r:id="rId3" action="ppaction://hlinksldjump" tooltip="Diapositive 3"/>
              </a:rPr>
              <a:t>1. Introduction</a:t>
            </a:r>
            <a:endParaRPr sz="1700" b="1" u="sng">
              <a:solidFill>
                <a:schemeClr val="tx1"/>
              </a:solidFill>
            </a:endParaRPr>
          </a:p>
          <a:p>
            <a:pPr lvl="0">
              <a:lnSpc>
                <a:spcPct val="200000"/>
              </a:lnSpc>
              <a:defRPr/>
            </a:pPr>
            <a:r>
              <a:rPr sz="1700" b="1" u="sng">
                <a:solidFill>
                  <a:schemeClr val="hlink"/>
                </a:solidFill>
                <a:hlinkClick r:id="rId4" action="ppaction://hlinksldjump" tooltip="Diapositive 5"/>
              </a:rPr>
              <a:t>2. Présentation et démonstration du tableau de bord</a:t>
            </a:r>
            <a:endParaRPr sz="1700" b="1" u="sng">
              <a:solidFill>
                <a:schemeClr val="tx1"/>
              </a:solidFill>
            </a:endParaRPr>
          </a:p>
          <a:p>
            <a:pPr lvl="0">
              <a:lnSpc>
                <a:spcPct val="200000"/>
              </a:lnSpc>
              <a:defRPr/>
            </a:pPr>
            <a:r>
              <a:rPr lang="fr-FR" sz="1700" b="1" u="sng">
                <a:solidFill>
                  <a:schemeClr val="hlink"/>
                </a:solidFill>
                <a:hlinkClick r:id="rId5" action="ppaction://hlinksldjump" tooltip="Diapositive 7"/>
              </a:rPr>
              <a:t>3 Présentation du dashboard</a:t>
            </a:r>
            <a:endParaRPr sz="1700" b="1" u="sng">
              <a:solidFill>
                <a:schemeClr val="tx1"/>
              </a:solidFill>
            </a:endParaRPr>
          </a:p>
          <a:p>
            <a:pPr lvl="0">
              <a:lnSpc>
                <a:spcPct val="200000"/>
              </a:lnSpc>
              <a:defRPr/>
            </a:pPr>
            <a:r>
              <a:rPr lang="fr-FR" sz="1700" b="1" u="sng">
                <a:solidFill>
                  <a:schemeClr val="hlink"/>
                </a:solidFill>
                <a:hlinkClick r:id="rId6" action="ppaction://hlinksldjump" tooltip="Diapositive 9"/>
              </a:rPr>
              <a:t>4. Seconde problématique</a:t>
            </a:r>
            <a:endParaRPr sz="1700" b="1" u="sng">
              <a:solidFill>
                <a:schemeClr val="tx1"/>
              </a:solidFill>
            </a:endParaRPr>
          </a:p>
          <a:p>
            <a:pPr lvl="0">
              <a:lnSpc>
                <a:spcPct val="200000"/>
              </a:lnSpc>
              <a:defRPr/>
            </a:pPr>
            <a:r>
              <a:rPr lang="fr-FR" sz="1700" b="1" u="sng">
                <a:solidFill>
                  <a:schemeClr val="hlink"/>
                </a:solidFill>
                <a:hlinkClick r:id="rId7" action="ppaction://hlinksldjump" tooltip="Diapositive 11"/>
              </a:rPr>
              <a:t>5 Comparaison de modèles d'embeddings</a:t>
            </a:r>
            <a:endParaRPr sz="1700" b="1" u="sng">
              <a:solidFill>
                <a:schemeClr val="tx1"/>
              </a:solidFill>
            </a:endParaRPr>
          </a:p>
          <a:p>
            <a:pPr lvl="0">
              <a:lnSpc>
                <a:spcPct val="200000"/>
              </a:lnSpc>
              <a:defRPr/>
            </a:pPr>
            <a:r>
              <a:rPr lang="fr-FR" sz="1700" b="1" i="0" u="sng" strike="noStrike" cap="none" spc="0">
                <a:solidFill>
                  <a:schemeClr val="hlink"/>
                </a:solidFill>
                <a:latin typeface="Source Sans Pro"/>
                <a:ea typeface="Source Sans Pro"/>
                <a:cs typeface="Source Sans Pro"/>
                <a:hlinkClick r:id="rId8" action="ppaction://hlinksldjump" tooltip="Diapositive 19"/>
              </a:rPr>
              <a:t>6 Conclusion</a:t>
            </a:r>
            <a:endParaRPr sz="1700" b="1" u="sng">
              <a:solidFill>
                <a:schemeClr val="tx1"/>
              </a:solidFill>
            </a:endParaRPr>
          </a:p>
        </p:txBody>
      </p:sp>
      <p:sp>
        <p:nvSpPr>
          <p:cNvPr id="1997470055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9E1C5022-64DE-6212-1F2B-DF3A7A0C0E87}" type="slidenum">
              <a:rPr lang="fr-FR"/>
              <a:t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bldLst>
      <p:bldP spid="1337844691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4574926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282887" y="1420677"/>
            <a:ext cx="9626225" cy="1059209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/>
              <a:t>Introduction</a:t>
            </a:r>
            <a:endParaRPr/>
          </a:p>
        </p:txBody>
      </p:sp>
      <p:sp>
        <p:nvSpPr>
          <p:cNvPr id="1119915134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B9804DC6-9870-9FB8-3039-899F63A512D1}" type="slidenum">
              <a:rPr lang="fr-FR"/>
              <a:t/>
            </a:fld>
            <a:endParaRPr/>
          </a:p>
        </p:txBody>
      </p:sp>
      <p:pic>
        <p:nvPicPr>
          <p:cNvPr id="43944918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160864" y="2415092"/>
            <a:ext cx="7870271" cy="31180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7466964" name="Title 1"/>
          <p:cNvSpPr>
            <a:spLocks noGrp="1"/>
          </p:cNvSpPr>
          <p:nvPr>
            <p:ph type="title"/>
          </p:nvPr>
        </p:nvSpPr>
        <p:spPr bwMode="auto">
          <a:xfrm>
            <a:off x="1261782" y="365122"/>
            <a:ext cx="9668435" cy="1325561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/>
              <a:t>1 Introduction</a:t>
            </a:r>
            <a:endParaRPr/>
          </a:p>
        </p:txBody>
      </p:sp>
      <p:sp>
        <p:nvSpPr>
          <p:cNvPr id="1364511605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lvl="0" indent="0">
              <a:spcBef>
                <a:spcPts val="2998"/>
              </a:spcBef>
              <a:buNone/>
              <a:defRPr/>
            </a:pPr>
            <a:r>
              <a:rPr lang="fr-FR" b="1"/>
              <a:t>1.1 Contexte</a:t>
            </a:r>
            <a:endParaRPr lang="fr-FR"/>
          </a:p>
          <a:p>
            <a:pPr marL="0" lvl="0" indent="0">
              <a:buNone/>
              <a:defRPr/>
            </a:pPr>
            <a:r>
              <a:rPr lang="fr-FR" sz="1700" b="0" i="0" u="none" strike="noStrike" cap="none" spc="0">
                <a:solidFill>
                  <a:srgbClr val="404040"/>
                </a:solidFill>
                <a:latin typeface="Source Sans Pro"/>
                <a:ea typeface="Source Sans Pro"/>
                <a:cs typeface="Source Sans Pro"/>
              </a:rPr>
              <a:t>L’entreprise place de marché propose des crédits à la consommation </a:t>
            </a:r>
            <a:r>
              <a:rPr lang="fr-FR" sz="1700" b="0" i="0" u="none" strike="noStrike" cap="none" spc="0">
                <a:solidFill>
                  <a:srgbClr val="404040"/>
                </a:solidFill>
                <a:latin typeface="Source Sans Pro"/>
                <a:ea typeface="Source Sans Pro"/>
                <a:cs typeface="Source Sans Pro"/>
              </a:rPr>
              <a:t>pour des personnes ayant peu ou pas du tout d'historique de prêt.</a:t>
            </a:r>
            <a:endParaRPr lang="fr-FR"/>
          </a:p>
          <a:p>
            <a:pPr marL="0" lvl="0" indent="0">
              <a:lnSpc>
                <a:spcPct val="100000"/>
              </a:lnSpc>
              <a:spcBef>
                <a:spcPts val="2998"/>
              </a:spcBef>
              <a:buNone/>
              <a:defRPr/>
            </a:pPr>
            <a:r>
              <a:rPr lang="fr-FR" b="1"/>
              <a:t>1.2 Mission</a:t>
            </a:r>
            <a:endParaRPr lang="fr-FR" b="1"/>
          </a:p>
          <a:p>
            <a:pPr marL="0" lvl="0" indent="0">
              <a:lnSpc>
                <a:spcPct val="90000"/>
              </a:lnSpc>
              <a:spcBef>
                <a:spcPts val="566"/>
              </a:spcBef>
              <a:buNone/>
              <a:defRPr/>
            </a:pPr>
            <a:r>
              <a:rPr lang="fr-FR" b="0"/>
              <a:t>Formulation de la problématique :</a:t>
            </a:r>
            <a:endParaRPr b="0"/>
          </a:p>
          <a:p>
            <a:pPr>
              <a:defRPr/>
            </a:pPr>
            <a:r>
              <a:rPr lang="fr-FR" sz="1600" b="0" i="0" u="none" strike="noStrike" cap="none" spc="0">
                <a:solidFill>
                  <a:srgbClr val="404040"/>
                </a:solidFill>
                <a:latin typeface="Source Sans Pro"/>
                <a:ea typeface="Source Sans Pro"/>
                <a:cs typeface="Source Sans Pro"/>
              </a:rPr>
              <a:t>Calculer la probabilité qu’un client rembourse</a:t>
            </a:r>
            <a:endParaRPr lang="fr-FR" sz="1600" b="0" i="0" u="none" strike="noStrike" cap="none" spc="0">
              <a:solidFill>
                <a:srgbClr val="404040"/>
              </a:solidFill>
              <a:latin typeface="Source Sans Pro"/>
              <a:ea typeface="Source Sans Pro"/>
              <a:cs typeface="Source Sans Pro"/>
            </a:endParaRPr>
          </a:p>
          <a:p>
            <a:pPr marL="228600" marR="0" indent="-228600" algn="l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sz="1600" b="0" i="0" u="none" strike="noStrike" cap="none" spc="0">
                <a:solidFill>
                  <a:srgbClr val="404040"/>
                </a:solidFill>
                <a:latin typeface="Source Sans Pro"/>
                <a:ea typeface="Source Sans Pro"/>
                <a:cs typeface="Source Sans Pro"/>
              </a:rPr>
              <a:t>Classifier la demande en crédit accordé ou refusé.</a:t>
            </a:r>
            <a:endParaRPr sz="1600" b="0" i="0" u="none" strike="noStrike" cap="none" spc="0">
              <a:solidFill>
                <a:srgbClr val="404040"/>
              </a:solidFill>
              <a:latin typeface="Source Sans Pro"/>
              <a:cs typeface="Source Sans Pro"/>
            </a:endParaRPr>
          </a:p>
          <a:p>
            <a:pPr lvl="0">
              <a:defRPr/>
            </a:pPr>
            <a:endParaRPr>
              <a:latin typeface="Source Sans Pro"/>
              <a:cs typeface="Source Sans Pro"/>
            </a:endParaRPr>
          </a:p>
          <a:p>
            <a:pPr marL="0" lvl="0" indent="0">
              <a:spcBef>
                <a:spcPts val="2997"/>
              </a:spcBef>
              <a:buNone/>
              <a:defRPr/>
            </a:pPr>
            <a:r>
              <a:rPr lang="fr-FR" sz="1700" b="1" i="0" u="none" strike="noStrike" cap="none" spc="0">
                <a:solidFill>
                  <a:srgbClr val="404040"/>
                </a:solidFill>
                <a:latin typeface="Source Sans Pro"/>
                <a:ea typeface="Source Sans Pro"/>
                <a:cs typeface="Source Sans Pro"/>
              </a:rPr>
              <a:t>1.3 Données</a:t>
            </a:r>
            <a:endParaRPr sz="1700"/>
          </a:p>
          <a:p>
            <a:pPr lvl="0">
              <a:defRPr/>
            </a:pPr>
            <a:r>
              <a:rPr lang="fr-FR" sz="1700" b="0" i="0" u="none" strike="noStrike" cap="none" spc="0">
                <a:solidFill>
                  <a:srgbClr val="404040"/>
                </a:solidFill>
                <a:latin typeface="Source Sans Pro"/>
                <a:ea typeface="Source Sans Pro"/>
                <a:cs typeface="Source Sans Pro"/>
              </a:rPr>
              <a:t>Jeu de données contenant des informations sur les clients ( </a:t>
            </a:r>
            <a:r>
              <a:rPr lang="fr-FR" sz="1700" b="0" i="0" u="none" strike="noStrike" cap="none" spc="0">
                <a:solidFill>
                  <a:srgbClr val="404040"/>
                </a:solidFill>
                <a:latin typeface="Source Sans Pro"/>
                <a:ea typeface="Source Sans Pro"/>
                <a:cs typeface="Source Sans Pro"/>
              </a:rPr>
              <a:t>données comportementales, données provenant d'autres institutions financières)</a:t>
            </a:r>
            <a:endParaRPr lang="fr-FR"/>
          </a:p>
        </p:txBody>
      </p:sp>
      <p:sp>
        <p:nvSpPr>
          <p:cNvPr id="569460224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0AA2E8BE-E580-DDD9-503B-2C68CB1BFE61}" type="slidenum">
              <a:rPr lang="fr-FR"/>
              <a:t/>
            </a:fld>
            <a:endParaRPr/>
          </a:p>
        </p:txBody>
      </p:sp>
      <p:pic>
        <p:nvPicPr>
          <p:cNvPr id="1851999578" name=""/>
          <p:cNvPicPr>
            <a:picLocks noChangeAspect="1"/>
          </p:cNvPicPr>
          <p:nvPr/>
        </p:nvPicPr>
        <p:blipFill>
          <a:blip r:embed="rId3"/>
          <a:srcRect l="45669" t="0" r="0" b="0"/>
          <a:stretch/>
        </p:blipFill>
        <p:spPr bwMode="auto">
          <a:xfrm flipH="0" flipV="0">
            <a:off x="5748940" y="266237"/>
            <a:ext cx="1953432" cy="14244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bldLst>
      <p:bldP spid="1364511605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1938974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723170" y="1709734"/>
            <a:ext cx="10745656" cy="2852734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 marL="0" lvl="0" indent="0">
              <a:buNone/>
              <a:defRPr/>
            </a:pPr>
            <a:r>
              <a:rPr lang="fr-FR"/>
              <a:t>2 </a:t>
            </a:r>
            <a:r>
              <a:rPr lang="fr-FR" sz="60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Présentation et démonstration du tableau de bord</a:t>
            </a:r>
            <a:endParaRPr lang="fr-FR"/>
          </a:p>
        </p:txBody>
      </p:sp>
      <p:sp>
        <p:nvSpPr>
          <p:cNvPr id="606528177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3E3EC634-E74E-A503-A4D7-322A616FDBBD}" type="slidenum">
              <a:rPr lang="fr-FR"/>
              <a:t/>
            </a:fld>
            <a:endParaRPr/>
          </a:p>
        </p:txBody>
      </p:sp>
      <p:pic>
        <p:nvPicPr>
          <p:cNvPr id="1964965532" name=""/>
          <p:cNvPicPr>
            <a:picLocks noChangeAspect="1"/>
          </p:cNvPicPr>
          <p:nvPr/>
        </p:nvPicPr>
        <p:blipFill>
          <a:blip r:embed="rId3"/>
          <a:srcRect l="45669" t="0" r="0" b="0"/>
          <a:stretch/>
        </p:blipFill>
        <p:spPr bwMode="auto">
          <a:xfrm flipH="0" flipV="0">
            <a:off x="10543728" y="5612294"/>
            <a:ext cx="1485253" cy="108304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806067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2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2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Présentation et démonstration du tableau de bord</a:t>
            </a:r>
            <a:endParaRPr sz="3600"/>
          </a:p>
        </p:txBody>
      </p:sp>
      <p:sp>
        <p:nvSpPr>
          <p:cNvPr id="757138122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2" y="980372"/>
            <a:ext cx="2743200" cy="36512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669B3EAA-B931-2F05-0E04-BBE1C4C2B1C5}" type="slidenum">
              <a:rPr lang="fr-FR"/>
              <a:t/>
            </a:fld>
            <a:endParaRPr/>
          </a:p>
        </p:txBody>
      </p:sp>
      <p:pic>
        <p:nvPicPr>
          <p:cNvPr id="2135574819" name=""/>
          <p:cNvPicPr>
            <a:picLocks noChangeAspect="1"/>
          </p:cNvPicPr>
          <p:nvPr/>
        </p:nvPicPr>
        <p:blipFill>
          <a:blip r:embed="rId3"/>
          <a:srcRect l="45669" t="0" r="0" b="0"/>
          <a:stretch/>
        </p:blipFill>
        <p:spPr bwMode="auto">
          <a:xfrm flipH="0" flipV="0">
            <a:off x="10543726" y="5612292"/>
            <a:ext cx="1485252" cy="1083046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graphicFrame>
        <p:nvGraphicFramePr>
          <p:cNvPr id="1446066120" name=""/>
          <p:cNvGraphicFramePr>
            <a:graphicFrameLocks xmlns:a="http://schemas.openxmlformats.org/drawingml/2006/main" noChangeAspect="1"/>
          </p:cNvGraphicFramePr>
          <p:nvPr/>
        </p:nvGraphicFramePr>
        <p:xfrm flipH="0" flipV="0">
          <a:off x="2228546" y="2137498"/>
          <a:ext cx="7832250" cy="4127172"/>
        </p:xfrm>
        <a:graphic>
          <a:graphicData uri="http://schemas.openxmlformats.org/presentationml/2006/ole">
            <p:oleObj name="oleObj" r:id="rId5" imgW="6010275" imgH="3162300" progId="asc.{DB38923B-A8C0-4DE9-8AEE-A61BB5C901A5}">
              <p:embed/>
              <p:pic>
                <p:nvPicPr>
                  <p:cNvPr id="1446066120" name=""/>
                  <p:cNvPicPr/>
                  <p:nvPr/>
                </p:nvPicPr>
                <p:blipFill>
                  <a:blip r:embed="rId4"/>
                  <a:stretch/>
                </p:blipFill>
                <p:spPr bwMode="auto">
                  <a:xfrm flipH="0" flipV="0">
                    <a:off x="2228546" y="2137498"/>
                    <a:ext cx="7832250" cy="412717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3208911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723169" y="1709733"/>
            <a:ext cx="10745655" cy="285273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 marL="0" lvl="0" indent="0">
              <a:buNone/>
              <a:defRPr/>
            </a:pPr>
            <a:r>
              <a:rPr lang="fr-FR"/>
              <a:t>3 Présentation du dashboard</a:t>
            </a:r>
            <a:endParaRPr lang="fr-FR"/>
          </a:p>
        </p:txBody>
      </p:sp>
      <p:sp>
        <p:nvSpPr>
          <p:cNvPr id="1408559813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1B1C71A3-5EF4-88CC-AA7C-D65195906E2A}" type="slidenum">
              <a:rPr lang="fr-FR"/>
              <a:t/>
            </a:fld>
            <a:endParaRPr/>
          </a:p>
        </p:txBody>
      </p:sp>
      <p:pic>
        <p:nvPicPr>
          <p:cNvPr id="1476788350" name=""/>
          <p:cNvPicPr>
            <a:picLocks noChangeAspect="1"/>
          </p:cNvPicPr>
          <p:nvPr/>
        </p:nvPicPr>
        <p:blipFill>
          <a:blip r:embed="rId3"/>
          <a:srcRect l="45669" t="0" r="0" b="0"/>
          <a:stretch/>
        </p:blipFill>
        <p:spPr bwMode="auto">
          <a:xfrm flipH="0" flipV="0">
            <a:off x="10543727" y="5612293"/>
            <a:ext cx="1485252" cy="108304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7555805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3" y="980373"/>
            <a:ext cx="2743200" cy="3651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AFB824EA-43EC-8A9E-BCD8-7265B30E0573}" type="slidenum">
              <a:rPr lang="fr-FR"/>
              <a:t/>
            </a:fld>
            <a:endParaRPr/>
          </a:p>
        </p:txBody>
      </p:sp>
      <p:pic>
        <p:nvPicPr>
          <p:cNvPr id="796092632" name=""/>
          <p:cNvPicPr>
            <a:picLocks noChangeAspect="1"/>
          </p:cNvPicPr>
          <p:nvPr/>
        </p:nvPicPr>
        <p:blipFill>
          <a:blip r:embed="rId3"/>
          <a:srcRect l="45669" t="0" r="0" b="0"/>
          <a:stretch/>
        </p:blipFill>
        <p:spPr bwMode="auto">
          <a:xfrm flipH="0" flipV="0">
            <a:off x="10543726" y="5612292"/>
            <a:ext cx="1485252" cy="1083046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68211344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0" y="365121"/>
            <a:ext cx="10036791" cy="1325556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 marL="0" lvl="0" indent="0" algn="l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3 </a:t>
            </a:r>
            <a:r>
              <a:rPr sz="3600"/>
              <a:t>Présentation du dashboard</a:t>
            </a:r>
            <a:endParaRPr sz="3600"/>
          </a:p>
        </p:txBody>
      </p:sp>
      <p:sp>
        <p:nvSpPr>
          <p:cNvPr id="539737827" name=""/>
          <p:cNvSpPr txBox="1"/>
          <p:nvPr/>
        </p:nvSpPr>
        <p:spPr bwMode="auto">
          <a:xfrm rot="0" flipH="0" flipV="0">
            <a:off x="1077600" y="2035313"/>
            <a:ext cx="7448839" cy="3661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u="sng">
                <a:solidFill>
                  <a:schemeClr val="hlink"/>
                </a:solidFill>
                <a:latin typeface="Source Sans Pro"/>
                <a:ea typeface="Source Sans Pro"/>
                <a:cs typeface="Source Sans Pro"/>
                <a:hlinkClick r:id="rId4" tooltip=""/>
              </a:rPr>
              <a:t>https://laguill-implementer-model-scoring.hf.space/pages/dashboard_v2/</a:t>
            </a:r>
            <a:endParaRPr>
              <a:latin typeface="Source Sans Pro"/>
              <a:cs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8273356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723168" y="1709732"/>
            <a:ext cx="10745654" cy="2852732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 marL="0" lvl="0" indent="0">
              <a:buNone/>
              <a:defRPr/>
            </a:pPr>
            <a:r>
              <a:rPr lang="fr-FR"/>
              <a:t>4 Seconde problématique</a:t>
            </a:r>
            <a:endParaRPr lang="fr-FR"/>
          </a:p>
        </p:txBody>
      </p:sp>
      <p:sp>
        <p:nvSpPr>
          <p:cNvPr id="626692126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3" y="980373"/>
            <a:ext cx="2743200" cy="3651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D03D5F57-8C27-5C7F-7D0A-64A5664A2757}" type="slidenum">
              <a:rPr lang="fr-FR"/>
              <a:t/>
            </a:fld>
            <a:endParaRPr/>
          </a:p>
        </p:txBody>
      </p:sp>
      <p:pic>
        <p:nvPicPr>
          <p:cNvPr id="37646443" name=""/>
          <p:cNvPicPr>
            <a:picLocks noChangeAspect="1"/>
          </p:cNvPicPr>
          <p:nvPr/>
        </p:nvPicPr>
        <p:blipFill>
          <a:blip r:embed="rId3"/>
          <a:srcRect l="45669" t="0" r="0" b="0"/>
          <a:stretch/>
        </p:blipFill>
        <p:spPr bwMode="auto">
          <a:xfrm flipH="0" flipV="0">
            <a:off x="10543726" y="5612292"/>
            <a:ext cx="1485252" cy="1083046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841907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1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4 </a:t>
            </a:r>
            <a:r>
              <a:rPr sz="3600"/>
              <a:t>Seconde problématique</a:t>
            </a:r>
            <a:endParaRPr sz="3600"/>
          </a:p>
        </p:txBody>
      </p:sp>
      <p:sp>
        <p:nvSpPr>
          <p:cNvPr id="978528722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1" y="980371"/>
            <a:ext cx="2743200" cy="36512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9B61A3F7-F2FD-97E7-E0A7-8404BF7323BD}" type="slidenum">
              <a:rPr lang="fr-FR"/>
              <a:t/>
            </a:fld>
            <a:endParaRPr/>
          </a:p>
        </p:txBody>
      </p:sp>
      <p:sp>
        <p:nvSpPr>
          <p:cNvPr id="67682945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261781" y="1825622"/>
            <a:ext cx="9668432" cy="98344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>
              <a:lnSpc>
                <a:spcPct val="150000"/>
              </a:lnSpc>
              <a:defRPr/>
            </a:pPr>
            <a:r>
              <a:rPr lang="fr-FR"/>
              <a:t>Etat de l’art sur une technique récente de modélisation de texte</a:t>
            </a:r>
            <a:endParaRPr lang="fr-FR"/>
          </a:p>
          <a:p>
            <a:pPr>
              <a:lnSpc>
                <a:spcPct val="150000"/>
              </a:lnSpc>
              <a:defRPr/>
            </a:pPr>
            <a:r>
              <a:rPr lang="fr-FR"/>
              <a:t>Analyser, tester et comparer à une approche plus classique réalisée précédemment</a:t>
            </a:r>
            <a:endParaRPr lang="fr-FR"/>
          </a:p>
        </p:txBody>
      </p:sp>
      <p:pic>
        <p:nvPicPr>
          <p:cNvPr id="79519550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687679" y="2879690"/>
            <a:ext cx="4240710" cy="2120355"/>
          </a:xfrm>
          <a:prstGeom prst="rect">
            <a:avLst/>
          </a:prstGeom>
        </p:spPr>
      </p:pic>
      <p:sp>
        <p:nvSpPr>
          <p:cNvPr id="61019463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441781" y="5153716"/>
            <a:ext cx="9668432" cy="98344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>
              <a:lnSpc>
                <a:spcPct val="150000"/>
              </a:lnSpc>
              <a:defRPr/>
            </a:pPr>
            <a:r>
              <a:rPr lang="fr-FR"/>
              <a:t>Librairie python qui simplifie  l’utilisation de modèles de NLP référencés sur huggingface.</a:t>
            </a:r>
            <a:endParaRPr lang="fr-FR"/>
          </a:p>
          <a:p>
            <a:pPr>
              <a:lnSpc>
                <a:spcPct val="150000"/>
              </a:lnSpc>
              <a:defRPr/>
            </a:pPr>
            <a:r>
              <a:rPr lang="fr-FR"/>
              <a:t>Facilite la vectorisation de mots et phrases d’un corpus de texte.</a:t>
            </a: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744980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723168" y="1709732"/>
            <a:ext cx="10745654" cy="2852732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 marL="0" lvl="0" indent="0">
              <a:buNone/>
              <a:defRPr/>
            </a:pPr>
            <a:r>
              <a:rPr lang="fr-FR"/>
              <a:t>5 Comparaiso</a:t>
            </a:r>
            <a:r>
              <a:rPr lang="fr-FR"/>
              <a:t>n de modèles d’embeddings</a:t>
            </a:r>
            <a:endParaRPr lang="fr-FR"/>
          </a:p>
        </p:txBody>
      </p:sp>
      <p:sp>
        <p:nvSpPr>
          <p:cNvPr id="665369361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3" y="980373"/>
            <a:ext cx="2743200" cy="3651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D32335B8-8614-F69F-8208-B493A7AEE254}" type="slidenum">
              <a:rPr lang="fr-FR"/>
              <a:t/>
            </a:fld>
            <a:endParaRPr/>
          </a:p>
        </p:txBody>
      </p:sp>
      <p:pic>
        <p:nvPicPr>
          <p:cNvPr id="59549443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477499" y="5989448"/>
            <a:ext cx="1520125" cy="76006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528826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1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5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Comparaison de modèles d’embeddings</a:t>
            </a:r>
            <a:endParaRPr sz="3600"/>
          </a:p>
        </p:txBody>
      </p:sp>
      <p:sp>
        <p:nvSpPr>
          <p:cNvPr id="944689335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1" y="980371"/>
            <a:ext cx="2743200" cy="36512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38DDD337-1351-A34E-9469-94DE8F1EE7FA}" type="slidenum">
              <a:rPr lang="fr-FR"/>
              <a:t/>
            </a:fld>
            <a:endParaRPr/>
          </a:p>
        </p:txBody>
      </p:sp>
      <p:graphicFrame>
        <p:nvGraphicFramePr>
          <p:cNvPr id="1672343804" name=""/>
          <p:cNvGraphicFramePr>
            <a:graphicFrameLocks xmlns:a="http://schemas.openxmlformats.org/drawingml/2006/main" noChangeAspect="1"/>
          </p:cNvGraphicFramePr>
          <p:nvPr/>
        </p:nvGraphicFramePr>
        <p:xfrm flipH="0" flipV="0">
          <a:off x="2197207" y="1479351"/>
          <a:ext cx="7797584" cy="5124126"/>
        </p:xfrm>
        <a:graphic>
          <a:graphicData uri="http://schemas.openxmlformats.org/presentationml/2006/ole">
            <p:oleObj name="oleObj" r:id="rId4" imgW="6296025" imgH="4133850" progId="asc.{DB38923B-A8C0-4DE9-8AEE-A61BB5C901A5}">
              <p:embed/>
              <p:pic>
                <p:nvPicPr>
                  <p:cNvPr id="1672343804" name=""/>
                  <p:cNvPicPr/>
                  <p:nvPr/>
                </p:nvPicPr>
                <p:blipFill>
                  <a:blip r:embed="rId3"/>
                  <a:stretch/>
                </p:blipFill>
                <p:spPr bwMode="auto">
                  <a:xfrm flipH="0" flipV="0">
                    <a:off x="2197207" y="1479351"/>
                    <a:ext cx="7797584" cy="5124126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pic>
        <p:nvPicPr>
          <p:cNvPr id="929231377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10477499" y="5989448"/>
            <a:ext cx="1520124" cy="7600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1140694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1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5 </a:t>
            </a:r>
            <a:r>
              <a:rPr sz="3600"/>
              <a:t>Comparaison de modèles d’embeddings</a:t>
            </a:r>
            <a:endParaRPr sz="3600"/>
          </a:p>
        </p:txBody>
      </p:sp>
      <p:sp>
        <p:nvSpPr>
          <p:cNvPr id="1967887749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1" y="980371"/>
            <a:ext cx="2743200" cy="36512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20FDBC6F-811B-D499-4DD6-3DDB02FCF85C}" type="slidenum">
              <a:rPr lang="fr-FR"/>
              <a:t/>
            </a:fld>
            <a:endParaRPr/>
          </a:p>
        </p:txBody>
      </p:sp>
      <p:graphicFrame>
        <p:nvGraphicFramePr>
          <p:cNvPr id="2055838269" name=""/>
          <p:cNvGraphicFramePr>
            <a:graphicFrameLocks xmlns:a="http://schemas.openxmlformats.org/drawingml/2006/main" noChangeAspect="1"/>
          </p:cNvGraphicFramePr>
          <p:nvPr/>
        </p:nvGraphicFramePr>
        <p:xfrm flipH="0" flipV="0">
          <a:off x="1949058" y="1582118"/>
          <a:ext cx="8293875" cy="4846342"/>
        </p:xfrm>
        <a:graphic>
          <a:graphicData uri="http://schemas.openxmlformats.org/presentationml/2006/ole">
            <p:oleObj name="oleObj" r:id="rId4" imgW="7191375" imgH="4029075" progId="asc.{DB38923B-A8C0-4DE9-8AEE-A61BB5C901A5}">
              <p:embed/>
              <p:pic>
                <p:nvPicPr>
                  <p:cNvPr id="2055838269" name=""/>
                  <p:cNvPicPr/>
                  <p:nvPr/>
                </p:nvPicPr>
                <p:blipFill>
                  <a:blip r:embed="rId3"/>
                  <a:stretch/>
                </p:blipFill>
                <p:spPr bwMode="auto">
                  <a:xfrm flipH="0" flipV="0">
                    <a:off x="1949058" y="1582118"/>
                    <a:ext cx="8293875" cy="484634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pic>
        <p:nvPicPr>
          <p:cNvPr id="272346276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10477499" y="5989448"/>
            <a:ext cx="1520124" cy="7600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99784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1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5 </a:t>
            </a:r>
            <a:r>
              <a:rPr sz="3600"/>
              <a:t>Comparaison de modèles d’embeddings</a:t>
            </a:r>
            <a:endParaRPr sz="3600"/>
          </a:p>
        </p:txBody>
      </p:sp>
      <p:sp>
        <p:nvSpPr>
          <p:cNvPr id="1472533797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1" y="980371"/>
            <a:ext cx="2743200" cy="36512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419CBDAF-339F-9DE6-2575-27B08AB0FE5C}" type="slidenum">
              <a:rPr lang="fr-FR"/>
              <a:t/>
            </a:fld>
            <a:endParaRPr/>
          </a:p>
        </p:txBody>
      </p:sp>
      <p:pic>
        <p:nvPicPr>
          <p:cNvPr id="210228034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477499" y="5989448"/>
            <a:ext cx="1520124" cy="760061"/>
          </a:xfrm>
          <a:prstGeom prst="rect">
            <a:avLst/>
          </a:prstGeom>
        </p:spPr>
      </p:pic>
      <p:graphicFrame>
        <p:nvGraphicFramePr>
          <p:cNvPr id="876856094" name=""/>
          <p:cNvGraphicFramePr>
            <a:graphicFrameLocks xmlns:a="http://schemas.openxmlformats.org/drawingml/2006/main" noChangeAspect="1"/>
          </p:cNvGraphicFramePr>
          <p:nvPr/>
        </p:nvGraphicFramePr>
        <p:xfrm flipH="0" flipV="0">
          <a:off x="764477" y="1749094"/>
          <a:ext cx="10473084" cy="4552026"/>
        </p:xfrm>
        <a:graphic>
          <a:graphicData uri="http://schemas.openxmlformats.org/presentationml/2006/ole">
            <p:oleObj name="oleObj" r:id="rId5" imgW="11010900" imgH="4781550" progId="asc.{DB38923B-A8C0-4DE9-8AEE-A61BB5C901A5}">
              <p:embed/>
              <p:pic>
                <p:nvPicPr>
                  <p:cNvPr id="876856094" name=""/>
                  <p:cNvPicPr/>
                  <p:nvPr/>
                </p:nvPicPr>
                <p:blipFill>
                  <a:blip r:embed="rId4"/>
                  <a:stretch/>
                </p:blipFill>
                <p:spPr bwMode="auto">
                  <a:xfrm flipH="0" flipV="0">
                    <a:off x="764477" y="1749094"/>
                    <a:ext cx="10473084" cy="4552026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894631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1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5 </a:t>
            </a:r>
            <a:r>
              <a:rPr sz="3600"/>
              <a:t>Comparaison de modèles d’embeddings</a:t>
            </a:r>
            <a:endParaRPr sz="3600"/>
          </a:p>
        </p:txBody>
      </p:sp>
      <p:sp>
        <p:nvSpPr>
          <p:cNvPr id="1850280639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1" y="980371"/>
            <a:ext cx="2743200" cy="36512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63A7F163-DFCC-B55A-210C-9284EA7BCA07}" type="slidenum">
              <a:rPr lang="fr-FR"/>
              <a:t/>
            </a:fld>
            <a:endParaRPr/>
          </a:p>
        </p:txBody>
      </p:sp>
      <p:pic>
        <p:nvPicPr>
          <p:cNvPr id="36628594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477499" y="5989448"/>
            <a:ext cx="1520124" cy="760061"/>
          </a:xfrm>
          <a:prstGeom prst="rect">
            <a:avLst/>
          </a:prstGeom>
        </p:spPr>
      </p:pic>
      <p:graphicFrame>
        <p:nvGraphicFramePr>
          <p:cNvPr id="1394707192" name=""/>
          <p:cNvGraphicFramePr>
            <a:graphicFrameLocks xmlns:a="http://schemas.openxmlformats.org/drawingml/2006/main" noChangeAspect="1"/>
          </p:cNvGraphicFramePr>
          <p:nvPr/>
        </p:nvGraphicFramePr>
        <p:xfrm flipH="0" flipV="0">
          <a:off x="3018533" y="1469109"/>
          <a:ext cx="5756291" cy="4709692"/>
        </p:xfrm>
        <a:graphic>
          <a:graphicData uri="http://schemas.openxmlformats.org/presentationml/2006/ole">
            <p:oleObj name="oleObj" r:id="rId5" imgW="7915275" imgH="6477000" progId="asc.{DB38923B-A8C0-4DE9-8AEE-A61BB5C901A5}">
              <p:embed/>
              <p:pic>
                <p:nvPicPr>
                  <p:cNvPr id="1394707192" name=""/>
                  <p:cNvPicPr/>
                  <p:nvPr/>
                </p:nvPicPr>
                <p:blipFill>
                  <a:blip r:embed="rId4"/>
                  <a:stretch/>
                </p:blipFill>
                <p:spPr bwMode="auto">
                  <a:xfrm flipH="0" flipV="0">
                    <a:off x="3018533" y="1469109"/>
                    <a:ext cx="5756291" cy="470969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471081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1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5 </a:t>
            </a:r>
            <a:r>
              <a:rPr sz="3600"/>
              <a:t>Comparaison de modèles d’embeddings</a:t>
            </a:r>
            <a:endParaRPr sz="3600"/>
          </a:p>
        </p:txBody>
      </p:sp>
      <p:sp>
        <p:nvSpPr>
          <p:cNvPr id="1867918999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1" y="980371"/>
            <a:ext cx="2743200" cy="36512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D828EF4C-C203-B5CD-74A7-6F8A3D82C875}" type="slidenum">
              <a:rPr lang="fr-FR"/>
              <a:t/>
            </a:fld>
            <a:endParaRPr/>
          </a:p>
        </p:txBody>
      </p:sp>
      <p:pic>
        <p:nvPicPr>
          <p:cNvPr id="154949306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477499" y="5989448"/>
            <a:ext cx="1520124" cy="760061"/>
          </a:xfrm>
          <a:prstGeom prst="rect">
            <a:avLst/>
          </a:prstGeom>
        </p:spPr>
      </p:pic>
      <p:graphicFrame>
        <p:nvGraphicFramePr>
          <p:cNvPr id="1139875001" name=""/>
          <p:cNvGraphicFramePr>
            <a:graphicFrameLocks xmlns:a="http://schemas.openxmlformats.org/drawingml/2006/main" noChangeAspect="1"/>
          </p:cNvGraphicFramePr>
          <p:nvPr/>
        </p:nvGraphicFramePr>
        <p:xfrm flipH="0" flipV="0">
          <a:off x="3326262" y="1469109"/>
          <a:ext cx="5539474" cy="4923977"/>
        </p:xfrm>
        <a:graphic>
          <a:graphicData uri="http://schemas.openxmlformats.org/presentationml/2006/ole">
            <p:oleObj name="oleObj" r:id="rId5" imgW="4857750" imgH="4314825" progId="asc.{DB38923B-A8C0-4DE9-8AEE-A61BB5C901A5}">
              <p:embed/>
              <p:pic>
                <p:nvPicPr>
                  <p:cNvPr id="1139875001" name=""/>
                  <p:cNvPicPr/>
                  <p:nvPr/>
                </p:nvPicPr>
                <p:blipFill>
                  <a:blip r:embed="rId4"/>
                  <a:stretch/>
                </p:blipFill>
                <p:spPr bwMode="auto">
                  <a:xfrm flipH="0" flipV="0">
                    <a:off x="3326262" y="1469109"/>
                    <a:ext cx="5539474" cy="492397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652839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1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5 </a:t>
            </a:r>
            <a:r>
              <a:rPr sz="3600"/>
              <a:t>Comparaison de modèles d’embeddings</a:t>
            </a:r>
            <a:endParaRPr sz="3600"/>
          </a:p>
        </p:txBody>
      </p:sp>
      <p:sp>
        <p:nvSpPr>
          <p:cNvPr id="1130684099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1" y="980371"/>
            <a:ext cx="2743200" cy="36512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066A2C81-7E90-3E18-D30F-DDDC5C4FC4BF}" type="slidenum">
              <a:rPr lang="fr-FR"/>
              <a:t/>
            </a:fld>
            <a:endParaRPr/>
          </a:p>
        </p:txBody>
      </p:sp>
      <p:pic>
        <p:nvPicPr>
          <p:cNvPr id="92756998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477499" y="5989448"/>
            <a:ext cx="1520124" cy="760061"/>
          </a:xfrm>
          <a:prstGeom prst="rect">
            <a:avLst/>
          </a:prstGeom>
        </p:spPr>
      </p:pic>
      <p:graphicFrame>
        <p:nvGraphicFramePr>
          <p:cNvPr id="55863096" name=""/>
          <p:cNvGraphicFramePr>
            <a:graphicFrameLocks xmlns:a="http://schemas.openxmlformats.org/drawingml/2006/main" noChangeAspect="1"/>
          </p:cNvGraphicFramePr>
          <p:nvPr/>
        </p:nvGraphicFramePr>
        <p:xfrm flipH="0" flipV="0">
          <a:off x="1255547" y="1345493"/>
          <a:ext cx="1512000" cy="540000"/>
        </p:xfrm>
        <a:graphic>
          <a:graphicData uri="http://schemas.openxmlformats.org/presentationml/2006/ole">
            <p:oleObj name="oleObj" r:id="rId5" imgW="1504950" imgH="533400" progId="asc.{DB38923B-A8C0-4DE9-8AEE-A61BB5C901A5}">
              <p:embed/>
              <p:pic>
                <p:nvPicPr>
                  <p:cNvPr id="55863096" name=""/>
                  <p:cNvPicPr/>
                  <p:nvPr/>
                </p:nvPicPr>
                <p:blipFill>
                  <a:blip r:embed="rId4"/>
                  <a:stretch/>
                </p:blipFill>
                <p:spPr bwMode="auto">
                  <a:xfrm flipH="0" flipV="0">
                    <a:off x="1255547" y="1345493"/>
                    <a:ext cx="1512000" cy="5400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pic>
        <p:nvPicPr>
          <p:cNvPr id="153105820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2878159" y="1790376"/>
            <a:ext cx="6667499" cy="47624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757651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1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5 </a:t>
            </a:r>
            <a:r>
              <a:rPr sz="3600"/>
              <a:t>Comparaison de modèles d’embeddings</a:t>
            </a:r>
            <a:endParaRPr sz="3600"/>
          </a:p>
        </p:txBody>
      </p:sp>
      <p:sp>
        <p:nvSpPr>
          <p:cNvPr id="576050472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1" y="980371"/>
            <a:ext cx="2743200" cy="36512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7C1F6115-6A5C-1CC3-BEA8-360DF0F038A5}" type="slidenum">
              <a:rPr lang="fr-FR"/>
              <a:t/>
            </a:fld>
            <a:endParaRPr/>
          </a:p>
        </p:txBody>
      </p:sp>
      <p:pic>
        <p:nvPicPr>
          <p:cNvPr id="142931825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477499" y="5989448"/>
            <a:ext cx="1520124" cy="760061"/>
          </a:xfrm>
          <a:prstGeom prst="rect">
            <a:avLst/>
          </a:prstGeom>
        </p:spPr>
      </p:pic>
      <p:graphicFrame>
        <p:nvGraphicFramePr>
          <p:cNvPr id="1961374193" name=""/>
          <p:cNvGraphicFramePr>
            <a:graphicFrameLocks xmlns:a="http://schemas.openxmlformats.org/drawingml/2006/main" noChangeAspect="1"/>
          </p:cNvGraphicFramePr>
          <p:nvPr/>
        </p:nvGraphicFramePr>
        <p:xfrm flipH="0" flipV="0">
          <a:off x="1255547" y="1345493"/>
          <a:ext cx="1512000" cy="540000"/>
        </p:xfrm>
        <a:graphic>
          <a:graphicData uri="http://schemas.openxmlformats.org/presentationml/2006/ole">
            <p:oleObj name="oleObj" r:id="rId5" imgW="1504950" imgH="533400" progId="asc.{DB38923B-A8C0-4DE9-8AEE-A61BB5C901A5}">
              <p:embed/>
              <p:pic>
                <p:nvPicPr>
                  <p:cNvPr id="1961374193" name=""/>
                  <p:cNvPicPr/>
                  <p:nvPr/>
                </p:nvPicPr>
                <p:blipFill>
                  <a:blip r:embed="rId4"/>
                  <a:stretch/>
                </p:blipFill>
                <p:spPr bwMode="auto">
                  <a:xfrm flipH="0" flipV="0">
                    <a:off x="1255547" y="1345493"/>
                    <a:ext cx="1512000" cy="5400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pic>
        <p:nvPicPr>
          <p:cNvPr id="1583274626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2842970" y="1809424"/>
            <a:ext cx="6667499" cy="47624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968214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0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5 </a:t>
            </a:r>
            <a:r>
              <a:rPr sz="3600"/>
              <a:t>Comparaison de modèles d’embeddings</a:t>
            </a:r>
            <a:endParaRPr sz="3600"/>
          </a:p>
        </p:txBody>
      </p:sp>
      <p:sp>
        <p:nvSpPr>
          <p:cNvPr id="681811888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0" y="980370"/>
            <a:ext cx="2743200" cy="36512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690C5A4F-4E88-BF87-ADD8-9CB41341CAAE}" type="slidenum">
              <a:rPr lang="fr-FR"/>
              <a:t/>
            </a:fld>
            <a:endParaRPr/>
          </a:p>
        </p:txBody>
      </p:sp>
      <p:pic>
        <p:nvPicPr>
          <p:cNvPr id="139014789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477498" y="5989447"/>
            <a:ext cx="1520123" cy="760060"/>
          </a:xfrm>
          <a:prstGeom prst="rect">
            <a:avLst/>
          </a:prstGeom>
        </p:spPr>
      </p:pic>
      <p:graphicFrame>
        <p:nvGraphicFramePr>
          <p:cNvPr id="1974346743" name=""/>
          <p:cNvGraphicFramePr>
            <a:graphicFrameLocks xmlns:a="http://schemas.openxmlformats.org/drawingml/2006/main" noChangeAspect="1"/>
          </p:cNvGraphicFramePr>
          <p:nvPr/>
        </p:nvGraphicFramePr>
        <p:xfrm flipH="0" flipV="0">
          <a:off x="1255546" y="1345492"/>
          <a:ext cx="1512000" cy="540000"/>
        </p:xfrm>
        <a:graphic>
          <a:graphicData uri="http://schemas.openxmlformats.org/presentationml/2006/ole">
            <p:oleObj name="oleObj" r:id="rId5" imgW="1504950" imgH="533400" progId="asc.{DB38923B-A8C0-4DE9-8AEE-A61BB5C901A5}">
              <p:embed/>
              <p:pic>
                <p:nvPicPr>
                  <p:cNvPr id="1974346743" name=""/>
                  <p:cNvPicPr/>
                  <p:nvPr/>
                </p:nvPicPr>
                <p:blipFill>
                  <a:blip r:embed="rId4"/>
                  <a:stretch/>
                </p:blipFill>
                <p:spPr bwMode="auto">
                  <a:xfrm flipH="0" flipV="0">
                    <a:off x="1255546" y="1345492"/>
                    <a:ext cx="1512000" cy="5400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pic>
        <p:nvPicPr>
          <p:cNvPr id="406457233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1600580" y="40700"/>
            <a:ext cx="8589508" cy="67765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9385862" name="Title 1"/>
          <p:cNvSpPr>
            <a:spLocks noGrp="1"/>
          </p:cNvSpPr>
          <p:nvPr>
            <p:ph type="title"/>
          </p:nvPr>
        </p:nvSpPr>
        <p:spPr bwMode="auto">
          <a:xfrm>
            <a:off x="1282887" y="1709732"/>
            <a:ext cx="9626222" cy="2852732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/>
              <a:t>6 </a:t>
            </a:r>
            <a:r>
              <a:rPr lang="fr-FR"/>
              <a:t>Conclusion</a:t>
            </a:r>
            <a:br>
              <a:rPr/>
            </a:br>
            <a:endParaRPr/>
          </a:p>
        </p:txBody>
      </p:sp>
      <p:sp>
        <p:nvSpPr>
          <p:cNvPr id="1370897295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3" y="980373"/>
            <a:ext cx="2743200" cy="3651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2B403465-545A-5CD0-2CCC-34A7C5425B23}" type="slidenum">
              <a:rPr lang="fr-FR"/>
              <a:t/>
            </a:fld>
            <a:endParaRPr/>
          </a:p>
        </p:txBody>
      </p:sp>
      <p:pic>
        <p:nvPicPr>
          <p:cNvPr id="70523695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477499" y="5989448"/>
            <a:ext cx="1520124" cy="7600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5802661" name="Title 1"/>
          <p:cNvSpPr>
            <a:spLocks noGrp="1"/>
          </p:cNvSpPr>
          <p:nvPr>
            <p:ph type="title"/>
          </p:nvPr>
        </p:nvSpPr>
        <p:spPr bwMode="auto">
          <a:xfrm>
            <a:off x="1261782" y="365123"/>
            <a:ext cx="9668435" cy="1325562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sz="3600"/>
              <a:t>6 Conclusion</a:t>
            </a:r>
            <a:endParaRPr sz="3600"/>
          </a:p>
        </p:txBody>
      </p:sp>
      <p:sp>
        <p:nvSpPr>
          <p:cNvPr id="1647387496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55158736-CA3C-0088-AC11-BF6F32ED8E46}" type="slidenum">
              <a:rPr lang="fr-FR"/>
              <a:t/>
            </a:fld>
            <a:endParaRPr/>
          </a:p>
        </p:txBody>
      </p:sp>
      <p:pic>
        <p:nvPicPr>
          <p:cNvPr id="67946762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477499" y="5989448"/>
            <a:ext cx="1520124" cy="760061"/>
          </a:xfrm>
          <a:prstGeom prst="rect">
            <a:avLst/>
          </a:prstGeom>
        </p:spPr>
      </p:pic>
      <p:sp>
        <p:nvSpPr>
          <p:cNvPr id="35942662" name=""/>
          <p:cNvSpPr/>
          <p:nvPr/>
        </p:nvSpPr>
        <p:spPr bwMode="auto">
          <a:xfrm flipH="0" flipV="0">
            <a:off x="760631" y="1436819"/>
            <a:ext cx="11241309" cy="3388973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 marL="349965" indent="-349965">
              <a:lnSpc>
                <a:spcPct val="100000"/>
              </a:lnSpc>
              <a:buFont typeface="Arial"/>
              <a:buChar char="•"/>
              <a:defRPr/>
            </a:pPr>
            <a:r>
              <a:rPr lang="fr-FR" sz="24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all-MiniLM-L6-v2</a:t>
            </a:r>
            <a:endParaRPr sz="2400" b="0" i="0" u="none" strike="noStrike" cap="none" spc="0">
              <a:solidFill>
                <a:schemeClr val="tx1"/>
              </a:solidFill>
              <a:latin typeface="Source Sans Pro"/>
              <a:cs typeface="Source Sans Pro"/>
            </a:endParaRPr>
          </a:p>
          <a:p>
            <a:pPr marL="750015" lvl="1" indent="-349965">
              <a:lnSpc>
                <a:spcPct val="100000"/>
              </a:lnSpc>
              <a:buFont typeface="Arial"/>
              <a:buChar char="•"/>
              <a:defRPr/>
            </a:pPr>
            <a:r>
              <a:rPr lang="fr-FR" sz="24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Efficace : léger (20M paramètres), rapide, adapté aux ressources limitées</a:t>
            </a:r>
            <a:endParaRPr sz="2400" b="0" i="0" u="none" strike="noStrike" cap="none" spc="0">
              <a:solidFill>
                <a:schemeClr val="tx1"/>
              </a:solidFill>
              <a:latin typeface="Source Sans Pro"/>
              <a:cs typeface="Source Sans Pro"/>
            </a:endParaRPr>
          </a:p>
          <a:p>
            <a:pPr marL="750015" lvl="1" indent="-349965">
              <a:lnSpc>
                <a:spcPct val="100000"/>
              </a:lnSpc>
              <a:buFont typeface="Arial"/>
              <a:buChar char="•"/>
              <a:defRPr/>
            </a:pPr>
            <a:r>
              <a:rPr lang="fr-FR" sz="24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Facile à déployer : embeddings de qualité sans surcoût majeur</a:t>
            </a:r>
            <a:endParaRPr sz="2400" b="0" i="0" u="none" strike="noStrike" cap="none" spc="0">
              <a:solidFill>
                <a:schemeClr val="tx1"/>
              </a:solidFill>
              <a:latin typeface="Source Sans Pro"/>
              <a:cs typeface="Source Sans Pro"/>
            </a:endParaRPr>
          </a:p>
          <a:p>
            <a:pPr>
              <a:lnSpc>
                <a:spcPct val="100000"/>
              </a:lnSpc>
              <a:defRPr/>
            </a:pPr>
            <a:endParaRPr sz="2400" b="0" i="0" u="none" strike="noStrike" cap="none" spc="0">
              <a:solidFill>
                <a:schemeClr val="tx1"/>
              </a:solidFill>
              <a:latin typeface="Source Sans Pro"/>
              <a:cs typeface="Source Sans Pro"/>
            </a:endParaRPr>
          </a:p>
          <a:p>
            <a:pPr marL="349965" indent="-349965">
              <a:lnSpc>
                <a:spcPct val="100000"/>
              </a:lnSpc>
              <a:buFont typeface="Arial"/>
              <a:buChar char="•"/>
              <a:defRPr/>
            </a:pPr>
            <a:r>
              <a:rPr lang="fr-FR" sz="24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Limites :</a:t>
            </a:r>
            <a:endParaRPr sz="2400" b="0" i="0" u="none" strike="noStrike" cap="none" spc="0">
              <a:solidFill>
                <a:schemeClr val="tx1"/>
              </a:solidFill>
              <a:latin typeface="Source Sans Pro"/>
              <a:cs typeface="Source Sans Pro"/>
            </a:endParaRPr>
          </a:p>
          <a:p>
            <a:pPr marL="750015" lvl="1" indent="-349965">
              <a:lnSpc>
                <a:spcPct val="100000"/>
              </a:lnSpc>
              <a:buFont typeface="Arial"/>
              <a:buChar char="•"/>
              <a:defRPr/>
            </a:pPr>
            <a:r>
              <a:rPr lang="fr-FR" sz="24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Corpus réduit → risque de faible généralisation</a:t>
            </a:r>
            <a:endParaRPr sz="2400" b="0" i="0" u="none" strike="noStrike" cap="none" spc="0">
              <a:solidFill>
                <a:schemeClr val="tx1"/>
              </a:solidFill>
              <a:latin typeface="Source Sans Pro"/>
              <a:cs typeface="Source Sans Pro"/>
            </a:endParaRPr>
          </a:p>
          <a:p>
            <a:pPr marL="750015" lvl="1" indent="-349965">
              <a:lnSpc>
                <a:spcPct val="100000"/>
              </a:lnSpc>
              <a:buFont typeface="Arial"/>
              <a:buChar char="•"/>
              <a:defRPr/>
            </a:pPr>
            <a:r>
              <a:rPr lang="fr-FR" sz="24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Moins précis que des modèles plus lourds (ex. Bert)</a:t>
            </a:r>
            <a:endParaRPr sz="2400" b="0" i="0" u="none" strike="noStrike" cap="none" spc="0">
              <a:solidFill>
                <a:schemeClr val="tx1"/>
              </a:solidFill>
              <a:latin typeface="Source Sans Pro"/>
              <a:cs typeface="Source Sans Pro"/>
            </a:endParaRPr>
          </a:p>
          <a:p>
            <a:pPr>
              <a:lnSpc>
                <a:spcPct val="100000"/>
              </a:lnSpc>
              <a:defRPr/>
            </a:pPr>
            <a:endParaRPr sz="2400" b="0" i="0" u="none" strike="noStrike" cap="none" spc="0">
              <a:solidFill>
                <a:schemeClr val="tx1"/>
              </a:solidFill>
              <a:latin typeface="Source Sans Pro"/>
              <a:cs typeface="Source Sans Pro"/>
            </a:endParaRPr>
          </a:p>
          <a:p>
            <a:pPr marL="349965" indent="-349965">
              <a:lnSpc>
                <a:spcPct val="100000"/>
              </a:lnSpc>
              <a:buFont typeface="Arial"/>
              <a:buChar char="•"/>
              <a:defRPr/>
            </a:pPr>
            <a:r>
              <a:rPr lang="fr-FR" sz="24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➡️</a:t>
            </a:r>
            <a:r>
              <a:rPr lang="fr-FR" sz="24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 bon compromis efficacité/légèreté → à valider sur un corpus plus large</a:t>
            </a:r>
            <a:endParaRPr sz="2400">
              <a:solidFill>
                <a:schemeClr val="tx1"/>
              </a:solidFill>
              <a:latin typeface="Source Sans Pro"/>
              <a:cs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40 1">
      <a:dk1>
        <a:srgbClr val="000000"/>
      </a:dk1>
      <a:lt1>
        <a:srgbClr val="404040"/>
      </a:lt1>
      <a:dk2>
        <a:srgbClr val="44546A"/>
      </a:dk2>
      <a:lt2>
        <a:srgbClr val="404040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909090"/>
      </a:hlink>
      <a:folHlink>
        <a:srgbClr val="656565"/>
      </a:folHlink>
    </a:clrScheme>
    <a:fontScheme name="Office Them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ONLYOFFICE/9.0.4.50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Guillaume Lafon</dc:creator>
  <cp:lastModifiedBy/>
  <cp:revision>46</cp:revision>
  <dcterms:created xsi:type="dcterms:W3CDTF">2018-07-30T23:03:22Z</dcterms:created>
  <dcterms:modified xsi:type="dcterms:W3CDTF">2025-10-22T21:16:29Z</dcterms:modified>
</cp:coreProperties>
</file>