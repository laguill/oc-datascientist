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8.xml" ContentType="application/vnd.openxmlformats-officedocument.presentationml.notes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19.xml" ContentType="application/vnd.openxmlformats-officedocument.presentationml.notes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23.xml" ContentType="application/vnd.openxmlformats-officedocument.presentationml.notesSlide+xml"/>
  <Override PartName="/ppt/theme/theme2.xml" ContentType="application/vnd.openxmlformats-officedocument.them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28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s/slide38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4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08" d="100"/>
          <a:sy n="108" d="100"/>
        </p:scale>
        <p:origin x="544" y="20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 /><Relationship Id="rId44" Type="http://schemas.openxmlformats.org/officeDocument/2006/relationships/tableStyles" Target="tableStyles.xml" /><Relationship Id="rId4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65B7FA-D51E-F769-0E4D-06F6ECA84EAE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89DD1-0C0B-9AF1-5D83-85097104295B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03F0D4-A0A8-200C-027D-6B07FBB823D5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3337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6949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9268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F24F0-E87B-3A76-0760-DC62118BE55F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671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1977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5395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709BC7-AE76-2A09-8C0B-6DD75A39903F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150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1663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69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C8D3D7-6F01-1CF5-9173-DBF986B317FB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1716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186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103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B8D60B-1C7D-5D26-5608-FF93F09EDF1A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285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954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079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F32653-3730-B2CE-CA18-01B04739F72C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3887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42920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5528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9E06DE-5FE5-D619-D225-FB647EC7BEEE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706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1855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0278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239D02-94B1-D253-63AC-5AEA785F633E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6969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84189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021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0FDB13-51CD-41AD-C354-EC12ECFF321B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0519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53655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91893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E13989-210D-60D0-C5B8-0562AAD1BE12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4051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7841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143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993396-29EE-EAB2-20C3-4D28AB3E67F3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2911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5230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8636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6F3BAE-F523-9D4E-CF28-C9C52FB1DE60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5784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8925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9251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4C0A09-6522-2A56-F434-3A0726FAF873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211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3013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96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283B59-A319-442F-DC28-2739B47D956D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790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5525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69080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3B20F-4F2C-0C42-07B8-BBE097B2702A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8370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523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82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0B8351-C509-A6E9-3400-4FDC250AB34A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539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2997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55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C231F2-EB03-5C03-2C97-FCA9516B0009}" type="slidenum">
              <a:rPr/>
              <a:t/>
            </a:fld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8423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1063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684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CF4FEC-38CC-E8E9-B05F-EACE9F573798}" type="slidenum">
              <a:rPr/>
              <a:t/>
            </a:fld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783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2194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1124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7CD6E-DE32-06F1-C06E-D5ADB046BC31}" type="slidenum">
              <a:rPr/>
              <a:t/>
            </a:fld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8813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7572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8352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CCB7CC-55C2-F2CF-49CE-A43273593BC1}" type="slidenum">
              <a:rPr/>
              <a:t/>
            </a:fld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911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666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9254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9997E8-3F83-4B0E-23BD-DC0DEC625712}" type="slidenum">
              <a:rPr/>
              <a:t/>
            </a:fld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8602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9320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47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1EA0DA-E151-7059-92B7-57058D73BB47}" type="slidenum">
              <a:rPr/>
              <a:t/>
            </a:fld>
            <a:endParaRPr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994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8832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275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1728C9-8D06-F97D-2896-9845D6D87A9E}" type="slidenum">
              <a:rPr/>
              <a:t/>
            </a:fld>
            <a:endParaRPr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664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2349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2160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B861CE-637C-18B4-156A-E76525F00707}" type="slidenum">
              <a:rPr/>
              <a:t/>
            </a:fld>
            <a:endParaRPr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941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1595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0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644283-12F3-4556-051F-6F11995F0D1F}" type="slidenum">
              <a:rPr/>
              <a:t/>
            </a:fld>
            <a:endParaRPr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6961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719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20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802636-2E37-8FF2-695E-029160694EBC}" type="slidenum">
              <a:rPr/>
              <a:t/>
            </a:fld>
            <a:endParaRPr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5176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8461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0437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3B0A2-34D0-DF92-A410-6AB483A70CC5}" type="slidenum">
              <a:rPr/>
              <a:t/>
            </a:fld>
            <a:endParaRPr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1900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26733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2153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AE4954-5675-1AA6-4E0C-B6EDB1DB00E3}" type="slidenum">
              <a:rPr/>
              <a:t/>
            </a:fld>
            <a:endParaRPr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825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11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295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423AD6-853F-E3B9-1A8F-0406975CC5BA}" type="slidenum">
              <a:rPr/>
              <a:t/>
            </a:fld>
            <a:endParaRPr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37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4141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286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DC59AD-6A0A-FD84-43AA-DC422F9F7770}" type="slidenum">
              <a:rPr/>
              <a:t/>
            </a:fld>
            <a:endParaRPr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8567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5138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60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82F7BB-B0F2-3AFB-EB18-F0BE617D1F10}" type="slidenum">
              <a:rPr/>
              <a:t/>
            </a:fld>
            <a:endParaRPr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3309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75107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4394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D3A85F-97DD-3AB1-6300-89F3601A6012}" type="slidenum">
              <a:rPr/>
              <a:t/>
            </a:fld>
            <a:endParaRPr/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1137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5957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318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DB54C2-1E2D-037A-75D2-152C07657403}" type="slidenum">
              <a:rPr/>
              <a:t/>
            </a:fld>
            <a:endParaRPr/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0012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276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653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DE2531-E919-E7ED-001B-D0756BA71FF0}" type="slidenum">
              <a:rPr/>
              <a:t/>
            </a:fld>
            <a:endParaRPr/>
          </a:p>
        </p:txBody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268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31914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9991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D163B-A5F1-6222-D5C2-FDB7A3C426C8}" type="slidenum">
              <a:rPr/>
              <a:t/>
            </a:fld>
            <a:endParaRPr/>
          </a:p>
        </p:txBody>
      </p:sp>
    </p:spTree>
  </p:cSld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849D0C-54E8-DA34-2652-FA085DD9C9D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3999" y="1661205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414088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4"/>
            <a:ext cx="9668435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7"/>
            <a:ext cx="9626226" cy="2852737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82886" y="4589462"/>
            <a:ext cx="96262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14344" y="365124"/>
            <a:ext cx="9963311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14344" y="1864658"/>
            <a:ext cx="7108051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222396" y="1864658"/>
            <a:ext cx="2855258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1EB5C9-1307-BA42-ABA2-0BC069CD8E7F}" type="datetimeFigureOut">
              <a:rPr lang="en-US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1EB5C9-1307-BA42-ABA2-0BC069CD8E7F}" type="datetimeFigureOut">
              <a:rPr lang="en-US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1EB5C9-1307-BA42-ABA2-0BC069CD8E7F}" type="datetimeFigureOut">
              <a:rPr lang="en-US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9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Orkney Medium"/>
                <a:ea typeface="Orkney Medium"/>
                <a:cs typeface="Orkney Medium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61782" y="1825624"/>
            <a:ext cx="96684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latin typeface="Source Sans Pro"/>
                <a:ea typeface="Source Sans Pro"/>
                <a:cs typeface="Source Sans Pro"/>
              </a:defRPr>
            </a:lvl1pPr>
            <a:lvl2pPr>
              <a:defRPr sz="1400">
                <a:latin typeface="Source Sans Pro"/>
                <a:ea typeface="Source Sans Pro"/>
                <a:cs typeface="Source Sans Pro"/>
              </a:defRPr>
            </a:lvl2pPr>
            <a:lvl3pPr>
              <a:defRPr sz="1100">
                <a:latin typeface="Source Sans Pro"/>
                <a:ea typeface="Source Sans Pro"/>
                <a:cs typeface="Source Sans Pro"/>
              </a:defRPr>
            </a:lvl3pPr>
            <a:lvl4pPr>
              <a:defRPr sz="1000">
                <a:latin typeface="Source Sans Pro"/>
                <a:ea typeface="Source Sans Pro"/>
                <a:cs typeface="Source Sans Pro"/>
              </a:defRPr>
            </a:lvl4pPr>
            <a:lvl5pPr>
              <a:defRPr sz="1000">
                <a:latin typeface="Source Sans Pro"/>
                <a:ea typeface="Source Sans Pro"/>
                <a:cs typeface="Source Sans Pro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1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 b="0" i="0">
          <a:solidFill>
            <a:srgbClr val="404040"/>
          </a:solidFill>
          <a:latin typeface="Source Sans Pro Ligh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b="0" i="0">
          <a:solidFill>
            <a:srgbClr val="404040"/>
          </a:solidFill>
          <a:latin typeface="Source Sans Pro Ligh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b="0" i="0">
          <a:solidFill>
            <a:srgbClr val="404040"/>
          </a:solidFill>
          <a:latin typeface="Source Sans Pro Ligh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b="0" i="0">
          <a:solidFill>
            <a:srgbClr val="404040"/>
          </a:solidFill>
          <a:latin typeface="Source Sans Pro Ligh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22.xml"/><Relationship Id="rId6" Type="http://schemas.openxmlformats.org/officeDocument/2006/relationships/slide" Target="slide38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8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8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8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8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1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2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3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4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5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6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7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8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9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20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3999" y="1661205"/>
            <a:ext cx="9144000" cy="2387600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Projet </a:t>
            </a:r>
            <a:r>
              <a:rPr lang="fr-FR"/>
              <a:t>3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4140880"/>
            <a:ext cx="9144000" cy="165576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Préparer les données pour un organisme de santé publique</a:t>
            </a:r>
            <a:br>
              <a:rPr/>
            </a:br>
            <a:br>
              <a:rPr/>
            </a:br>
            <a:r>
              <a:rPr/>
              <a:t>Guillaume LAFON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Sommaire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25000" lnSpcReduction="15000"/>
          </a:bodyPr>
          <a:lstStyle/>
          <a:p>
            <a:pPr lvl="0">
              <a:lnSpc>
                <a:spcPct val="200000"/>
              </a:lnSpc>
              <a:defRPr/>
            </a:pPr>
            <a:r>
              <a:rPr sz="11000" b="1" u="sng">
                <a:solidFill>
                  <a:schemeClr val="hlink"/>
                </a:solidFill>
                <a:hlinkClick r:id="rId3" action="ppaction://hlinksldjump" tooltip="ppaction://hlinksldjumpslide2"/>
              </a:rPr>
              <a:t>1 Introduction</a:t>
            </a:r>
            <a:endParaRPr sz="11000" b="1"/>
          </a:p>
          <a:p>
            <a:pPr lvl="0">
              <a:lnSpc>
                <a:spcPct val="200000"/>
              </a:lnSpc>
              <a:defRPr/>
            </a:pPr>
            <a:r>
              <a:rPr sz="11000" b="1" u="sng">
                <a:solidFill>
                  <a:schemeClr val="hlink"/>
                </a:solidFill>
                <a:hlinkClick r:id="rId4" action="ppaction://hlinksldjump" tooltip="ppaction://hlinksldjumpslide6"/>
              </a:rPr>
              <a:t>2 Exploration du jeu de données</a:t>
            </a:r>
            <a:endParaRPr sz="11000" b="1"/>
          </a:p>
          <a:p>
            <a:pPr lvl="0">
              <a:lnSpc>
                <a:spcPct val="200000"/>
              </a:lnSpc>
              <a:defRPr/>
            </a:pPr>
            <a:r>
              <a:rPr sz="11000" b="1" u="sng">
                <a:solidFill>
                  <a:schemeClr val="hlink"/>
                </a:solidFill>
                <a:hlinkClick r:id="rId5" action="ppaction://hlinksldjump" tooltip="ppaction://hlinksldjumpslide8"/>
              </a:rPr>
              <a:t>3 Analyse exploratoire</a:t>
            </a:r>
            <a:endParaRPr sz="11000" b="1"/>
          </a:p>
          <a:p>
            <a:pPr lvl="0">
              <a:lnSpc>
                <a:spcPct val="200000"/>
              </a:lnSpc>
              <a:defRPr/>
            </a:pPr>
            <a:r>
              <a:rPr sz="11000" b="1" u="sng">
                <a:solidFill>
                  <a:schemeClr val="hlink"/>
                </a:solidFill>
                <a:hlinkClick r:id="rId6" action="ppaction://hlinksldjump" tooltip="ppaction://hlinksldjumpslide9"/>
              </a:rPr>
              <a:t>4 Conclusion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7"/>
            <a:ext cx="9626226" cy="285273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Introduction</a:t>
            </a:r>
            <a:br>
              <a:rPr/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169906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5" cy="132556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1 Introduction</a:t>
            </a:r>
            <a:endParaRPr/>
          </a:p>
        </p:txBody>
      </p:sp>
      <p:sp>
        <p:nvSpPr>
          <p:cNvPr id="34323654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lvl="0" indent="0">
              <a:spcBef>
                <a:spcPts val="2999"/>
              </a:spcBef>
              <a:buNone/>
              <a:defRPr/>
            </a:pPr>
            <a:r>
              <a:rPr lang="fr-FR" b="1"/>
              <a:t>1.1 Contexte</a:t>
            </a:r>
            <a:endParaRPr lang="fr-FR"/>
          </a:p>
          <a:p>
            <a:pPr marL="0" lvl="0" indent="0">
              <a:buNone/>
              <a:defRPr/>
            </a:pP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Proposer une méthode d’autocomplétion pour ajouter les informations d’un produit dans la base de données OpenFoodFact de l’Agence de santé Française. </a:t>
            </a:r>
            <a:endParaRPr lang="fr-FR"/>
          </a:p>
          <a:p>
            <a:pPr marL="0" lvl="0" indent="0">
              <a:buNone/>
              <a:defRPr/>
            </a:pPr>
            <a:r>
              <a:rPr lang="fr-FR" sz="18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Mon objectif</a:t>
            </a: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: Obtenir un jeu de données complet, représentatif des différents types de produits, et prêt à être exploité par un algorithme de suggestion, sans valeurs nutritionnelles manquantes.</a:t>
            </a:r>
            <a:endParaRPr lang="fr-FR"/>
          </a:p>
          <a:p>
            <a:pPr marL="0" lvl="0" indent="0">
              <a:spcBef>
                <a:spcPts val="2999"/>
              </a:spcBef>
              <a:buNone/>
              <a:defRPr/>
            </a:pPr>
            <a:r>
              <a:rPr lang="fr-FR" b="1"/>
              <a:t>1.2 Données</a:t>
            </a:r>
            <a:endParaRPr lang="fr-FR"/>
          </a:p>
          <a:p>
            <a:pPr marL="0" lvl="0" indent="0">
              <a:buNone/>
              <a:defRPr/>
            </a:pP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Je</a:t>
            </a: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u</a:t>
            </a: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 de données sur les produits alimentaires du monde entier. Base de données issue de OpenFoodFacts</a:t>
            </a:r>
            <a:endParaRPr lang="fr-FR"/>
          </a:p>
          <a:p>
            <a:pPr marL="0" lvl="0" indent="0">
              <a:spcBef>
                <a:spcPts val="2999"/>
              </a:spcBef>
              <a:buNone/>
              <a:defRPr/>
            </a:pPr>
            <a:r>
              <a:rPr lang="fr-FR" b="1"/>
              <a:t>1.3 Mission</a:t>
            </a:r>
            <a:endParaRPr lang="fr-FR"/>
          </a:p>
          <a:p>
            <a:pPr marL="0" lvl="0" indent="0">
              <a:buNone/>
              <a:defRPr/>
            </a:pPr>
            <a:r>
              <a:rPr lang="fr-FR"/>
              <a:t>Formulation de la problématique :</a:t>
            </a:r>
            <a:endParaRPr lang="fr-FR"/>
          </a:p>
          <a:p>
            <a:pPr>
              <a:defRPr/>
            </a:pP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Nettoyer et explorer les données.</a:t>
            </a:r>
            <a:endParaRPr lang="fr-FR" sz="17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 lvl="0">
              <a:defRPr/>
            </a:pP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Sélectionner les champs de données pertinents pour caractériser un produit.</a:t>
            </a:r>
            <a:endParaRPr lang="fr-FR"/>
          </a:p>
        </p:txBody>
      </p:sp>
      <p:pic>
        <p:nvPicPr>
          <p:cNvPr id="429189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79576" y="269132"/>
            <a:ext cx="2068093" cy="1134397"/>
          </a:xfrm>
          <a:prstGeom prst="rect">
            <a:avLst/>
          </a:prstGeom>
        </p:spPr>
      </p:pic>
      <p:pic>
        <p:nvPicPr>
          <p:cNvPr id="181466741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847669" y="141747"/>
            <a:ext cx="1261781" cy="12617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343236541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777527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4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1 Introduction</a:t>
            </a:r>
            <a:endParaRPr/>
          </a:p>
        </p:txBody>
      </p:sp>
      <p:pic>
        <p:nvPicPr>
          <p:cNvPr id="18294700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79576" y="269132"/>
            <a:ext cx="2068093" cy="1134397"/>
          </a:xfrm>
          <a:prstGeom prst="rect">
            <a:avLst/>
          </a:prstGeom>
        </p:spPr>
      </p:pic>
      <p:pic>
        <p:nvPicPr>
          <p:cNvPr id="71627641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847669" y="141747"/>
            <a:ext cx="1261781" cy="1261781"/>
          </a:xfrm>
          <a:prstGeom prst="rect">
            <a:avLst/>
          </a:prstGeom>
        </p:spPr>
      </p:pic>
      <p:grpSp>
        <p:nvGrpSpPr>
          <p:cNvPr id="769081823" name=""/>
          <p:cNvGrpSpPr/>
          <p:nvPr/>
        </p:nvGrpSpPr>
        <p:grpSpPr bwMode="auto">
          <a:xfrm flipH="0" flipV="0">
            <a:off x="2043872" y="2672885"/>
            <a:ext cx="8104255" cy="3936494"/>
            <a:chOff x="0" y="0"/>
            <a:chExt cx="8104255" cy="3936494"/>
          </a:xfrm>
        </p:grpSpPr>
        <p:pic>
          <p:nvPicPr>
            <p:cNvPr id="2139152681" name="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 flipH="0" flipV="0">
              <a:off x="0" y="624425"/>
              <a:ext cx="3713657" cy="2475771"/>
            </a:xfrm>
            <a:prstGeom prst="rect">
              <a:avLst/>
            </a:prstGeom>
          </p:spPr>
        </p:pic>
        <p:pic>
          <p:nvPicPr>
            <p:cNvPr id="267856918" name=""/>
            <p:cNvPicPr>
              <a:picLocks noChangeAspect="1"/>
            </p:cNvPicPr>
            <p:nvPr/>
          </p:nvPicPr>
          <p:blipFill>
            <a:blip r:embed="rId6"/>
            <a:srcRect l="0" t="5324" r="0" b="12664"/>
            <a:stretch/>
          </p:blipFill>
          <p:spPr bwMode="auto">
            <a:xfrm flipH="0" flipV="0">
              <a:off x="5944277" y="0"/>
              <a:ext cx="2159977" cy="3936494"/>
            </a:xfrm>
            <a:prstGeom prst="rect">
              <a:avLst/>
            </a:prstGeom>
            <a:ln w="12699">
              <a:solidFill>
                <a:schemeClr val="accent1">
                  <a:lumMod val="50196"/>
                </a:schemeClr>
              </a:solidFill>
              <a:prstDash val="solid"/>
            </a:ln>
          </p:spPr>
        </p:pic>
        <p:sp>
          <p:nvSpPr>
            <p:cNvPr id="1438894213" name=""/>
            <p:cNvSpPr/>
            <p:nvPr/>
          </p:nvSpPr>
          <p:spPr bwMode="auto">
            <a:xfrm flipH="0" flipV="0">
              <a:off x="4097242" y="1570731"/>
              <a:ext cx="1330742" cy="310506"/>
            </a:xfrm>
            <a:prstGeom prst="rightArrow">
              <a:avLst>
                <a:gd name="adj1" fmla="val 50000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33309183" name=""/>
          <p:cNvSpPr txBox="1"/>
          <p:nvPr/>
        </p:nvSpPr>
        <p:spPr bwMode="auto">
          <a:xfrm flipH="0" flipV="0">
            <a:off x="1180169" y="1565974"/>
            <a:ext cx="6669299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b="1"/>
              <a:t>Application : </a:t>
            </a:r>
            <a:endParaRPr b="1"/>
          </a:p>
          <a:p>
            <a:pPr marL="283879" indent="-283879">
              <a:buFont typeface="Arial"/>
              <a:buChar char="•"/>
              <a:defRPr/>
            </a:pPr>
            <a:r>
              <a:rPr lang="fr-FR"/>
              <a:t>Scanner</a:t>
            </a:r>
            <a:endParaRPr lang="fr-FR"/>
          </a:p>
          <a:p>
            <a:pPr marL="283879" indent="-283879">
              <a:buFont typeface="Arial"/>
              <a:buChar char="•"/>
              <a:defRPr/>
            </a:pPr>
            <a:r>
              <a:rPr lang="fr-FR"/>
              <a:t>Saisir les valeurs nutritives (Seuils limites fixés par l’algorithme)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175033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6"/>
            <a:ext cx="9626225" cy="285273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2 Exploration du jeu de données</a:t>
            </a:r>
            <a:br>
              <a:rPr/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704807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4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2</a:t>
            </a:r>
            <a:r>
              <a:rPr/>
              <a:t> </a:t>
            </a:r>
            <a:r>
              <a:rPr lang="fr-FR"/>
              <a:t>Exploration du jeu d</a:t>
            </a:r>
            <a:r>
              <a:rPr lang="fr-FR"/>
              <a:t>e données</a:t>
            </a:r>
            <a:endParaRPr/>
          </a:p>
        </p:txBody>
      </p:sp>
      <p:sp>
        <p:nvSpPr>
          <p:cNvPr id="18447818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162 colonnes et </a:t>
            </a: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320772</a:t>
            </a: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 lignes</a:t>
            </a:r>
            <a:endParaRPr lang="fr-FR" sz="18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endParaRPr lang="fr-FR" sz="1800" b="0" i="0" u="none" strike="noStrike" cap="none" spc="0">
              <a:solidFill>
                <a:srgbClr val="404040"/>
              </a:solidFill>
              <a:latin typeface="Source Sans Pro"/>
              <a:ea typeface="Source Sans Pro"/>
              <a:cs typeface="Source Sans Pro"/>
            </a:endParaRPr>
          </a:p>
          <a:p>
            <a:pPr>
              <a:defRPr/>
            </a:pP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Informations générales (code bar, date de création, nom, marque, </a:t>
            </a: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catégories, pays de vente</a:t>
            </a: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... )</a:t>
            </a:r>
            <a:endParaRPr lang="fr-FR" sz="1800" b="0" i="0" u="none" strike="noStrike" cap="none" spc="0">
              <a:solidFill>
                <a:srgbClr val="404040"/>
              </a:solidFill>
              <a:latin typeface="Source Sans Pro"/>
              <a:ea typeface="Source Sans Pro"/>
              <a:cs typeface="Source Sans Pro"/>
            </a:endParaRPr>
          </a:p>
          <a:p>
            <a:pPr>
              <a:defRPr/>
            </a:pP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Qualité du produit (nutriscore)</a:t>
            </a:r>
            <a:endParaRPr lang="fr-FR" sz="18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Composition du produit (additifs, ingrédients, nutriments)</a:t>
            </a:r>
            <a:endParaRPr lang="fr-FR"/>
          </a:p>
        </p:txBody>
      </p:sp>
      <p:pic>
        <p:nvPicPr>
          <p:cNvPr id="7754288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6" y="6191008"/>
            <a:ext cx="1131737" cy="620784"/>
          </a:xfrm>
          <a:prstGeom prst="rect">
            <a:avLst/>
          </a:prstGeom>
        </p:spPr>
      </p:pic>
      <p:pic>
        <p:nvPicPr>
          <p:cNvPr id="160754757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8"/>
            <a:ext cx="807203" cy="8072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8447818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616020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4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2</a:t>
            </a:r>
            <a:r>
              <a:rPr/>
              <a:t> </a:t>
            </a:r>
            <a:r>
              <a:rPr lang="fr-FR"/>
              <a:t>Exploration du jeu d</a:t>
            </a:r>
            <a:r>
              <a:rPr lang="fr-FR"/>
              <a:t>e données</a:t>
            </a:r>
            <a:endParaRPr/>
          </a:p>
        </p:txBody>
      </p:sp>
      <p:sp>
        <p:nvSpPr>
          <p:cNvPr id="53919897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 sz="2200" b="1"/>
              <a:t>Approche empirique pour conserver les caractéristiques produits</a:t>
            </a:r>
            <a:endParaRPr lang="fr-FR" sz="2200" b="1"/>
          </a:p>
          <a:p>
            <a:pPr lvl="1">
              <a:defRPr/>
            </a:pPr>
            <a:r>
              <a:rPr lang="fr-FR" sz="2000" b="1"/>
              <a:t>I</a:t>
            </a:r>
            <a:r>
              <a:rPr lang="fr-FR" sz="1600" b="1"/>
              <a:t>nformations générales: </a:t>
            </a:r>
            <a:endParaRPr sz="1500" b="0"/>
          </a:p>
          <a:p>
            <a:pPr lvl="2">
              <a:defRPr/>
            </a:pPr>
            <a:r>
              <a:rPr lang="fr-FR" sz="1500" b="0"/>
              <a:t>Code Barre et le nom du produit (code, product_name) sans doublons</a:t>
            </a:r>
            <a:endParaRPr sz="1500" b="0"/>
          </a:p>
          <a:p>
            <a:pPr lvl="2">
              <a:defRPr/>
            </a:pPr>
            <a:r>
              <a:rPr lang="fr-FR" sz="1500" b="0"/>
              <a:t>Origine du produit : Produits vendu uniquement en France (countries = fr)</a:t>
            </a:r>
            <a:endParaRPr lang="fr-FR" sz="1500" b="0"/>
          </a:p>
          <a:p>
            <a:pPr lvl="2">
              <a:defRPr/>
            </a:pPr>
            <a:endParaRPr b="0"/>
          </a:p>
          <a:p>
            <a:pPr lvl="1">
              <a:defRPr/>
            </a:pPr>
            <a:r>
              <a:rPr lang="fr-FR" sz="1800" b="0"/>
              <a:t> </a:t>
            </a:r>
            <a:r>
              <a:rPr lang="fr-FR" sz="1600" b="1"/>
              <a:t>Catégories du produit :</a:t>
            </a:r>
            <a:endParaRPr lang="fr-FR" sz="1600"/>
          </a:p>
          <a:p>
            <a:pPr lvl="2">
              <a:defRPr/>
            </a:pPr>
            <a:r>
              <a:rPr lang="fr-FR" sz="1500" b="0"/>
              <a:t>Pnns_groups_1 (Programme national de santé)</a:t>
            </a:r>
            <a:endParaRPr lang="fr-FR" sz="1500" b="0"/>
          </a:p>
          <a:p>
            <a:pPr lvl="2">
              <a:defRPr/>
            </a:pPr>
            <a:endParaRPr lang="fr-FR" sz="1600" b="0"/>
          </a:p>
          <a:p>
            <a:pPr lvl="1">
              <a:defRPr/>
            </a:pPr>
            <a:r>
              <a:rPr lang="fr-FR" sz="1600" b="1"/>
              <a:t>Valeurs nutritives :</a:t>
            </a:r>
            <a:endParaRPr lang="fr-FR" sz="1600" b="1"/>
          </a:p>
          <a:p>
            <a:pPr lvl="2">
              <a:defRPr/>
            </a:pPr>
            <a:r>
              <a:rPr lang="fr-FR" sz="1500" b="0"/>
              <a:t>Valeurs notées sur les emballages alimentaires et prises en compte lors du calcul du Nutriscore</a:t>
            </a:r>
            <a:endParaRPr lang="fr-FR" sz="1500" b="0"/>
          </a:p>
          <a:p>
            <a:pPr marL="914400" lvl="2" indent="0">
              <a:buFont typeface="Arial"/>
              <a:buNone/>
              <a:defRPr/>
            </a:pPr>
            <a:r>
              <a:rPr lang="fr-FR" sz="15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energy_100g, saturated-fat_100g, fat_100g, fiber_100g, </a:t>
            </a:r>
            <a:r>
              <a:rPr lang="fr-FR" sz="15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proteins_100g, sodium_100g,  sugars_100g</a:t>
            </a:r>
            <a:endParaRPr lang="fr-FR" sz="1500" b="0"/>
          </a:p>
        </p:txBody>
      </p:sp>
      <p:pic>
        <p:nvPicPr>
          <p:cNvPr id="7459695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6" y="6191008"/>
            <a:ext cx="1131737" cy="620784"/>
          </a:xfrm>
          <a:prstGeom prst="rect">
            <a:avLst/>
          </a:prstGeom>
        </p:spPr>
      </p:pic>
      <p:pic>
        <p:nvPicPr>
          <p:cNvPr id="209163237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8"/>
            <a:ext cx="807203" cy="8072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539198979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806528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4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2</a:t>
            </a:r>
            <a:r>
              <a:rPr/>
              <a:t> </a:t>
            </a:r>
            <a:r>
              <a:rPr lang="fr-FR"/>
              <a:t>Exploration du jeu d</a:t>
            </a:r>
            <a:r>
              <a:rPr lang="fr-FR"/>
              <a:t>e données</a:t>
            </a:r>
            <a:endParaRPr/>
          </a:p>
        </p:txBody>
      </p:sp>
      <p:sp>
        <p:nvSpPr>
          <p:cNvPr id="111103872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 sz="2200" b="1"/>
              <a:t>Valeurs manquantes</a:t>
            </a:r>
            <a:endParaRPr sz="2200" b="1"/>
          </a:p>
        </p:txBody>
      </p:sp>
      <p:pic>
        <p:nvPicPr>
          <p:cNvPr id="13627341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6" y="6191008"/>
            <a:ext cx="1131737" cy="620784"/>
          </a:xfrm>
          <a:prstGeom prst="rect">
            <a:avLst/>
          </a:prstGeom>
        </p:spPr>
      </p:pic>
      <p:pic>
        <p:nvPicPr>
          <p:cNvPr id="45383535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8"/>
            <a:ext cx="807203" cy="807203"/>
          </a:xfrm>
          <a:prstGeom prst="rect">
            <a:avLst/>
          </a:prstGeom>
        </p:spPr>
      </p:pic>
      <p:pic>
        <p:nvPicPr>
          <p:cNvPr id="205376283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323925" y="2534618"/>
            <a:ext cx="9544149" cy="3833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111038728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674418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4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2</a:t>
            </a:r>
            <a:r>
              <a:rPr/>
              <a:t> </a:t>
            </a:r>
            <a:r>
              <a:rPr lang="fr-FR"/>
              <a:t>Exploration du jeu d</a:t>
            </a:r>
            <a:r>
              <a:rPr lang="fr-FR"/>
              <a:t>e données</a:t>
            </a:r>
            <a:endParaRPr/>
          </a:p>
        </p:txBody>
      </p:sp>
      <p:sp>
        <p:nvSpPr>
          <p:cNvPr id="141216587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 sz="2200" b="1"/>
              <a:t>Valeurs aberrantes</a:t>
            </a:r>
            <a:endParaRPr sz="2200" b="1"/>
          </a:p>
          <a:p>
            <a:pPr lvl="1">
              <a:defRPr/>
            </a:pPr>
            <a:r>
              <a:rPr lang="fr-FR" sz="1800" b="0"/>
              <a:t>Teneur des valeurs nutritives entre 0 et 100g</a:t>
            </a:r>
            <a:endParaRPr lang="fr-FR" sz="1800" b="0"/>
          </a:p>
          <a:p>
            <a:pPr lvl="1">
              <a:defRPr/>
            </a:pPr>
            <a:r>
              <a:rPr lang="fr-FR" sz="1800" b="0"/>
              <a:t>Énergie par produit entre 0 et 4000kJ.</a:t>
            </a:r>
            <a:endParaRPr lang="fr-FR" sz="1800" b="0"/>
          </a:p>
          <a:p>
            <a:pPr marL="457200" lvl="1" indent="0">
              <a:buFont typeface="Arial"/>
              <a:buNone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➡️</a:t>
            </a:r>
            <a:r>
              <a:rPr lang="fr-FR" sz="3600" b="0"/>
              <a:t> </a:t>
            </a:r>
            <a:r>
              <a:rPr lang="fr-FR" sz="1600" b="1"/>
              <a:t>Suppression des valeurs par des NAN</a:t>
            </a:r>
            <a:endParaRPr lang="fr-FR" sz="1600" b="1"/>
          </a:p>
          <a:p>
            <a:pPr marL="457200" lvl="1" indent="0">
              <a:buFont typeface="Arial"/>
              <a:buNone/>
              <a:defRPr/>
            </a:pPr>
            <a:endParaRPr sz="1000" b="1"/>
          </a:p>
          <a:p>
            <a:pPr marL="457200" lvl="1" indent="0"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➡️</a:t>
            </a:r>
            <a:r>
              <a:rPr lang="fr-FR" sz="16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 </a:t>
            </a:r>
            <a:r>
              <a:rPr lang="fr-FR" sz="16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Suppression des produits dont la somme des valeurs nutritives dépasse 100g</a:t>
            </a:r>
            <a:endParaRPr lang="fr-FR" sz="1600" b="0"/>
          </a:p>
          <a:p>
            <a:pPr marL="457200" lvl="1" indent="0">
              <a:buFont typeface="Arial"/>
              <a:buNone/>
              <a:defRPr/>
            </a:pPr>
            <a:endParaRPr sz="1000" b="0"/>
          </a:p>
          <a:p>
            <a:pPr marL="457200" lvl="1" indent="0"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➡️</a:t>
            </a:r>
            <a:r>
              <a:rPr lang="fr-FR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 </a:t>
            </a:r>
            <a:r>
              <a:rPr lang="fr-FR" sz="16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Suppression des produits sans catégories pnns_groups_1</a:t>
            </a:r>
            <a:endParaRPr lang="fr-FR" sz="1600" b="0"/>
          </a:p>
          <a:p>
            <a:pPr marL="457200" lvl="1" indent="0">
              <a:buFont typeface="Arial"/>
              <a:buNone/>
              <a:defRPr/>
            </a:pPr>
            <a:endParaRPr lang="fr-FR" sz="1600" b="0"/>
          </a:p>
          <a:p>
            <a:pPr marL="457200" lvl="1" indent="0">
              <a:buFont typeface="Arial"/>
              <a:buNone/>
              <a:defRPr/>
            </a:pPr>
            <a:endParaRPr lang="fr-FR" sz="1000" b="0"/>
          </a:p>
          <a:p>
            <a:pPr marL="457200" marR="0" lvl="1" indent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fr-FR" sz="20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Le jeu de données contient désormais </a:t>
            </a:r>
            <a:r>
              <a:rPr lang="fr-FR" sz="20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49304</a:t>
            </a:r>
            <a:r>
              <a:rPr lang="fr-FR" sz="20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 lignes</a:t>
            </a:r>
            <a:endParaRPr lang="fr-FR" sz="1000" b="0"/>
          </a:p>
        </p:txBody>
      </p:sp>
      <p:pic>
        <p:nvPicPr>
          <p:cNvPr id="52136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6" y="6191008"/>
            <a:ext cx="1131737" cy="620784"/>
          </a:xfrm>
          <a:prstGeom prst="rect">
            <a:avLst/>
          </a:prstGeom>
        </p:spPr>
      </p:pic>
      <p:pic>
        <p:nvPicPr>
          <p:cNvPr id="124297767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8"/>
            <a:ext cx="807203" cy="8072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412165870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066182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4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2</a:t>
            </a:r>
            <a:r>
              <a:rPr/>
              <a:t> </a:t>
            </a:r>
            <a:r>
              <a:rPr lang="fr-FR"/>
              <a:t>Exploration du jeu d</a:t>
            </a:r>
            <a:r>
              <a:rPr lang="fr-FR"/>
              <a:t>e données</a:t>
            </a:r>
            <a:endParaRPr/>
          </a:p>
        </p:txBody>
      </p:sp>
      <p:sp>
        <p:nvSpPr>
          <p:cNvPr id="201700358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 sz="2200" b="1"/>
              <a:t>Imputation des valeurs manquantes</a:t>
            </a:r>
            <a:endParaRPr lang="fr-FR" sz="2200" b="1"/>
          </a:p>
          <a:p>
            <a:pPr>
              <a:defRPr/>
            </a:pPr>
            <a:endParaRPr sz="2200" b="1"/>
          </a:p>
        </p:txBody>
      </p:sp>
      <p:pic>
        <p:nvPicPr>
          <p:cNvPr id="1321560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6" y="6191008"/>
            <a:ext cx="1131737" cy="620784"/>
          </a:xfrm>
          <a:prstGeom prst="rect">
            <a:avLst/>
          </a:prstGeom>
        </p:spPr>
      </p:pic>
      <p:pic>
        <p:nvPicPr>
          <p:cNvPr id="20768606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8"/>
            <a:ext cx="807203" cy="807203"/>
          </a:xfrm>
          <a:prstGeom prst="rect">
            <a:avLst/>
          </a:prstGeom>
        </p:spPr>
      </p:pic>
      <p:pic>
        <p:nvPicPr>
          <p:cNvPr id="111624077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379658" y="2534618"/>
            <a:ext cx="9432682" cy="378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2017003581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277390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4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2</a:t>
            </a:r>
            <a:r>
              <a:rPr/>
              <a:t> </a:t>
            </a:r>
            <a:r>
              <a:rPr lang="fr-FR"/>
              <a:t>Exploration du jeu d</a:t>
            </a:r>
            <a:r>
              <a:rPr lang="fr-FR"/>
              <a:t>e données</a:t>
            </a:r>
            <a:endParaRPr/>
          </a:p>
        </p:txBody>
      </p:sp>
      <p:sp>
        <p:nvSpPr>
          <p:cNvPr id="179536983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lang="fr-FR" sz="2400" b="1"/>
              <a:t>Imputation des valeurs manquantes</a:t>
            </a:r>
            <a:endParaRPr sz="2600" b="1"/>
          </a:p>
          <a:p>
            <a:pPr marL="0" indent="0">
              <a:buFont typeface="Arial"/>
              <a:buNone/>
              <a:defRPr/>
            </a:pPr>
            <a:endParaRPr lang="fr-FR" sz="2200" b="1"/>
          </a:p>
          <a:p>
            <a:pPr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Ne rien faire ➡️ Si le nombre de manquant est faible.</a:t>
            </a: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Supprimer les produits avec des manquants ➡️ L’échantillon peut devenir trop faible</a:t>
            </a: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Méthode d’imputation simple (mode, médiane, moyenne) pour les mêmes types de produit.</a:t>
            </a: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Remplacer les valeurs manquantes par prévision statistique (knnImputer ou iterativeImputer)</a:t>
            </a:r>
            <a:endParaRPr lang="fr-FR" sz="2200" b="1"/>
          </a:p>
          <a:p>
            <a:pPr>
              <a:defRPr/>
            </a:pPr>
            <a:endParaRPr sz="2200" b="1"/>
          </a:p>
        </p:txBody>
      </p:sp>
      <p:pic>
        <p:nvPicPr>
          <p:cNvPr id="141148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6" y="6191008"/>
            <a:ext cx="1131737" cy="620784"/>
          </a:xfrm>
          <a:prstGeom prst="rect">
            <a:avLst/>
          </a:prstGeom>
        </p:spPr>
      </p:pic>
      <p:pic>
        <p:nvPicPr>
          <p:cNvPr id="4714400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8"/>
            <a:ext cx="807203" cy="8072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795369830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033554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4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2</a:t>
            </a:r>
            <a:r>
              <a:rPr/>
              <a:t> </a:t>
            </a:r>
            <a:r>
              <a:rPr lang="fr-FR"/>
              <a:t>Exploration du jeu d</a:t>
            </a:r>
            <a:r>
              <a:rPr lang="fr-FR"/>
              <a:t>e données</a:t>
            </a:r>
            <a:endParaRPr/>
          </a:p>
        </p:txBody>
      </p:sp>
      <p:sp>
        <p:nvSpPr>
          <p:cNvPr id="121025758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 sz="2400" b="1"/>
              <a:t>Imputation des valeurs manquantes</a:t>
            </a:r>
            <a:endParaRPr sz="2600" b="1"/>
          </a:p>
          <a:p>
            <a:pPr marL="0" indent="0">
              <a:buFont typeface="Arial"/>
              <a:buNone/>
              <a:defRPr/>
            </a:pPr>
            <a:endParaRPr lang="fr-FR" sz="2200" b="1"/>
          </a:p>
          <a:p>
            <a:pPr>
              <a:defRPr/>
            </a:pPr>
            <a:endParaRPr sz="2200" b="1"/>
          </a:p>
        </p:txBody>
      </p:sp>
      <p:pic>
        <p:nvPicPr>
          <p:cNvPr id="11984064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6" y="6191008"/>
            <a:ext cx="1131737" cy="620784"/>
          </a:xfrm>
          <a:prstGeom prst="rect">
            <a:avLst/>
          </a:prstGeom>
        </p:spPr>
      </p:pic>
      <p:pic>
        <p:nvPicPr>
          <p:cNvPr id="7179164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8"/>
            <a:ext cx="807203" cy="807203"/>
          </a:xfrm>
          <a:prstGeom prst="rect">
            <a:avLst/>
          </a:prstGeom>
        </p:spPr>
      </p:pic>
      <p:pic>
        <p:nvPicPr>
          <p:cNvPr id="1164674579" name=""/>
          <p:cNvPicPr>
            <a:picLocks noChangeAspect="1"/>
          </p:cNvPicPr>
          <p:nvPr/>
        </p:nvPicPr>
        <p:blipFill>
          <a:blip r:embed="rId5"/>
          <a:srcRect l="0" t="0" r="102" b="84889"/>
          <a:stretch/>
        </p:blipFill>
        <p:spPr bwMode="auto">
          <a:xfrm rot="0" flipH="0" flipV="0">
            <a:off x="1782310" y="2545948"/>
            <a:ext cx="7916087" cy="347112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210257580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16230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4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2</a:t>
            </a:r>
            <a:r>
              <a:rPr/>
              <a:t> </a:t>
            </a:r>
            <a:r>
              <a:rPr lang="fr-FR"/>
              <a:t>Exploration du jeu d</a:t>
            </a:r>
            <a:r>
              <a:rPr lang="fr-FR"/>
              <a:t>e données</a:t>
            </a:r>
            <a:endParaRPr/>
          </a:p>
        </p:txBody>
      </p:sp>
      <p:sp>
        <p:nvSpPr>
          <p:cNvPr id="50517182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 sz="2400" b="1"/>
              <a:t>Imputation des valeurs manquantes</a:t>
            </a:r>
            <a:endParaRPr sz="2600" b="1"/>
          </a:p>
          <a:p>
            <a:pPr marL="0" indent="0">
              <a:buFont typeface="Arial"/>
              <a:buNone/>
              <a:defRPr/>
            </a:pPr>
            <a:endParaRPr lang="fr-FR" sz="2200" b="1"/>
          </a:p>
          <a:p>
            <a:pPr>
              <a:defRPr/>
            </a:pPr>
            <a:endParaRPr sz="2200" b="1"/>
          </a:p>
        </p:txBody>
      </p:sp>
      <p:pic>
        <p:nvPicPr>
          <p:cNvPr id="12702150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6" y="6191008"/>
            <a:ext cx="1131737" cy="620784"/>
          </a:xfrm>
          <a:prstGeom prst="rect">
            <a:avLst/>
          </a:prstGeom>
        </p:spPr>
      </p:pic>
      <p:pic>
        <p:nvPicPr>
          <p:cNvPr id="181247797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8"/>
            <a:ext cx="807203" cy="807203"/>
          </a:xfrm>
          <a:prstGeom prst="rect">
            <a:avLst/>
          </a:prstGeom>
        </p:spPr>
      </p:pic>
      <p:pic>
        <p:nvPicPr>
          <p:cNvPr id="1190973842" name=""/>
          <p:cNvPicPr>
            <a:picLocks noChangeAspect="1"/>
          </p:cNvPicPr>
          <p:nvPr/>
        </p:nvPicPr>
        <p:blipFill>
          <a:blip r:embed="rId5"/>
          <a:srcRect l="102" t="14844" r="0" b="70613"/>
          <a:stretch/>
        </p:blipFill>
        <p:spPr bwMode="auto">
          <a:xfrm rot="0" flipH="0" flipV="0">
            <a:off x="1782310" y="2545948"/>
            <a:ext cx="7916087" cy="334049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505171825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234985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4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2</a:t>
            </a:r>
            <a:r>
              <a:rPr/>
              <a:t> </a:t>
            </a:r>
            <a:r>
              <a:rPr lang="fr-FR"/>
              <a:t>Exploration du jeu d</a:t>
            </a:r>
            <a:r>
              <a:rPr lang="fr-FR"/>
              <a:t>e données</a:t>
            </a:r>
            <a:endParaRPr/>
          </a:p>
        </p:txBody>
      </p:sp>
      <p:sp>
        <p:nvSpPr>
          <p:cNvPr id="65382292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 sz="2400" b="1"/>
              <a:t>Imputation des valeurs manquantes</a:t>
            </a:r>
            <a:endParaRPr sz="2600" b="1"/>
          </a:p>
          <a:p>
            <a:pPr marL="0" indent="0">
              <a:buFont typeface="Arial"/>
              <a:buNone/>
              <a:defRPr/>
            </a:pPr>
            <a:endParaRPr lang="fr-FR" sz="2200" b="1"/>
          </a:p>
          <a:p>
            <a:pPr>
              <a:defRPr/>
            </a:pPr>
            <a:endParaRPr sz="2200" b="1"/>
          </a:p>
        </p:txBody>
      </p:sp>
      <p:pic>
        <p:nvPicPr>
          <p:cNvPr id="12835811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6" y="6191008"/>
            <a:ext cx="1131737" cy="620784"/>
          </a:xfrm>
          <a:prstGeom prst="rect">
            <a:avLst/>
          </a:prstGeom>
        </p:spPr>
      </p:pic>
      <p:pic>
        <p:nvPicPr>
          <p:cNvPr id="90284644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8"/>
            <a:ext cx="807203" cy="807203"/>
          </a:xfrm>
          <a:prstGeom prst="rect">
            <a:avLst/>
          </a:prstGeom>
        </p:spPr>
      </p:pic>
      <p:pic>
        <p:nvPicPr>
          <p:cNvPr id="246035890" name=""/>
          <p:cNvPicPr>
            <a:picLocks noChangeAspect="1"/>
          </p:cNvPicPr>
          <p:nvPr/>
        </p:nvPicPr>
        <p:blipFill>
          <a:blip r:embed="rId5"/>
          <a:srcRect l="101" t="28942" r="0" b="56514"/>
          <a:stretch/>
        </p:blipFill>
        <p:spPr bwMode="auto">
          <a:xfrm rot="0" flipH="0" flipV="0">
            <a:off x="1782310" y="2545948"/>
            <a:ext cx="7916087" cy="334049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65382292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806308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4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2</a:t>
            </a:r>
            <a:r>
              <a:rPr/>
              <a:t> </a:t>
            </a:r>
            <a:r>
              <a:rPr lang="fr-FR"/>
              <a:t>Exploration du jeu d</a:t>
            </a:r>
            <a:r>
              <a:rPr lang="fr-FR"/>
              <a:t>e données</a:t>
            </a:r>
            <a:endParaRPr/>
          </a:p>
        </p:txBody>
      </p:sp>
      <p:sp>
        <p:nvSpPr>
          <p:cNvPr id="95844013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 sz="2400" b="1"/>
              <a:t>Imputation des valeurs manquantes</a:t>
            </a:r>
            <a:endParaRPr sz="2600" b="1"/>
          </a:p>
          <a:p>
            <a:pPr marL="0" indent="0">
              <a:buFont typeface="Arial"/>
              <a:buNone/>
              <a:defRPr/>
            </a:pPr>
            <a:endParaRPr lang="fr-FR" sz="2200" b="1"/>
          </a:p>
          <a:p>
            <a:pPr>
              <a:defRPr/>
            </a:pPr>
            <a:endParaRPr sz="2200" b="1"/>
          </a:p>
        </p:txBody>
      </p:sp>
      <p:pic>
        <p:nvPicPr>
          <p:cNvPr id="451142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6" y="6191008"/>
            <a:ext cx="1131737" cy="620784"/>
          </a:xfrm>
          <a:prstGeom prst="rect">
            <a:avLst/>
          </a:prstGeom>
        </p:spPr>
      </p:pic>
      <p:pic>
        <p:nvPicPr>
          <p:cNvPr id="21309726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8"/>
            <a:ext cx="807203" cy="807203"/>
          </a:xfrm>
          <a:prstGeom prst="rect">
            <a:avLst/>
          </a:prstGeom>
        </p:spPr>
      </p:pic>
      <p:pic>
        <p:nvPicPr>
          <p:cNvPr id="1266293951" name=""/>
          <p:cNvPicPr>
            <a:picLocks noChangeAspect="1"/>
          </p:cNvPicPr>
          <p:nvPr/>
        </p:nvPicPr>
        <p:blipFill>
          <a:blip r:embed="rId5"/>
          <a:srcRect l="0" t="43041" r="99" b="42414"/>
          <a:stretch/>
        </p:blipFill>
        <p:spPr bwMode="auto">
          <a:xfrm rot="0" flipH="0" flipV="0">
            <a:off x="1782310" y="2545948"/>
            <a:ext cx="7916087" cy="334049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958440137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70913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4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2</a:t>
            </a:r>
            <a:r>
              <a:rPr/>
              <a:t> </a:t>
            </a:r>
            <a:r>
              <a:rPr lang="fr-FR"/>
              <a:t>Exploration du jeu d</a:t>
            </a:r>
            <a:r>
              <a:rPr lang="fr-FR"/>
              <a:t>e données</a:t>
            </a:r>
            <a:endParaRPr/>
          </a:p>
        </p:txBody>
      </p:sp>
      <p:sp>
        <p:nvSpPr>
          <p:cNvPr id="126473899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 sz="2400" b="1"/>
              <a:t>Imputation des valeurs manquantes</a:t>
            </a:r>
            <a:endParaRPr sz="2600" b="1"/>
          </a:p>
          <a:p>
            <a:pPr marL="0" indent="0">
              <a:buFont typeface="Arial"/>
              <a:buNone/>
              <a:defRPr/>
            </a:pPr>
            <a:endParaRPr lang="fr-FR" sz="2200" b="1"/>
          </a:p>
          <a:p>
            <a:pPr>
              <a:defRPr/>
            </a:pPr>
            <a:endParaRPr sz="2200" b="1"/>
          </a:p>
        </p:txBody>
      </p:sp>
      <p:pic>
        <p:nvPicPr>
          <p:cNvPr id="8771328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6" y="6191008"/>
            <a:ext cx="1131737" cy="620784"/>
          </a:xfrm>
          <a:prstGeom prst="rect">
            <a:avLst/>
          </a:prstGeom>
        </p:spPr>
      </p:pic>
      <p:pic>
        <p:nvPicPr>
          <p:cNvPr id="105817537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8"/>
            <a:ext cx="807203" cy="807203"/>
          </a:xfrm>
          <a:prstGeom prst="rect">
            <a:avLst/>
          </a:prstGeom>
        </p:spPr>
      </p:pic>
      <p:pic>
        <p:nvPicPr>
          <p:cNvPr id="936554991" name=""/>
          <p:cNvPicPr>
            <a:picLocks noChangeAspect="1"/>
          </p:cNvPicPr>
          <p:nvPr/>
        </p:nvPicPr>
        <p:blipFill>
          <a:blip r:embed="rId5"/>
          <a:srcRect l="100" t="57224" r="0" b="28230"/>
          <a:stretch/>
        </p:blipFill>
        <p:spPr bwMode="auto">
          <a:xfrm rot="0" flipH="0" flipV="0">
            <a:off x="1782310" y="2545948"/>
            <a:ext cx="7916087" cy="334049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26473899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911477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4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2</a:t>
            </a:r>
            <a:r>
              <a:rPr/>
              <a:t> </a:t>
            </a:r>
            <a:r>
              <a:rPr lang="fr-FR"/>
              <a:t>Exploration du jeu d</a:t>
            </a:r>
            <a:r>
              <a:rPr lang="fr-FR"/>
              <a:t>e données</a:t>
            </a:r>
            <a:endParaRPr/>
          </a:p>
        </p:txBody>
      </p:sp>
      <p:sp>
        <p:nvSpPr>
          <p:cNvPr id="212574855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 sz="2400" b="1"/>
              <a:t>Imputation des valeurs manquantes</a:t>
            </a:r>
            <a:endParaRPr sz="2600" b="1"/>
          </a:p>
          <a:p>
            <a:pPr marL="0" indent="0">
              <a:buFont typeface="Arial"/>
              <a:buNone/>
              <a:defRPr/>
            </a:pPr>
            <a:endParaRPr lang="fr-FR" sz="2200" b="1"/>
          </a:p>
          <a:p>
            <a:pPr>
              <a:defRPr/>
            </a:pPr>
            <a:endParaRPr sz="2200" b="1"/>
          </a:p>
        </p:txBody>
      </p:sp>
      <p:pic>
        <p:nvPicPr>
          <p:cNvPr id="4875414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6" y="6191008"/>
            <a:ext cx="1131737" cy="620784"/>
          </a:xfrm>
          <a:prstGeom prst="rect">
            <a:avLst/>
          </a:prstGeom>
        </p:spPr>
      </p:pic>
      <p:pic>
        <p:nvPicPr>
          <p:cNvPr id="81842941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8"/>
            <a:ext cx="807203" cy="807203"/>
          </a:xfrm>
          <a:prstGeom prst="rect">
            <a:avLst/>
          </a:prstGeom>
        </p:spPr>
      </p:pic>
      <p:pic>
        <p:nvPicPr>
          <p:cNvPr id="1907022905" name=""/>
          <p:cNvPicPr>
            <a:picLocks noChangeAspect="1"/>
          </p:cNvPicPr>
          <p:nvPr/>
        </p:nvPicPr>
        <p:blipFill>
          <a:blip r:embed="rId5"/>
          <a:srcRect l="100" t="71408" r="0" b="14045"/>
          <a:stretch/>
        </p:blipFill>
        <p:spPr bwMode="auto">
          <a:xfrm rot="0" flipH="0" flipV="0">
            <a:off x="1782310" y="2545948"/>
            <a:ext cx="7916087" cy="334049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2125748556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995907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4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2</a:t>
            </a:r>
            <a:r>
              <a:rPr/>
              <a:t> </a:t>
            </a:r>
            <a:r>
              <a:rPr lang="fr-FR"/>
              <a:t>Exploration du jeu d</a:t>
            </a:r>
            <a:r>
              <a:rPr lang="fr-FR"/>
              <a:t>e données</a:t>
            </a:r>
            <a:endParaRPr/>
          </a:p>
        </p:txBody>
      </p:sp>
      <p:sp>
        <p:nvSpPr>
          <p:cNvPr id="96978347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 sz="2400" b="1"/>
              <a:t>Imputation des valeurs manquantes</a:t>
            </a:r>
            <a:endParaRPr sz="2600" b="1"/>
          </a:p>
          <a:p>
            <a:pPr marL="0" indent="0">
              <a:buFont typeface="Arial"/>
              <a:buNone/>
              <a:defRPr/>
            </a:pPr>
            <a:endParaRPr lang="fr-FR" sz="2200" b="1"/>
          </a:p>
          <a:p>
            <a:pPr>
              <a:defRPr/>
            </a:pPr>
            <a:endParaRPr sz="2200" b="1"/>
          </a:p>
        </p:txBody>
      </p:sp>
      <p:pic>
        <p:nvPicPr>
          <p:cNvPr id="17117769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6" y="6191008"/>
            <a:ext cx="1131737" cy="620784"/>
          </a:xfrm>
          <a:prstGeom prst="rect">
            <a:avLst/>
          </a:prstGeom>
        </p:spPr>
      </p:pic>
      <p:pic>
        <p:nvPicPr>
          <p:cNvPr id="2922279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8"/>
            <a:ext cx="807203" cy="807203"/>
          </a:xfrm>
          <a:prstGeom prst="rect">
            <a:avLst/>
          </a:prstGeom>
        </p:spPr>
      </p:pic>
      <p:pic>
        <p:nvPicPr>
          <p:cNvPr id="1555146198" name=""/>
          <p:cNvPicPr>
            <a:picLocks noChangeAspect="1"/>
          </p:cNvPicPr>
          <p:nvPr/>
        </p:nvPicPr>
        <p:blipFill>
          <a:blip r:embed="rId5"/>
          <a:srcRect l="0" t="85454" r="99" b="0"/>
          <a:stretch/>
        </p:blipFill>
        <p:spPr bwMode="auto">
          <a:xfrm rot="0" flipH="0" flipV="0">
            <a:off x="1782310" y="2545948"/>
            <a:ext cx="7916087" cy="334049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969783471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424867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4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2</a:t>
            </a:r>
            <a:r>
              <a:rPr/>
              <a:t> </a:t>
            </a:r>
            <a:r>
              <a:rPr lang="fr-FR"/>
              <a:t>Exploration du jeu d</a:t>
            </a:r>
            <a:r>
              <a:rPr lang="fr-FR"/>
              <a:t>e données</a:t>
            </a:r>
            <a:endParaRPr/>
          </a:p>
        </p:txBody>
      </p:sp>
      <p:sp>
        <p:nvSpPr>
          <p:cNvPr id="45873325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 sz="2600" b="1"/>
              <a:t>Méthodes d’imputations utilisées</a:t>
            </a:r>
            <a:endParaRPr sz="2600" b="1"/>
          </a:p>
          <a:p>
            <a:pPr marL="0" indent="0">
              <a:buFont typeface="Arial"/>
              <a:buNone/>
              <a:defRPr/>
            </a:pPr>
            <a:endParaRPr lang="fr-FR" sz="2200" b="1"/>
          </a:p>
          <a:p>
            <a:pPr>
              <a:defRPr/>
            </a:pPr>
            <a:r>
              <a:rPr lang="fr-FR" sz="22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Méthode d’imputation simple (médiane) </a:t>
            </a: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: </a:t>
            </a: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energy_100g, proteins_100g, sodium_100g et sugars_100g</a:t>
            </a: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r>
              <a:rPr lang="fr-FR" sz="22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knnImputer </a:t>
            </a: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: </a:t>
            </a: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fat_100g et saturated-fat_100g</a:t>
            </a: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 </a:t>
            </a:r>
            <a:endParaRPr lang="fr-FR" sz="2200" b="0" i="0" u="none" strike="noStrike" cap="none" spc="0">
              <a:solidFill>
                <a:srgbClr val="404040"/>
              </a:solidFill>
              <a:latin typeface="Source Sans Pro"/>
              <a:ea typeface="Source Sans Pro"/>
              <a:cs typeface="Source Sans Pro"/>
            </a:endParaRPr>
          </a:p>
          <a:p>
            <a:pPr>
              <a:defRPr/>
            </a:pPr>
            <a:r>
              <a:rPr lang="fr-FR" sz="22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iterativeImputer</a:t>
            </a: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 : </a:t>
            </a: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fiber_100g</a:t>
            </a:r>
            <a:endParaRPr lang="fr-FR" sz="2200" b="1"/>
          </a:p>
          <a:p>
            <a:pPr>
              <a:defRPr/>
            </a:pPr>
            <a:endParaRPr sz="2200" b="1"/>
          </a:p>
        </p:txBody>
      </p:sp>
      <p:pic>
        <p:nvPicPr>
          <p:cNvPr id="8549251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6" y="6191008"/>
            <a:ext cx="1131737" cy="620784"/>
          </a:xfrm>
          <a:prstGeom prst="rect">
            <a:avLst/>
          </a:prstGeom>
        </p:spPr>
      </p:pic>
      <p:pic>
        <p:nvPicPr>
          <p:cNvPr id="18574968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8"/>
            <a:ext cx="807203" cy="8072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458733255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563947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4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2</a:t>
            </a:r>
            <a:r>
              <a:rPr/>
              <a:t> </a:t>
            </a:r>
            <a:r>
              <a:rPr lang="fr-FR"/>
              <a:t>Exploration du jeu d</a:t>
            </a:r>
            <a:r>
              <a:rPr lang="fr-FR"/>
              <a:t>e données</a:t>
            </a:r>
            <a:endParaRPr/>
          </a:p>
        </p:txBody>
      </p:sp>
      <p:sp>
        <p:nvSpPr>
          <p:cNvPr id="163721406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 sz="2600" b="1"/>
              <a:t>Validation de la méthode d’imputations utilisées</a:t>
            </a:r>
            <a:endParaRPr sz="2600" b="1"/>
          </a:p>
          <a:p>
            <a:pPr marL="0" indent="0">
              <a:buFont typeface="Arial"/>
              <a:buNone/>
              <a:defRPr/>
            </a:pPr>
            <a:endParaRPr lang="fr-FR" sz="2200" b="1"/>
          </a:p>
          <a:p>
            <a:pPr>
              <a:defRPr/>
            </a:pPr>
            <a:endParaRPr sz="2200" b="1"/>
          </a:p>
        </p:txBody>
      </p:sp>
      <p:pic>
        <p:nvPicPr>
          <p:cNvPr id="3307205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6" y="6191008"/>
            <a:ext cx="1131737" cy="620784"/>
          </a:xfrm>
          <a:prstGeom prst="rect">
            <a:avLst/>
          </a:prstGeom>
        </p:spPr>
      </p:pic>
      <p:pic>
        <p:nvPicPr>
          <p:cNvPr id="109507077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8"/>
            <a:ext cx="807203" cy="807203"/>
          </a:xfrm>
          <a:prstGeom prst="rect">
            <a:avLst/>
          </a:prstGeom>
        </p:spPr>
      </p:pic>
      <p:pic>
        <p:nvPicPr>
          <p:cNvPr id="12314052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71500" y="2628899"/>
            <a:ext cx="4299856" cy="3009899"/>
          </a:xfrm>
          <a:prstGeom prst="rect">
            <a:avLst/>
          </a:prstGeom>
        </p:spPr>
      </p:pic>
      <p:pic>
        <p:nvPicPr>
          <p:cNvPr id="71228480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381749" y="2581174"/>
            <a:ext cx="4250099" cy="3057625"/>
          </a:xfrm>
          <a:prstGeom prst="rect">
            <a:avLst/>
          </a:prstGeom>
        </p:spPr>
      </p:pic>
      <p:sp>
        <p:nvSpPr>
          <p:cNvPr id="1911042489" name=""/>
          <p:cNvSpPr txBox="1"/>
          <p:nvPr/>
        </p:nvSpPr>
        <p:spPr bwMode="auto">
          <a:xfrm flipH="0" flipV="0">
            <a:off x="1525949" y="5943600"/>
            <a:ext cx="229247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Avant imputation</a:t>
            </a:r>
            <a:endParaRPr/>
          </a:p>
        </p:txBody>
      </p:sp>
      <p:sp>
        <p:nvSpPr>
          <p:cNvPr id="897976403" name=""/>
          <p:cNvSpPr txBox="1"/>
          <p:nvPr/>
        </p:nvSpPr>
        <p:spPr bwMode="auto">
          <a:xfrm flipH="0" flipV="0">
            <a:off x="7202848" y="5912939"/>
            <a:ext cx="229571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Après imputation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63721406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220239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6"/>
            <a:ext cx="9626225" cy="285273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3 Analyse exploratoire</a:t>
            </a:r>
            <a:br>
              <a:rPr/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790323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3" cy="1325560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3 Analyse exploratoire</a:t>
            </a:r>
            <a:endParaRPr/>
          </a:p>
        </p:txBody>
      </p:sp>
      <p:pic>
        <p:nvPicPr>
          <p:cNvPr id="2046974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5" y="6191007"/>
            <a:ext cx="1131736" cy="620784"/>
          </a:xfrm>
          <a:prstGeom prst="rect">
            <a:avLst/>
          </a:prstGeom>
        </p:spPr>
      </p:pic>
      <p:pic>
        <p:nvPicPr>
          <p:cNvPr id="39148641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7"/>
            <a:ext cx="807202" cy="807202"/>
          </a:xfrm>
          <a:prstGeom prst="rect">
            <a:avLst/>
          </a:prstGeom>
        </p:spPr>
      </p:pic>
      <p:pic>
        <p:nvPicPr>
          <p:cNvPr id="12841228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2855999" y="1468799"/>
            <a:ext cx="6480000" cy="4942800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448315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3" cy="1325560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Analyse exploratoire</a:t>
            </a:r>
            <a:endParaRPr sz="4400"/>
          </a:p>
        </p:txBody>
      </p:sp>
      <p:pic>
        <p:nvPicPr>
          <p:cNvPr id="17643392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5" y="6191007"/>
            <a:ext cx="1131736" cy="620784"/>
          </a:xfrm>
          <a:prstGeom prst="rect">
            <a:avLst/>
          </a:prstGeom>
        </p:spPr>
      </p:pic>
      <p:pic>
        <p:nvPicPr>
          <p:cNvPr id="160861670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7"/>
            <a:ext cx="807202" cy="807202"/>
          </a:xfrm>
          <a:prstGeom prst="rect">
            <a:avLst/>
          </a:prstGeom>
        </p:spPr>
      </p:pic>
      <p:pic>
        <p:nvPicPr>
          <p:cNvPr id="115805539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2855999" y="1477879"/>
            <a:ext cx="6480000" cy="4942800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3325238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3" cy="1325560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Analyse exploratoire</a:t>
            </a:r>
            <a:endParaRPr sz="4400"/>
          </a:p>
        </p:txBody>
      </p:sp>
      <p:pic>
        <p:nvPicPr>
          <p:cNvPr id="13365690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5" y="6191007"/>
            <a:ext cx="1131736" cy="620784"/>
          </a:xfrm>
          <a:prstGeom prst="rect">
            <a:avLst/>
          </a:prstGeom>
        </p:spPr>
      </p:pic>
      <p:pic>
        <p:nvPicPr>
          <p:cNvPr id="8873639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7"/>
            <a:ext cx="807202" cy="807202"/>
          </a:xfrm>
          <a:prstGeom prst="rect">
            <a:avLst/>
          </a:prstGeom>
        </p:spPr>
      </p:pic>
      <p:pic>
        <p:nvPicPr>
          <p:cNvPr id="146719069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2855999" y="1699200"/>
            <a:ext cx="6480000" cy="4860000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230335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3" cy="1325560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Analyse exploratoire</a:t>
            </a:r>
            <a:endParaRPr sz="4400"/>
          </a:p>
        </p:txBody>
      </p:sp>
      <p:pic>
        <p:nvPicPr>
          <p:cNvPr id="9616663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5" y="6191007"/>
            <a:ext cx="1131736" cy="620784"/>
          </a:xfrm>
          <a:prstGeom prst="rect">
            <a:avLst/>
          </a:prstGeom>
        </p:spPr>
      </p:pic>
      <p:pic>
        <p:nvPicPr>
          <p:cNvPr id="18909755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7"/>
            <a:ext cx="807202" cy="807202"/>
          </a:xfrm>
          <a:prstGeom prst="rect">
            <a:avLst/>
          </a:prstGeom>
        </p:spPr>
      </p:pic>
      <p:pic>
        <p:nvPicPr>
          <p:cNvPr id="146416509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2855998" y="1690682"/>
            <a:ext cx="6480000" cy="4942800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661457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3" cy="1325560"/>
          </a:xfrm>
        </p:spPr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Analyse exploratoire</a:t>
            </a:r>
            <a:endParaRPr/>
          </a:p>
        </p:txBody>
      </p:sp>
      <p:pic>
        <p:nvPicPr>
          <p:cNvPr id="164765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5" y="6191007"/>
            <a:ext cx="1131736" cy="620784"/>
          </a:xfrm>
          <a:prstGeom prst="rect">
            <a:avLst/>
          </a:prstGeom>
        </p:spPr>
      </p:pic>
      <p:pic>
        <p:nvPicPr>
          <p:cNvPr id="44759025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7"/>
            <a:ext cx="807202" cy="807202"/>
          </a:xfrm>
          <a:prstGeom prst="rect">
            <a:avLst/>
          </a:prstGeom>
        </p:spPr>
      </p:pic>
      <p:pic>
        <p:nvPicPr>
          <p:cNvPr id="153523011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2855999" y="1558598"/>
            <a:ext cx="6480000" cy="4942800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649161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3" cy="1325560"/>
          </a:xfrm>
        </p:spPr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Analyse exploratoire</a:t>
            </a:r>
            <a:endParaRPr/>
          </a:p>
        </p:txBody>
      </p:sp>
      <p:sp>
        <p:nvSpPr>
          <p:cNvPr id="36262538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600" b="1"/>
              <a:t>Analyse en composantes principales</a:t>
            </a:r>
            <a:endParaRPr sz="2600" b="1"/>
          </a:p>
          <a:p>
            <a:pPr marL="0" indent="0">
              <a:buFont typeface="Arial"/>
              <a:buNone/>
              <a:defRPr/>
            </a:pPr>
            <a:r>
              <a:rPr lang="fr-FR" sz="22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L'ACP a deux objectifs principaux :</a:t>
            </a:r>
            <a:endParaRPr lang="fr-FR" sz="2200" b="1"/>
          </a:p>
          <a:p>
            <a:pPr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La variabilité entre les individus, c'est-à-dire quelles sont les différences et les ressemblances entre individus ;</a:t>
            </a: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Les liaisons entre les variables : y a-t-il des groupes de variables très corrélées entre elles, qui peuvent être regroupées en de nouvelles variables synthétiques ?</a:t>
            </a:r>
            <a:endParaRPr lang="fr-FR" sz="2200" b="1"/>
          </a:p>
          <a:p>
            <a:pPr>
              <a:defRPr/>
            </a:pPr>
            <a:endParaRPr sz="2200" b="1"/>
          </a:p>
        </p:txBody>
      </p:sp>
      <p:pic>
        <p:nvPicPr>
          <p:cNvPr id="11854798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5" y="6191007"/>
            <a:ext cx="1131736" cy="620784"/>
          </a:xfrm>
          <a:prstGeom prst="rect">
            <a:avLst/>
          </a:prstGeom>
        </p:spPr>
      </p:pic>
      <p:pic>
        <p:nvPicPr>
          <p:cNvPr id="9555329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7"/>
            <a:ext cx="807202" cy="8072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362625385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9914917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3" cy="1325560"/>
          </a:xfrm>
        </p:spPr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Analyse exploratoire</a:t>
            </a:r>
            <a:endParaRPr/>
          </a:p>
        </p:txBody>
      </p:sp>
      <p:pic>
        <p:nvPicPr>
          <p:cNvPr id="1130480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5" y="6191007"/>
            <a:ext cx="1131736" cy="620784"/>
          </a:xfrm>
          <a:prstGeom prst="rect">
            <a:avLst/>
          </a:prstGeom>
        </p:spPr>
      </p:pic>
      <p:pic>
        <p:nvPicPr>
          <p:cNvPr id="59422759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7"/>
            <a:ext cx="807202" cy="807202"/>
          </a:xfrm>
          <a:prstGeom prst="rect">
            <a:avLst/>
          </a:prstGeom>
        </p:spPr>
      </p:pic>
      <p:pic>
        <p:nvPicPr>
          <p:cNvPr id="161085548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1806635" y="1558598"/>
            <a:ext cx="6480000" cy="4942800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27155256" name=""/>
          <p:cNvSpPr/>
          <p:nvPr/>
        </p:nvSpPr>
        <p:spPr bwMode="auto">
          <a:xfrm>
            <a:off x="8568932" y="1976033"/>
            <a:ext cx="3096873" cy="398699"/>
          </a:xfrm>
          <a:prstGeom prst="rect">
            <a:avLst/>
          </a:prstGeom>
          <a:noFill/>
          <a:ln w="1269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fr-FR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fr-FR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Kaiser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fr-FR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threshold</m:t>
                          </m:r>
                        </m:sub>
                      </m:sSub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= 100/</m:t>
                      </m:r>
                      <m:sSub>
                        <m:sSubPr>
                          <m:ctrlPr>
                            <a:rPr lang="fr-FR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fr-FR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components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7021089" name=""/>
          <p:cNvSpPr txBox="1"/>
          <p:nvPr/>
        </p:nvSpPr>
        <p:spPr bwMode="auto">
          <a:xfrm flipH="0" flipV="0">
            <a:off x="8568931" y="3083516"/>
            <a:ext cx="3097593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Les trois premières composantes expliquent 78 % de la variance cumulée.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208860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3" cy="1325560"/>
          </a:xfrm>
        </p:spPr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Analyse exploratoire</a:t>
            </a:r>
            <a:endParaRPr/>
          </a:p>
        </p:txBody>
      </p:sp>
      <p:pic>
        <p:nvPicPr>
          <p:cNvPr id="4374340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5" y="6191007"/>
            <a:ext cx="1131736" cy="620784"/>
          </a:xfrm>
          <a:prstGeom prst="rect">
            <a:avLst/>
          </a:prstGeom>
        </p:spPr>
      </p:pic>
      <p:pic>
        <p:nvPicPr>
          <p:cNvPr id="4183879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7"/>
            <a:ext cx="807202" cy="807202"/>
          </a:xfrm>
          <a:prstGeom prst="rect">
            <a:avLst/>
          </a:prstGeom>
        </p:spPr>
      </p:pic>
      <p:pic>
        <p:nvPicPr>
          <p:cNvPr id="176627134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3229145" y="1341063"/>
            <a:ext cx="5733706" cy="5160335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039534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3" cy="1325560"/>
          </a:xfrm>
        </p:spPr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Analyse exploratoire</a:t>
            </a:r>
            <a:endParaRPr/>
          </a:p>
        </p:txBody>
      </p:sp>
      <p:pic>
        <p:nvPicPr>
          <p:cNvPr id="8592016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5" y="6191007"/>
            <a:ext cx="1131736" cy="620784"/>
          </a:xfrm>
          <a:prstGeom prst="rect">
            <a:avLst/>
          </a:prstGeom>
        </p:spPr>
      </p:pic>
      <p:pic>
        <p:nvPicPr>
          <p:cNvPr id="82932288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7"/>
            <a:ext cx="807202" cy="807202"/>
          </a:xfrm>
          <a:prstGeom prst="rect">
            <a:avLst/>
          </a:prstGeom>
        </p:spPr>
      </p:pic>
      <p:pic>
        <p:nvPicPr>
          <p:cNvPr id="136869627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2855999" y="1558598"/>
            <a:ext cx="6480000" cy="4942800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322486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3" cy="1325560"/>
          </a:xfrm>
        </p:spPr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Analyse exploratoire</a:t>
            </a:r>
            <a:endParaRPr/>
          </a:p>
        </p:txBody>
      </p:sp>
      <p:pic>
        <p:nvPicPr>
          <p:cNvPr id="19160898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5" y="6191007"/>
            <a:ext cx="1131736" cy="620784"/>
          </a:xfrm>
          <a:prstGeom prst="rect">
            <a:avLst/>
          </a:prstGeom>
        </p:spPr>
      </p:pic>
      <p:pic>
        <p:nvPicPr>
          <p:cNvPr id="17456035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7"/>
            <a:ext cx="807202" cy="807202"/>
          </a:xfrm>
          <a:prstGeom prst="rect">
            <a:avLst/>
          </a:prstGeom>
        </p:spPr>
      </p:pic>
      <p:pic>
        <p:nvPicPr>
          <p:cNvPr id="49587993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3229145" y="1341063"/>
            <a:ext cx="5733706" cy="5160335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383679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3" cy="1325560"/>
          </a:xfrm>
        </p:spPr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Analyse exploratoire</a:t>
            </a:r>
            <a:endParaRPr/>
          </a:p>
        </p:txBody>
      </p:sp>
      <p:sp>
        <p:nvSpPr>
          <p:cNvPr id="98170209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600" b="1"/>
              <a:t>ANOVA</a:t>
            </a:r>
            <a:endParaRPr sz="2600" b="1"/>
          </a:p>
          <a:p>
            <a:pPr marL="0" indent="0">
              <a:buFont typeface="Arial"/>
              <a:buNone/>
              <a:defRPr/>
            </a:pPr>
            <a:r>
              <a:rPr lang="fr-FR" sz="2200" b="1"/>
              <a:t>Comparer les catégories de produits par rapport à leurs valeurs énergétiques</a:t>
            </a:r>
            <a:endParaRPr lang="fr-FR" sz="2200" b="1"/>
          </a:p>
          <a:p>
            <a:pPr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Faire des recommandations nutritionnelles.</a:t>
            </a: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Optimiser la classification des produits.</a:t>
            </a: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Identifier des groupes de produits particulièrement énergétiques.</a:t>
            </a:r>
            <a:endParaRPr sz="2200" b="1"/>
          </a:p>
        </p:txBody>
      </p:sp>
      <p:pic>
        <p:nvPicPr>
          <p:cNvPr id="13008509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5" y="6191007"/>
            <a:ext cx="1131736" cy="620784"/>
          </a:xfrm>
          <a:prstGeom prst="rect">
            <a:avLst/>
          </a:prstGeom>
        </p:spPr>
      </p:pic>
      <p:pic>
        <p:nvPicPr>
          <p:cNvPr id="3431864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7"/>
            <a:ext cx="807202" cy="8072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981702095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616543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3" cy="1325560"/>
          </a:xfrm>
        </p:spPr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Analyse exploratoire</a:t>
            </a:r>
            <a:endParaRPr/>
          </a:p>
        </p:txBody>
      </p:sp>
      <p:sp>
        <p:nvSpPr>
          <p:cNvPr id="59022756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600" b="1"/>
              <a:t>ANOVA</a:t>
            </a:r>
            <a:endParaRPr sz="2600" b="1"/>
          </a:p>
          <a:p>
            <a:pPr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Test des conditions d'application de l'ANOVA :</a:t>
            </a: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Indépendance des produits (individus)</a:t>
            </a: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Les résidus doivent suivre une loi normal : Test de kolmogorov-smirnov</a:t>
            </a:r>
            <a:endParaRPr lang="fr-FR" sz="2200" b="0" i="0" u="none" strike="noStrike" cap="none" spc="0">
              <a:solidFill>
                <a:srgbClr val="404040"/>
              </a:solidFill>
              <a:latin typeface="Source Sans Pro"/>
              <a:ea typeface="Source Sans Pro"/>
              <a:cs typeface="Source Sans Pro"/>
            </a:endParaRPr>
          </a:p>
          <a:p>
            <a:pPr marL="0" indent="0">
              <a:buFont typeface="Arial"/>
              <a:buNone/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H0 validée si p&gt;5%</a:t>
            </a: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La variance de chaque groupe  doit être semblable : Test de bartlett</a:t>
            </a:r>
            <a:endParaRPr sz="2200" b="0"/>
          </a:p>
          <a:p>
            <a:pPr marL="0" indent="0">
              <a:buFont typeface="Arial"/>
              <a:buNone/>
              <a:defRPr/>
            </a:pPr>
            <a:r>
              <a:rPr lang="fr-FR" sz="20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H0 validée si p&gt;5%</a:t>
            </a:r>
            <a:endParaRPr sz="2200" b="1"/>
          </a:p>
        </p:txBody>
      </p:sp>
      <p:pic>
        <p:nvPicPr>
          <p:cNvPr id="7826139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5" y="6191007"/>
            <a:ext cx="1131736" cy="620784"/>
          </a:xfrm>
          <a:prstGeom prst="rect">
            <a:avLst/>
          </a:prstGeom>
        </p:spPr>
      </p:pic>
      <p:pic>
        <p:nvPicPr>
          <p:cNvPr id="15762795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7"/>
            <a:ext cx="807202" cy="8072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590227565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247523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3" cy="1325560"/>
          </a:xfrm>
        </p:spPr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Analyse exploratoire</a:t>
            </a:r>
            <a:endParaRPr/>
          </a:p>
        </p:txBody>
      </p:sp>
      <p:pic>
        <p:nvPicPr>
          <p:cNvPr id="50952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5" y="6191007"/>
            <a:ext cx="1131736" cy="620784"/>
          </a:xfrm>
          <a:prstGeom prst="rect">
            <a:avLst/>
          </a:prstGeom>
        </p:spPr>
      </p:pic>
      <p:pic>
        <p:nvPicPr>
          <p:cNvPr id="28588527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7"/>
            <a:ext cx="807202" cy="807202"/>
          </a:xfrm>
          <a:prstGeom prst="rect">
            <a:avLst/>
          </a:prstGeom>
        </p:spPr>
      </p:pic>
      <p:pic>
        <p:nvPicPr>
          <p:cNvPr id="92941704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3229145" y="1341063"/>
            <a:ext cx="5733706" cy="5160335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340227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3" cy="1325560"/>
          </a:xfrm>
        </p:spPr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Analyse exploratoire</a:t>
            </a:r>
            <a:endParaRPr/>
          </a:p>
        </p:txBody>
      </p:sp>
      <p:sp>
        <p:nvSpPr>
          <p:cNvPr id="179268220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600" b="1"/>
              <a:t>ANOVA</a:t>
            </a:r>
            <a:r>
              <a:rPr sz="2600" b="1"/>
              <a:t> alternative kruskals-Wallis</a:t>
            </a:r>
            <a:endParaRPr sz="2600" b="1"/>
          </a:p>
          <a:p>
            <a:pPr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Test des conditions d'application de l'ANOVA :</a:t>
            </a: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 marL="0" indent="0">
              <a:buFont typeface="Arial"/>
              <a:buNone/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Hypothèse H0 est validée si dans les groupes la médiane est la même.</a:t>
            </a:r>
            <a:endParaRPr lang="fr-FR" sz="2200" b="0" i="0" u="none" strike="noStrike" cap="none" spc="0">
              <a:solidFill>
                <a:srgbClr val="404040"/>
              </a:solidFill>
              <a:latin typeface="Source Sans Pro"/>
              <a:ea typeface="Source Sans Pro"/>
              <a:cs typeface="Source Sans Pro"/>
            </a:endParaRPr>
          </a:p>
          <a:p>
            <a:pPr marL="0" indent="0">
              <a:buFont typeface="Arial"/>
              <a:buNone/>
              <a:defRPr/>
            </a:pP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 marL="0" indent="0">
              <a:buFont typeface="Arial"/>
              <a:buNone/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Pour la valeur nutritionnelle energy : p&lt; 5%</a:t>
            </a: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</p:txBody>
      </p:sp>
      <p:pic>
        <p:nvPicPr>
          <p:cNvPr id="201681726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5" y="6191007"/>
            <a:ext cx="1131736" cy="620784"/>
          </a:xfrm>
          <a:prstGeom prst="rect">
            <a:avLst/>
          </a:prstGeom>
        </p:spPr>
      </p:pic>
      <p:pic>
        <p:nvPicPr>
          <p:cNvPr id="197085255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7"/>
            <a:ext cx="807202" cy="8072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792682200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776976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3" cy="1325560"/>
          </a:xfrm>
        </p:spPr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Analyse exploratoire</a:t>
            </a:r>
            <a:endParaRPr/>
          </a:p>
        </p:txBody>
      </p:sp>
      <p:sp>
        <p:nvSpPr>
          <p:cNvPr id="138034001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lang="fr-FR" sz="26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ETA² (η²) pour mesurer l'effet d'une variable catégorielle sur une variable numérique.</a:t>
            </a:r>
            <a:endParaRPr sz="2600" b="1"/>
          </a:p>
          <a:p>
            <a:pPr>
              <a:defRPr/>
            </a:pPr>
            <a:endParaRPr sz="2600" b="1"/>
          </a:p>
          <a:p>
            <a:pPr marL="0" indent="0">
              <a:buFont typeface="Arial"/>
              <a:buNone/>
              <a:defRPr/>
            </a:pPr>
            <a:r>
              <a:rPr lang="fr-FR" sz="26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Les règles empiriques suivantes sont utilisées pour interpréter les valeurs de Eta au carré :</a:t>
            </a:r>
            <a:endParaRPr sz="26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endParaRPr sz="26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 marL="0" indent="0">
              <a:buFont typeface="Arial"/>
              <a:buNone/>
              <a:defRPr/>
            </a:pPr>
            <a:r>
              <a:rPr lang="fr-FR" sz="26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.01 : Petite taille d’effet</a:t>
            </a:r>
            <a:endParaRPr sz="26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 marL="0" indent="0">
              <a:buFont typeface="Arial"/>
              <a:buNone/>
              <a:defRPr/>
            </a:pPr>
            <a:r>
              <a:rPr lang="fr-FR" sz="26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.06 : Taille d’effet moyenne</a:t>
            </a:r>
            <a:endParaRPr sz="26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 marL="0" indent="0">
              <a:buFont typeface="Arial"/>
              <a:buNone/>
              <a:defRPr/>
            </a:pPr>
            <a:r>
              <a:rPr lang="fr-FR" sz="26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.14 ou supérieur : grande taille d’effet</a:t>
            </a:r>
            <a:endParaRPr sz="2600" b="0"/>
          </a:p>
          <a:p>
            <a:pPr marL="0" indent="0">
              <a:buFont typeface="Arial"/>
              <a:buNone/>
              <a:defRPr/>
            </a:pPr>
            <a:endParaRPr sz="3600" b="1"/>
          </a:p>
          <a:p>
            <a:pPr>
              <a:defRPr/>
            </a:pPr>
            <a:r>
              <a:rPr lang="fr-FR" sz="20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Résultat de </a:t>
            </a:r>
            <a:r>
              <a:rPr lang="fr-FR" sz="20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ETA²</a:t>
            </a:r>
            <a:r>
              <a:rPr lang="fr-FR" sz="20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pour  energy_100g: 0.52</a:t>
            </a:r>
            <a:endParaRPr lang="fr-FR" sz="120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</p:txBody>
      </p:sp>
      <p:pic>
        <p:nvPicPr>
          <p:cNvPr id="183547976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575" y="6191007"/>
            <a:ext cx="1131736" cy="620784"/>
          </a:xfrm>
          <a:prstGeom prst="rect">
            <a:avLst/>
          </a:prstGeom>
        </p:spPr>
      </p:pic>
      <p:pic>
        <p:nvPicPr>
          <p:cNvPr id="25407594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318643" y="6017077"/>
            <a:ext cx="807202" cy="8072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380340015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4 Conclusion</a:t>
            </a:r>
            <a:endParaRPr/>
          </a:p>
        </p:txBody>
      </p:sp>
      <p:sp>
        <p:nvSpPr>
          <p:cNvPr id="79779616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3"/>
            <a:ext cx="9668434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600" b="1"/>
              <a:t>Protection des données</a:t>
            </a:r>
            <a:endParaRPr sz="2600" b="1"/>
          </a:p>
          <a:p>
            <a:pPr marL="0" indent="0">
              <a:buFont typeface="Arial"/>
              <a:buNone/>
              <a:defRPr/>
            </a:pPr>
            <a:r>
              <a:rPr sz="2200" b="0" i="0" u="none" strike="noStrike" cap="none" spc="0">
                <a:solidFill>
                  <a:srgbClr val="404040"/>
                </a:solidFill>
                <a:latin typeface="Source Sans Pro"/>
                <a:cs typeface="Source Sans Pro"/>
              </a:rPr>
              <a:t>Aucune données personnelles ne sera utilisées dans l’algorithme de suggestion</a:t>
            </a: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 marL="0" indent="0">
              <a:buFont typeface="Arial"/>
              <a:buNone/>
              <a:defRPr/>
            </a:pPr>
            <a:endParaRPr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r>
              <a:rPr lang="fr-FR" sz="22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Dimension du jeu de données</a:t>
            </a:r>
            <a:endParaRPr lang="fr-FR" sz="2200" b="1" i="0" u="none" strike="noStrike" cap="none" spc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fr-FR" sz="22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 </a:t>
            </a: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40428 produits, 7 valeurs nutritives</a:t>
            </a:r>
            <a:endParaRPr lang="fr-FR" sz="2200" b="0" i="0" u="none" strike="noStrike" cap="none" spc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Nombre de produits hétérogènes par catégories avec une prédominance des produits sucrés.</a:t>
            </a:r>
            <a:endParaRPr lang="fr-FR" sz="2200" b="0" i="0" u="none" strike="noStrike" cap="none" spc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lang="fr-FR"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 marL="0" indent="0">
              <a:buFont typeface="Arial"/>
              <a:buNone/>
              <a:defRPr/>
            </a:pPr>
            <a:r>
              <a:rPr lang="fr-FR" sz="22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Les groupes sont distincts les uns des autres ce qui devrait réduire le nombre de fausses suggestions.</a:t>
            </a:r>
            <a:endParaRPr lang="fr-FR" sz="22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40 1">
      <a:dk1>
        <a:srgbClr val="000000"/>
      </a:dk1>
      <a:lt1>
        <a:srgbClr val="404040"/>
      </a:lt1>
      <a:dk2>
        <a:srgbClr val="44546A"/>
      </a:dk2>
      <a:lt2>
        <a:srgbClr val="404040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09090"/>
      </a:hlink>
      <a:folHlink>
        <a:srgbClr val="656565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40 1">
      <a:dk1>
        <a:srgbClr val="000000"/>
      </a:dk1>
      <a:lt1>
        <a:srgbClr val="404040"/>
      </a:lt1>
      <a:dk2>
        <a:srgbClr val="44546A"/>
      </a:dk2>
      <a:lt2>
        <a:srgbClr val="404040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09090"/>
      </a:hlink>
      <a:folHlink>
        <a:srgbClr val="656565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ONLYOFFICE/8.3.1.25</Application>
  <PresentationFormat>On-screen Show (4:3)</PresentationFormat>
  <Paragraphs>0</Paragraphs>
  <Slides>38</Slides>
  <Notes>38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2</dc:title>
  <dc:creator>Guillaume LAFON</dc:creator>
  <cp:keywords/>
  <cp:lastModifiedBy/>
  <cp:revision>6</cp:revision>
  <dcterms:created xsi:type="dcterms:W3CDTF">2025-03-25T13:31:35Z</dcterms:created>
  <dcterms:modified xsi:type="dcterms:W3CDTF">2025-03-26T12:51:05Z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Préparer les données pour un organisme de santé publique</vt:lpwstr>
  </property>
  <property fmtid="{D5CDD505-2E9C-101B-9397-08002B2CF9AE}" pid="10" name="toc-title">
    <vt:lpwstr>Sommaire</vt:lpwstr>
  </property>
  <property fmtid="{D5CDD505-2E9C-101B-9397-08002B2CF9AE}" pid="11" name="top-depth">
    <vt:lpwstr>1</vt:lpwstr>
  </property>
</Properties>
</file>